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comment1.xml" ContentType="application/vnd.openxmlformats-officedocument.presentationml.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2.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0" r:id="rId1"/>
  </p:sldMasterIdLst>
  <p:notesMasterIdLst>
    <p:notesMasterId r:id="rId21"/>
  </p:notesMasterIdLst>
  <p:sldIdLst>
    <p:sldId id="256" r:id="rId2"/>
    <p:sldId id="257" r:id="rId3"/>
    <p:sldId id="258" r:id="rId4"/>
    <p:sldId id="269" r:id="rId5"/>
    <p:sldId id="270" r:id="rId6"/>
    <p:sldId id="259" r:id="rId7"/>
    <p:sldId id="271" r:id="rId8"/>
    <p:sldId id="260" r:id="rId9"/>
    <p:sldId id="261" r:id="rId10"/>
    <p:sldId id="262" r:id="rId11"/>
    <p:sldId id="276" r:id="rId12"/>
    <p:sldId id="277" r:id="rId13"/>
    <p:sldId id="278" r:id="rId14"/>
    <p:sldId id="265" r:id="rId15"/>
    <p:sldId id="275" r:id="rId16"/>
    <p:sldId id="266"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PTIC ANPTIC" initials="AA" lastIdx="2" clrIdx="0">
    <p:extLst>
      <p:ext uri="{19B8F6BF-5375-455C-9EA6-DF929625EA0E}">
        <p15:presenceInfo xmlns:p15="http://schemas.microsoft.com/office/powerpoint/2012/main" userId="32793c25762576d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90"/>
    <p:restoredTop sz="78972"/>
  </p:normalViewPr>
  <p:slideViewPr>
    <p:cSldViewPr snapToGrid="0">
      <p:cViewPr varScale="1">
        <p:scale>
          <a:sx n="130" d="100"/>
          <a:sy n="130" d="100"/>
        </p:scale>
        <p:origin x="1624"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7-17T03:16:57.204" idx="1">
    <p:pos x="7010" y="305"/>
    <p:text>Ce slide est toujours dans l'état de l'art. IL faut changer le titre et faire un autre slide qui présente l'approche de ton article de africatek </p:text>
    <p:extLst>
      <p:ext uri="{C676402C-5697-4E1C-873F-D02D1690AC5C}">
        <p15:threadingInfo xmlns:p15="http://schemas.microsoft.com/office/powerpoint/2012/main" timeZoneBias="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7-17T03:19:34.566" idx="2">
    <p:pos x="9803" y="288"/>
    <p:text>Normalement les perspective c'est à la fin de ta thèse. Actuellement tes perspectives identifier dans les articles tu les réalise</p:text>
    <p:extLst>
      <p:ext uri="{C676402C-5697-4E1C-873F-D02D1690AC5C}">
        <p15:threadingInfo xmlns:p15="http://schemas.microsoft.com/office/powerpoint/2012/main" timeZoneBias="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F"/>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ABAC6E-12CF-944C-9BB9-EAB048E62EEF}" type="datetimeFigureOut">
              <a:rPr lang="fr-BF" smtClean="0"/>
              <a:t>17/07/2026</a:t>
            </a:fld>
            <a:endParaRPr lang="fr-BF"/>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F"/>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F"/>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A62CDF-151F-214F-9728-9C361EC75B6A}" type="slidenum">
              <a:rPr lang="fr-BF" smtClean="0"/>
              <a:t>‹N°›</a:t>
            </a:fld>
            <a:endParaRPr lang="fr-BF"/>
          </a:p>
        </p:txBody>
      </p:sp>
    </p:spTree>
    <p:extLst>
      <p:ext uri="{BB962C8B-B14F-4D97-AF65-F5344CB8AC3E}">
        <p14:creationId xmlns:p14="http://schemas.microsoft.com/office/powerpoint/2010/main" val="583918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Les DA : ﻿preuves d'engagement, un socle d'exercice de droits, des supports de traçabilité et de planification au profit de l'administration et des usagers</a:t>
            </a:r>
          </a:p>
        </p:txBody>
      </p:sp>
      <p:sp>
        <p:nvSpPr>
          <p:cNvPr id="4" name="Espace réservé du numéro de diapositive 3"/>
          <p:cNvSpPr>
            <a:spLocks noGrp="1"/>
          </p:cNvSpPr>
          <p:nvPr>
            <p:ph type="sldNum" sz="quarter" idx="5"/>
          </p:nvPr>
        </p:nvSpPr>
        <p:spPr/>
        <p:txBody>
          <a:bodyPr/>
          <a:lstStyle/>
          <a:p>
            <a:fld id="{6AA62CDF-151F-214F-9728-9C361EC75B6A}" type="slidenum">
              <a:rPr lang="fr-BF" smtClean="0"/>
              <a:t>3</a:t>
            </a:fld>
            <a:endParaRPr lang="fr-BF"/>
          </a:p>
        </p:txBody>
      </p:sp>
    </p:spTree>
    <p:extLst>
      <p:ext uri="{BB962C8B-B14F-4D97-AF65-F5344CB8AC3E}">
        <p14:creationId xmlns:p14="http://schemas.microsoft.com/office/powerpoint/2010/main" val="3253381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AAD22-A153-63D9-1E06-0FD1D32B1B2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48F72DF-9297-9932-54D7-FC9163BF829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055F984-2E37-15A5-7597-FC22A7A63E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D3D6C26D-1153-DC2A-8CEC-D2D18311E53F}"/>
              </a:ext>
            </a:extLst>
          </p:cNvPr>
          <p:cNvSpPr>
            <a:spLocks noGrp="1"/>
          </p:cNvSpPr>
          <p:nvPr>
            <p:ph type="sldNum" sz="quarter" idx="5"/>
          </p:nvPr>
        </p:nvSpPr>
        <p:spPr/>
        <p:txBody>
          <a:bodyPr/>
          <a:lstStyle/>
          <a:p>
            <a:fld id="{6AA62CDF-151F-214F-9728-9C361EC75B6A}" type="slidenum">
              <a:rPr lang="fr-BF" smtClean="0"/>
              <a:t>4</a:t>
            </a:fld>
            <a:endParaRPr lang="fr-BF"/>
          </a:p>
        </p:txBody>
      </p:sp>
    </p:spTree>
    <p:extLst>
      <p:ext uri="{BB962C8B-B14F-4D97-AF65-F5344CB8AC3E}">
        <p14:creationId xmlns:p14="http://schemas.microsoft.com/office/powerpoint/2010/main" val="580387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C3F0D-9FEF-10E1-4524-3C246C75FE7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DAD208C-EC65-A53B-28B9-52E1234B1FF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B834293-C876-C5D9-4FE9-76377D57E426}"/>
              </a:ext>
            </a:extLst>
          </p:cNvPr>
          <p:cNvSpPr>
            <a:spLocks noGrp="1"/>
          </p:cNvSpPr>
          <p:nvPr>
            <p:ph type="body" idx="1"/>
          </p:nvPr>
        </p:nvSpPr>
        <p:spPr/>
        <p:txBody>
          <a:bodyPr/>
          <a:lstStyle/>
          <a:p>
            <a:pPr algn="just">
              <a:buFont typeface="Wingdings" pitchFamily="2" charset="2"/>
              <a:buChar char="q"/>
            </a:pPr>
            <a:r>
              <a:rPr lang="fr-FR" dirty="0"/>
              <a:t>L’intégration de la blockchain dans un système de sécurisation de documents administratifs, peut-elle garantir la traçabilité de ces documents ?</a:t>
            </a:r>
          </a:p>
          <a:p>
            <a:pPr algn="just">
              <a:buFont typeface="Wingdings" pitchFamily="2" charset="2"/>
              <a:buChar char="q"/>
            </a:pPr>
            <a:r>
              <a:rPr lang="fr-FR" dirty="0"/>
              <a:t> L’utilisation de la blockchain dans un processus de traçabilité et d’authentification de documents administratifs, permet-t-elle de diminuer les cas de falsifications documentaires et de renforcer la confiance entre usagers et administration ?</a:t>
            </a:r>
          </a:p>
          <a:p>
            <a:pPr algn="just">
              <a:buFont typeface="Wingdings" pitchFamily="2" charset="2"/>
              <a:buChar char="q"/>
            </a:pPr>
            <a:r>
              <a:rPr lang="fr-FR" dirty="0"/>
              <a:t> La blockchain permet-t-elle de renforcer la sécurité des documents et de vérifier leur authenticité en temps réel</a:t>
            </a:r>
            <a:r>
              <a:rPr lang="fr-BF" dirty="0"/>
              <a:t> ?</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Cette thèse s'inscrit dans le contexte émergent de l'utilisation des blockchains pour sécuriser les documents administratifs. Elle explore comment cette technologie peut renforcer la sécurité, la gestion des accès et la traçabilité contribuant ainsi à créer des environnements plus fiables et résilients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pour le stockage, le traitement et la diffusion des documents administratifs à grande échelle.</a:t>
            </a:r>
          </a:p>
        </p:txBody>
      </p:sp>
      <p:sp>
        <p:nvSpPr>
          <p:cNvPr id="4" name="Espace réservé du numéro de diapositive 3">
            <a:extLst>
              <a:ext uri="{FF2B5EF4-FFF2-40B4-BE49-F238E27FC236}">
                <a16:creationId xmlns:a16="http://schemas.microsoft.com/office/drawing/2014/main" id="{4F08EEBB-D161-B27D-9E1F-96947C84DEE6}"/>
              </a:ext>
            </a:extLst>
          </p:cNvPr>
          <p:cNvSpPr>
            <a:spLocks noGrp="1"/>
          </p:cNvSpPr>
          <p:nvPr>
            <p:ph type="sldNum" sz="quarter" idx="5"/>
          </p:nvPr>
        </p:nvSpPr>
        <p:spPr/>
        <p:txBody>
          <a:bodyPr/>
          <a:lstStyle/>
          <a:p>
            <a:fld id="{6AA62CDF-151F-214F-9728-9C361EC75B6A}" type="slidenum">
              <a:rPr lang="fr-BF" smtClean="0"/>
              <a:t>5</a:t>
            </a:fld>
            <a:endParaRPr lang="fr-BF"/>
          </a:p>
        </p:txBody>
      </p:sp>
    </p:spTree>
    <p:extLst>
      <p:ext uri="{BB962C8B-B14F-4D97-AF65-F5344CB8AC3E}">
        <p14:creationId xmlns:p14="http://schemas.microsoft.com/office/powerpoint/2010/main" val="4006302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F" dirty="0"/>
              <a:t>Our objectives are : </a:t>
            </a:r>
          </a:p>
        </p:txBody>
      </p:sp>
      <p:sp>
        <p:nvSpPr>
          <p:cNvPr id="4" name="Espace réservé du numéro de diapositive 3"/>
          <p:cNvSpPr>
            <a:spLocks noGrp="1"/>
          </p:cNvSpPr>
          <p:nvPr>
            <p:ph type="sldNum" sz="quarter" idx="5"/>
          </p:nvPr>
        </p:nvSpPr>
        <p:spPr/>
        <p:txBody>
          <a:bodyPr/>
          <a:lstStyle/>
          <a:p>
            <a:fld id="{6AA62CDF-151F-214F-9728-9C361EC75B6A}" type="slidenum">
              <a:rPr lang="fr-BF" smtClean="0"/>
              <a:t>6</a:t>
            </a:fld>
            <a:endParaRPr lang="fr-BF"/>
          </a:p>
        </p:txBody>
      </p:sp>
    </p:spTree>
    <p:extLst>
      <p:ext uri="{BB962C8B-B14F-4D97-AF65-F5344CB8AC3E}">
        <p14:creationId xmlns:p14="http://schemas.microsoft.com/office/powerpoint/2010/main" val="357509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D432D-82EC-0D24-1C33-DF2690C2E81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B3EBE3-A169-AFF2-1743-DEA0FA738F1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373D585-74E7-D0F5-C9D4-141E180923F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6B7DAA9B-DFFD-AF1D-F281-D7D8037C65F7}"/>
              </a:ext>
            </a:extLst>
          </p:cNvPr>
          <p:cNvSpPr>
            <a:spLocks noGrp="1"/>
          </p:cNvSpPr>
          <p:nvPr>
            <p:ph type="sldNum" sz="quarter" idx="5"/>
          </p:nvPr>
        </p:nvSpPr>
        <p:spPr/>
        <p:txBody>
          <a:bodyPr/>
          <a:lstStyle/>
          <a:p>
            <a:fld id="{6AA62CDF-151F-214F-9728-9C361EC75B6A}" type="slidenum">
              <a:rPr lang="fr-BF" smtClean="0"/>
              <a:t>7</a:t>
            </a:fld>
            <a:endParaRPr lang="fr-BF"/>
          </a:p>
        </p:txBody>
      </p:sp>
    </p:spTree>
    <p:extLst>
      <p:ext uri="{BB962C8B-B14F-4D97-AF65-F5344CB8AC3E}">
        <p14:creationId xmlns:p14="http://schemas.microsoft.com/office/powerpoint/2010/main" val="1289501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308BF-2F01-DCF2-C444-9510972E175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973A5E-6C98-6751-BD6C-BAEA7F57C84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386D1CC-4A38-EA59-4158-4269F542A702}"/>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240AF9E9-3B9C-0339-94E4-20D5D2625F42}"/>
              </a:ext>
            </a:extLst>
          </p:cNvPr>
          <p:cNvSpPr>
            <a:spLocks noGrp="1"/>
          </p:cNvSpPr>
          <p:nvPr>
            <p:ph type="sldNum" sz="quarter" idx="5"/>
          </p:nvPr>
        </p:nvSpPr>
        <p:spPr/>
        <p:txBody>
          <a:bodyPr/>
          <a:lstStyle/>
          <a:p>
            <a:fld id="{6AA62CDF-151F-214F-9728-9C361EC75B6A}" type="slidenum">
              <a:rPr lang="fr-BF" smtClean="0"/>
              <a:t>8</a:t>
            </a:fld>
            <a:endParaRPr lang="fr-BF"/>
          </a:p>
        </p:txBody>
      </p:sp>
    </p:spTree>
    <p:extLst>
      <p:ext uri="{BB962C8B-B14F-4D97-AF65-F5344CB8AC3E}">
        <p14:creationId xmlns:p14="http://schemas.microsoft.com/office/powerpoint/2010/main" val="2236983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FC0B9-828B-2153-4B05-913242B9B90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738B1EB-17F0-C61E-0EEC-E6941AB69D3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F161724-927D-E699-1840-5A3390EF1E20}"/>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03D40B0C-BD50-565E-3BD0-2F85CA1B4A69}"/>
              </a:ext>
            </a:extLst>
          </p:cNvPr>
          <p:cNvSpPr>
            <a:spLocks noGrp="1"/>
          </p:cNvSpPr>
          <p:nvPr>
            <p:ph type="sldNum" sz="quarter" idx="5"/>
          </p:nvPr>
        </p:nvSpPr>
        <p:spPr/>
        <p:txBody>
          <a:bodyPr/>
          <a:lstStyle/>
          <a:p>
            <a:fld id="{6AA62CDF-151F-214F-9728-9C361EC75B6A}" type="slidenum">
              <a:rPr lang="fr-BF" smtClean="0"/>
              <a:t>9</a:t>
            </a:fld>
            <a:endParaRPr lang="fr-BF"/>
          </a:p>
        </p:txBody>
      </p:sp>
    </p:spTree>
    <p:extLst>
      <p:ext uri="{BB962C8B-B14F-4D97-AF65-F5344CB8AC3E}">
        <p14:creationId xmlns:p14="http://schemas.microsoft.com/office/powerpoint/2010/main" val="3805837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8207-EE54-0639-C39F-5F3FFE7D4CF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B6FD90E-3150-A70B-F5F2-CCEE4AF21A1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00407A1-7B23-ADE6-4A3B-7B3027F79E42}"/>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B8FF04FF-4397-FDF8-AABE-8584A553F927}"/>
              </a:ext>
            </a:extLst>
          </p:cNvPr>
          <p:cNvSpPr>
            <a:spLocks noGrp="1"/>
          </p:cNvSpPr>
          <p:nvPr>
            <p:ph type="sldNum" sz="quarter" idx="5"/>
          </p:nvPr>
        </p:nvSpPr>
        <p:spPr/>
        <p:txBody>
          <a:bodyPr/>
          <a:lstStyle/>
          <a:p>
            <a:fld id="{6AA62CDF-151F-214F-9728-9C361EC75B6A}" type="slidenum">
              <a:rPr lang="fr-BF" smtClean="0"/>
              <a:t>10</a:t>
            </a:fld>
            <a:endParaRPr lang="fr-BF"/>
          </a:p>
        </p:txBody>
      </p:sp>
    </p:spTree>
    <p:extLst>
      <p:ext uri="{BB962C8B-B14F-4D97-AF65-F5344CB8AC3E}">
        <p14:creationId xmlns:p14="http://schemas.microsoft.com/office/powerpoint/2010/main" val="1283098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8B0C-8488-A64E-4EC2-45557CE6CA4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535E573-F714-85E7-5316-25B78077304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C55E972-F0E6-AED0-D3AF-58A0A73C0921}"/>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AEA667FF-BB4E-DB90-950E-7C22154D228E}"/>
              </a:ext>
            </a:extLst>
          </p:cNvPr>
          <p:cNvSpPr>
            <a:spLocks noGrp="1"/>
          </p:cNvSpPr>
          <p:nvPr>
            <p:ph type="sldNum" sz="quarter" idx="5"/>
          </p:nvPr>
        </p:nvSpPr>
        <p:spPr/>
        <p:txBody>
          <a:bodyPr/>
          <a:lstStyle/>
          <a:p>
            <a:fld id="{6AA62CDF-151F-214F-9728-9C361EC75B6A}" type="slidenum">
              <a:rPr lang="fr-BF" smtClean="0"/>
              <a:t>11</a:t>
            </a:fld>
            <a:endParaRPr lang="fr-BF"/>
          </a:p>
        </p:txBody>
      </p:sp>
    </p:spTree>
    <p:extLst>
      <p:ext uri="{BB962C8B-B14F-4D97-AF65-F5344CB8AC3E}">
        <p14:creationId xmlns:p14="http://schemas.microsoft.com/office/powerpoint/2010/main" val="223093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3DFBC-51F4-F4E1-7F08-98DB326AA62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A8AB05C-DFB9-8C8A-DEAA-D741053499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1788FD9-07D5-0B79-C4C0-F4DDBBB7D649}"/>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ACF04722-5C26-AA73-472B-6CE1B902D93B}"/>
              </a:ext>
            </a:extLst>
          </p:cNvPr>
          <p:cNvSpPr>
            <a:spLocks noGrp="1"/>
          </p:cNvSpPr>
          <p:nvPr>
            <p:ph type="sldNum" sz="quarter" idx="5"/>
          </p:nvPr>
        </p:nvSpPr>
        <p:spPr/>
        <p:txBody>
          <a:bodyPr/>
          <a:lstStyle/>
          <a:p>
            <a:fld id="{6AA62CDF-151F-214F-9728-9C361EC75B6A}" type="slidenum">
              <a:rPr lang="fr-BF" smtClean="0"/>
              <a:t>12</a:t>
            </a:fld>
            <a:endParaRPr lang="fr-BF"/>
          </a:p>
        </p:txBody>
      </p:sp>
    </p:spTree>
    <p:extLst>
      <p:ext uri="{BB962C8B-B14F-4D97-AF65-F5344CB8AC3E}">
        <p14:creationId xmlns:p14="http://schemas.microsoft.com/office/powerpoint/2010/main" val="3912992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E4C15-5694-BB6E-F629-EA91CAFD78E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354208D-F1D6-8E18-9130-70FCFF713ED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92E26F7-A334-1F9C-CE3A-F16D8552A786}"/>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9DC93AAD-E9C9-608F-A9C0-1B195CAF9B71}"/>
              </a:ext>
            </a:extLst>
          </p:cNvPr>
          <p:cNvSpPr>
            <a:spLocks noGrp="1"/>
          </p:cNvSpPr>
          <p:nvPr>
            <p:ph type="sldNum" sz="quarter" idx="5"/>
          </p:nvPr>
        </p:nvSpPr>
        <p:spPr/>
        <p:txBody>
          <a:bodyPr/>
          <a:lstStyle/>
          <a:p>
            <a:fld id="{6AA62CDF-151F-214F-9728-9C361EC75B6A}" type="slidenum">
              <a:rPr lang="fr-BF" smtClean="0"/>
              <a:t>13</a:t>
            </a:fld>
            <a:endParaRPr lang="fr-BF"/>
          </a:p>
        </p:txBody>
      </p:sp>
    </p:spTree>
    <p:extLst>
      <p:ext uri="{BB962C8B-B14F-4D97-AF65-F5344CB8AC3E}">
        <p14:creationId xmlns:p14="http://schemas.microsoft.com/office/powerpoint/2010/main" val="2240823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7E8EA-9B0D-ABA9-137F-C708336DE6B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3E145BA-DF68-2B38-CEA1-18E80FECBA1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C0EE151-4C79-F301-D574-FF8DAC855F3B}"/>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E3CDC316-1BEB-D2C3-2971-62666EEC1BAB}"/>
              </a:ext>
            </a:extLst>
          </p:cNvPr>
          <p:cNvSpPr>
            <a:spLocks noGrp="1"/>
          </p:cNvSpPr>
          <p:nvPr>
            <p:ph type="sldNum" sz="quarter" idx="5"/>
          </p:nvPr>
        </p:nvSpPr>
        <p:spPr/>
        <p:txBody>
          <a:bodyPr/>
          <a:lstStyle/>
          <a:p>
            <a:fld id="{6AA62CDF-151F-214F-9728-9C361EC75B6A}" type="slidenum">
              <a:rPr lang="fr-BF" smtClean="0"/>
              <a:t>14</a:t>
            </a:fld>
            <a:endParaRPr lang="fr-BF"/>
          </a:p>
        </p:txBody>
      </p:sp>
    </p:spTree>
    <p:extLst>
      <p:ext uri="{BB962C8B-B14F-4D97-AF65-F5344CB8AC3E}">
        <p14:creationId xmlns:p14="http://schemas.microsoft.com/office/powerpoint/2010/main" val="3501347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1D71E-3D3D-03AC-8D83-A29748B00E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9D708F8-8DA5-362B-53F7-BB99F9D1DFA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D3D3D99-F34D-B008-1741-DB2502B09543}"/>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62C2904D-4494-FB9C-6BF9-005292BAEF6D}"/>
              </a:ext>
            </a:extLst>
          </p:cNvPr>
          <p:cNvSpPr>
            <a:spLocks noGrp="1"/>
          </p:cNvSpPr>
          <p:nvPr>
            <p:ph type="sldNum" sz="quarter" idx="5"/>
          </p:nvPr>
        </p:nvSpPr>
        <p:spPr/>
        <p:txBody>
          <a:bodyPr/>
          <a:lstStyle/>
          <a:p>
            <a:fld id="{6AA62CDF-151F-214F-9728-9C361EC75B6A}" type="slidenum">
              <a:rPr lang="fr-BF" smtClean="0"/>
              <a:t>15</a:t>
            </a:fld>
            <a:endParaRPr lang="fr-BF"/>
          </a:p>
        </p:txBody>
      </p:sp>
    </p:spTree>
    <p:extLst>
      <p:ext uri="{BB962C8B-B14F-4D97-AF65-F5344CB8AC3E}">
        <p14:creationId xmlns:p14="http://schemas.microsoft.com/office/powerpoint/2010/main" val="2664026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028ED-DE1D-89A2-E5C3-20E470F7BBD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7219FA5-C017-4E92-1ECC-B108516BDA9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162F0DA-04B9-396B-4D88-A2F2EB040601}"/>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7C48FCE4-AE18-D48F-0C1F-D503258391EE}"/>
              </a:ext>
            </a:extLst>
          </p:cNvPr>
          <p:cNvSpPr>
            <a:spLocks noGrp="1"/>
          </p:cNvSpPr>
          <p:nvPr>
            <p:ph type="sldNum" sz="quarter" idx="5"/>
          </p:nvPr>
        </p:nvSpPr>
        <p:spPr/>
        <p:txBody>
          <a:bodyPr/>
          <a:lstStyle/>
          <a:p>
            <a:fld id="{6AA62CDF-151F-214F-9728-9C361EC75B6A}" type="slidenum">
              <a:rPr lang="fr-BF" smtClean="0"/>
              <a:t>17</a:t>
            </a:fld>
            <a:endParaRPr lang="fr-BF"/>
          </a:p>
        </p:txBody>
      </p:sp>
    </p:spTree>
    <p:extLst>
      <p:ext uri="{BB962C8B-B14F-4D97-AF65-F5344CB8AC3E}">
        <p14:creationId xmlns:p14="http://schemas.microsoft.com/office/powerpoint/2010/main" val="3134274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924C2-2C43-B1B7-23D4-88E68247187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E9BFECA-EF93-75E6-BB95-53B178330EF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1E19967-E19B-23C6-B5F3-5A4AF096E740}"/>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8ABBCFAE-1DD5-9138-FCAC-0ABC9B08FCA2}"/>
              </a:ext>
            </a:extLst>
          </p:cNvPr>
          <p:cNvSpPr>
            <a:spLocks noGrp="1"/>
          </p:cNvSpPr>
          <p:nvPr>
            <p:ph type="sldNum" sz="quarter" idx="5"/>
          </p:nvPr>
        </p:nvSpPr>
        <p:spPr/>
        <p:txBody>
          <a:bodyPr/>
          <a:lstStyle/>
          <a:p>
            <a:fld id="{6AA62CDF-151F-214F-9728-9C361EC75B6A}" type="slidenum">
              <a:rPr lang="fr-BF" smtClean="0"/>
              <a:t>18</a:t>
            </a:fld>
            <a:endParaRPr lang="fr-BF"/>
          </a:p>
        </p:txBody>
      </p:sp>
    </p:spTree>
    <p:extLst>
      <p:ext uri="{BB962C8B-B14F-4D97-AF65-F5344CB8AC3E}">
        <p14:creationId xmlns:p14="http://schemas.microsoft.com/office/powerpoint/2010/main" val="35811445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AAA9A-997A-FA32-501B-6249C37A72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B8036F0-FFBB-D096-273D-8D601344F5E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5960488-99BF-D642-7528-7AE4A83E2C98}"/>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F282D7E2-F3D8-EA00-BEC1-EC390619328B}"/>
              </a:ext>
            </a:extLst>
          </p:cNvPr>
          <p:cNvSpPr>
            <a:spLocks noGrp="1"/>
          </p:cNvSpPr>
          <p:nvPr>
            <p:ph type="sldNum" sz="quarter" idx="5"/>
          </p:nvPr>
        </p:nvSpPr>
        <p:spPr/>
        <p:txBody>
          <a:bodyPr/>
          <a:lstStyle/>
          <a:p>
            <a:fld id="{6AA62CDF-151F-214F-9728-9C361EC75B6A}" type="slidenum">
              <a:rPr lang="fr-BF" smtClean="0"/>
              <a:t>19</a:t>
            </a:fld>
            <a:endParaRPr lang="fr-BF"/>
          </a:p>
        </p:txBody>
      </p:sp>
    </p:spTree>
    <p:extLst>
      <p:ext uri="{BB962C8B-B14F-4D97-AF65-F5344CB8AC3E}">
        <p14:creationId xmlns:p14="http://schemas.microsoft.com/office/powerpoint/2010/main" val="269087639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fr-FR"/>
              <a:t>Modifiez le style du titre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028CBFB2-29B3-9442-89C7-0C86C2FF1635}" type="datetime1">
              <a:rPr lang="fr-FR" smtClean="0"/>
              <a:t>17/07/2026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5E9D4F0-93DE-D844-AD1A-57046182FB2B}" type="datetime1">
              <a:rPr lang="fr-FR" smtClean="0"/>
              <a:t>17/07/2026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fr-FR"/>
              <a:t>Modifiez le style du titre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8593667" y="6272784"/>
            <a:ext cx="2644309" cy="365125"/>
          </a:xfrm>
        </p:spPr>
        <p:txBody>
          <a:bodyPr/>
          <a:lstStyle/>
          <a:p>
            <a:fld id="{441F1314-CDCB-3945-877C-FC0344A788BE}" type="datetime1">
              <a:rPr lang="fr-FR" smtClean="0"/>
              <a:t>17/07/2026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416ADC8-E12B-DB43-85A8-BD95E3751977}" type="datetime1">
              <a:rPr lang="fr-FR" smtClean="0"/>
              <a:t>17/07/2026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139CE92-1EEA-8548-BF24-0E85EA203550}" type="datetime1">
              <a:rPr lang="fr-FR" smtClean="0"/>
              <a:t>17/07/2026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‹N°›</a:t>
            </a:fld>
            <a:endParaRPr lang="en-US"/>
          </a:p>
        </p:txBody>
      </p:sp>
      <p:sp>
        <p:nvSpPr>
          <p:cNvPr id="10" name="Title 9"/>
          <p:cNvSpPr>
            <a:spLocks noGrp="1"/>
          </p:cNvSpPr>
          <p:nvPr>
            <p:ph type="title"/>
          </p:nvPr>
        </p:nvSpPr>
        <p:spPr/>
        <p:txBody>
          <a:bodyPr/>
          <a:lstStyle/>
          <a:p>
            <a:r>
              <a:rPr lang="fr-FR"/>
              <a:t>Modifiez le style du titre</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51A25EC-CF0D-714D-AD47-ACBF1E1A5D01}" type="datetime1">
              <a:rPr lang="fr-FR" smtClean="0"/>
              <a:t>17/07/2026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‹N°›</a:t>
            </a:fld>
            <a:endParaRPr lang="en-US"/>
          </a:p>
        </p:txBody>
      </p:sp>
      <p:sp>
        <p:nvSpPr>
          <p:cNvPr id="6" name="Title 5"/>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29EF99-4EC9-9F45-81B5-D95BFD75CE69}" type="datetime1">
              <a:rPr lang="fr-FR" smtClean="0"/>
              <a:t>17/07/2026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a:t>Modifiez le style du titre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FA7F6AD5-0082-BA4F-8EBA-6534FE50E22B}" type="datetime1">
              <a:rPr lang="fr-FR" smtClean="0"/>
              <a:t>17/07/2026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a:t>Modifiez le style du titre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3380EEB-F17F-7149-8C3A-238DB16C917D}" type="datetime1">
              <a:rPr lang="fr-FR" smtClean="0"/>
              <a:t>17/07/2026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45815104-FCF1-5C4E-85C6-642F7C6B2B01}" type="datetime1">
              <a:rPr lang="fr-FR" smtClean="0"/>
              <a:t>17/07/2026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5D90B6-751B-074C-9F63-D7BCA19E5949}" type="datetime1">
              <a:rPr lang="fr-FR" smtClean="0"/>
              <a:t>17/07/2026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C6E7A272-715F-BC45-B53F-8409D81B1758}" type="datetime1">
              <a:rPr lang="fr-FR" smtClean="0"/>
              <a:t>17/07/2026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mailto:canisiushien@gmail.com"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9B67B9B-1405-2D4C-C529-24306869F002}"/>
              </a:ext>
            </a:extLst>
          </p:cNvPr>
          <p:cNvSpPr>
            <a:spLocks noGrp="1"/>
          </p:cNvSpPr>
          <p:nvPr>
            <p:ph type="subTitle" idx="1"/>
          </p:nvPr>
        </p:nvSpPr>
        <p:spPr>
          <a:xfrm>
            <a:off x="947056" y="4585063"/>
            <a:ext cx="10205357" cy="607423"/>
          </a:xfrm>
        </p:spPr>
        <p:txBody>
          <a:bodyPr anchor="ctr">
            <a:normAutofit fontScale="70000" lnSpcReduction="20000"/>
          </a:bodyPr>
          <a:lstStyle/>
          <a:p>
            <a:pPr algn="ctr"/>
            <a:r>
              <a:rPr lang="fr-BF" dirty="0"/>
              <a:t>Étudiant :</a:t>
            </a:r>
          </a:p>
          <a:p>
            <a:pPr algn="ctr"/>
            <a:r>
              <a:rPr lang="fr-BF" b="1" i="1" dirty="0"/>
              <a:t>HIEN Zilèdem Pierre Canisius</a:t>
            </a:r>
          </a:p>
        </p:txBody>
      </p:sp>
      <p:sp>
        <p:nvSpPr>
          <p:cNvPr id="5" name="Sous-titre 2">
            <a:extLst>
              <a:ext uri="{FF2B5EF4-FFF2-40B4-BE49-F238E27FC236}">
                <a16:creationId xmlns:a16="http://schemas.microsoft.com/office/drawing/2014/main" id="{767596CB-7541-34B6-932F-3F727AB3504D}"/>
              </a:ext>
            </a:extLst>
          </p:cNvPr>
          <p:cNvSpPr txBox="1">
            <a:spLocks/>
          </p:cNvSpPr>
          <p:nvPr/>
        </p:nvSpPr>
        <p:spPr>
          <a:xfrm>
            <a:off x="1175890" y="5533931"/>
            <a:ext cx="9669089" cy="607423"/>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200" kern="1200">
                <a:solidFill>
                  <a:schemeClr val="tx1"/>
                </a:solidFill>
                <a:latin typeface="+mn-lt"/>
                <a:ea typeface="+mn-ea"/>
                <a:cs typeface="+mn-cs"/>
              </a:defRPr>
            </a:lvl1pPr>
            <a:lvl2pPr marL="457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800" kern="1200">
                <a:solidFill>
                  <a:schemeClr val="tx1"/>
                </a:solidFill>
                <a:latin typeface="+mn-lt"/>
                <a:ea typeface="+mn-ea"/>
                <a:cs typeface="+mn-cs"/>
              </a:defRPr>
            </a:lvl2pPr>
            <a:lvl3pPr marL="914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400" kern="1200">
                <a:solidFill>
                  <a:schemeClr val="tx1"/>
                </a:solidFill>
                <a:latin typeface="+mn-lt"/>
                <a:ea typeface="+mn-ea"/>
                <a:cs typeface="+mn-cs"/>
              </a:defRPr>
            </a:lvl3pPr>
            <a:lvl4pPr marL="1371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4pPr>
            <a:lvl5pPr marL="18288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5pPr>
            <a:lvl6pPr marL="22860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6pPr>
            <a:lvl7pPr marL="2743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7pPr>
            <a:lvl8pPr marL="3200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8pPr>
            <a:lvl9pPr marL="3657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9pPr>
          </a:lstStyle>
          <a:p>
            <a:pPr algn="ctr">
              <a:spcBef>
                <a:spcPts val="0"/>
              </a:spcBef>
            </a:pPr>
            <a:r>
              <a:rPr lang="fr-BF" sz="1500" dirty="0"/>
              <a:t>Encadré par : </a:t>
            </a:r>
            <a:r>
              <a:rPr lang="fr-FR" sz="1500" b="1" i="1" dirty="0"/>
              <a:t>Prof. Sadouanouan MALO et </a:t>
            </a:r>
            <a:r>
              <a:rPr lang="fr-BF" sz="1500" b="1" i="1" dirty="0"/>
              <a:t>Dr.  Yaya TRAORE 	</a:t>
            </a:r>
          </a:p>
        </p:txBody>
      </p:sp>
      <p:sp>
        <p:nvSpPr>
          <p:cNvPr id="6" name="ZoneTexte 5">
            <a:extLst>
              <a:ext uri="{FF2B5EF4-FFF2-40B4-BE49-F238E27FC236}">
                <a16:creationId xmlns:a16="http://schemas.microsoft.com/office/drawing/2014/main" id="{09D7DDB3-C829-7CB1-43CE-021B1C115B6C}"/>
              </a:ext>
            </a:extLst>
          </p:cNvPr>
          <p:cNvSpPr txBox="1"/>
          <p:nvPr/>
        </p:nvSpPr>
        <p:spPr>
          <a:xfrm>
            <a:off x="2212522" y="6482441"/>
            <a:ext cx="9979478" cy="369332"/>
          </a:xfrm>
          <a:prstGeom prst="rect">
            <a:avLst/>
          </a:prstGeom>
          <a:noFill/>
        </p:spPr>
        <p:txBody>
          <a:bodyPr wrap="square" rtlCol="0">
            <a:spAutoFit/>
          </a:bodyPr>
          <a:lstStyle/>
          <a:p>
            <a:pPr algn="r"/>
            <a:r>
              <a:rPr lang="fr-FR" sz="1200" dirty="0" err="1"/>
              <a:t>Doctoriales</a:t>
            </a:r>
            <a:r>
              <a:rPr lang="fr-FR" sz="1200" dirty="0"/>
              <a:t> 2026 </a:t>
            </a:r>
            <a:r>
              <a:rPr lang="fr-BF" dirty="0"/>
              <a:t>|</a:t>
            </a:r>
            <a:r>
              <a:rPr lang="fr-FR" sz="1200" dirty="0"/>
              <a:t> Bobo-Dioulasso</a:t>
            </a:r>
            <a:r>
              <a:rPr lang="fr-BF" sz="1200" dirty="0"/>
              <a:t>, Juillet 2026</a:t>
            </a:r>
          </a:p>
        </p:txBody>
      </p:sp>
      <p:pic>
        <p:nvPicPr>
          <p:cNvPr id="7" name="Image 6" descr="Une image contenant dessin, croquis, logo, clipart&#10;&#10;Le contenu généré par l’IA peut être incorrect.">
            <a:extLst>
              <a:ext uri="{FF2B5EF4-FFF2-40B4-BE49-F238E27FC236}">
                <a16:creationId xmlns:a16="http://schemas.microsoft.com/office/drawing/2014/main" id="{EB019E54-9F97-ACA5-C62C-C1441BE004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253" y="0"/>
            <a:ext cx="1775459" cy="1732875"/>
          </a:xfrm>
          <a:prstGeom prst="rect">
            <a:avLst/>
          </a:prstGeom>
          <a:ln>
            <a:noFill/>
          </a:ln>
          <a:effectLst>
            <a:softEdge rad="112500"/>
          </a:effectLst>
        </p:spPr>
      </p:pic>
      <p:sp>
        <p:nvSpPr>
          <p:cNvPr id="9" name="ZoneTexte 8">
            <a:extLst>
              <a:ext uri="{FF2B5EF4-FFF2-40B4-BE49-F238E27FC236}">
                <a16:creationId xmlns:a16="http://schemas.microsoft.com/office/drawing/2014/main" id="{064B9E3D-10BA-35C4-C35A-FEC6ECFA2AA8}"/>
              </a:ext>
            </a:extLst>
          </p:cNvPr>
          <p:cNvSpPr txBox="1"/>
          <p:nvPr/>
        </p:nvSpPr>
        <p:spPr>
          <a:xfrm>
            <a:off x="3486152" y="16104"/>
            <a:ext cx="8703126" cy="369332"/>
          </a:xfrm>
          <a:prstGeom prst="rect">
            <a:avLst/>
          </a:prstGeom>
          <a:noFill/>
        </p:spPr>
        <p:txBody>
          <a:bodyPr wrap="square">
            <a:spAutoFit/>
          </a:bodyPr>
          <a:lstStyle/>
          <a:p>
            <a:pPr algn="r"/>
            <a:r>
              <a:rPr lang="fr-FR" dirty="0"/>
              <a:t>Laboratoire d’Algèbre, de Mathématiques Discrètes et d’Informatique (LAMDI)</a:t>
            </a:r>
            <a:endParaRPr lang="fr-BF" dirty="0"/>
          </a:p>
        </p:txBody>
      </p:sp>
      <p:sp>
        <p:nvSpPr>
          <p:cNvPr id="13" name="Titre 12">
            <a:extLst>
              <a:ext uri="{FF2B5EF4-FFF2-40B4-BE49-F238E27FC236}">
                <a16:creationId xmlns:a16="http://schemas.microsoft.com/office/drawing/2014/main" id="{C35DB40C-1444-D9EE-CD2C-4D66F55C92D9}"/>
              </a:ext>
            </a:extLst>
          </p:cNvPr>
          <p:cNvSpPr>
            <a:spLocks noGrp="1"/>
          </p:cNvSpPr>
          <p:nvPr>
            <p:ph type="ctrTitle"/>
          </p:nvPr>
        </p:nvSpPr>
        <p:spPr/>
        <p:txBody>
          <a:bodyPr/>
          <a:lstStyle/>
          <a:p>
            <a:pPr algn="ctr"/>
            <a:r>
              <a:rPr lang="fr-FR" sz="5400" b="1" dirty="0"/>
              <a:t>Sécurisation de documents administratifs à l’aide de la technologie blockchain</a:t>
            </a:r>
            <a:endParaRPr lang="fr-BF" sz="5400" dirty="0"/>
          </a:p>
        </p:txBody>
      </p:sp>
    </p:spTree>
    <p:extLst>
      <p:ext uri="{BB962C8B-B14F-4D97-AF65-F5344CB8AC3E}">
        <p14:creationId xmlns:p14="http://schemas.microsoft.com/office/powerpoint/2010/main" val="288641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06970C-0B71-C6A9-A742-E053494D75A3}"/>
              </a:ext>
            </a:extLst>
          </p:cNvPr>
          <p:cNvSpPr>
            <a:spLocks noGrp="1"/>
          </p:cNvSpPr>
          <p:nvPr>
            <p:ph type="title"/>
          </p:nvPr>
        </p:nvSpPr>
        <p:spPr/>
        <p:txBody>
          <a:bodyPr/>
          <a:lstStyle/>
          <a:p>
            <a:r>
              <a:rPr lang="fr-BF" dirty="0"/>
              <a:t>Plan</a:t>
            </a:r>
          </a:p>
        </p:txBody>
      </p:sp>
      <p:sp>
        <p:nvSpPr>
          <p:cNvPr id="3" name="Espace réservé du contenu 2">
            <a:extLst>
              <a:ext uri="{FF2B5EF4-FFF2-40B4-BE49-F238E27FC236}">
                <a16:creationId xmlns:a16="http://schemas.microsoft.com/office/drawing/2014/main" id="{CE85D6C6-EAC9-F990-BFEC-9BC749D1B844}"/>
              </a:ext>
            </a:extLst>
          </p:cNvPr>
          <p:cNvSpPr>
            <a:spLocks noGrp="1"/>
          </p:cNvSpPr>
          <p:nvPr>
            <p:ph idx="1"/>
          </p:nvPr>
        </p:nvSpPr>
        <p:spPr/>
        <p:txBody>
          <a:bodyPr>
            <a:normAutofit/>
          </a:bodyPr>
          <a:lstStyle/>
          <a:p>
            <a:pPr marL="514350" indent="-514350">
              <a:buFont typeface="+mj-lt"/>
              <a:buAutoNum type="romanUcPeriod"/>
            </a:pPr>
            <a:r>
              <a:rPr lang="fr-BF" sz="2800" b="1" dirty="0"/>
              <a:t>Contexte et motivation</a:t>
            </a:r>
          </a:p>
          <a:p>
            <a:pPr marL="514350" indent="-514350">
              <a:buFont typeface="+mj-lt"/>
              <a:buAutoNum type="romanUcPeriod"/>
            </a:pPr>
            <a:r>
              <a:rPr lang="fr-BF" sz="2800" b="1" dirty="0"/>
              <a:t>Problématique</a:t>
            </a:r>
          </a:p>
          <a:p>
            <a:pPr marL="514350" indent="-514350">
              <a:buFont typeface="+mj-lt"/>
              <a:buAutoNum type="romanUcPeriod"/>
            </a:pPr>
            <a:r>
              <a:rPr lang="fr-BF" sz="2800" b="1" dirty="0"/>
              <a:t>Objectifs</a:t>
            </a:r>
          </a:p>
          <a:p>
            <a:pPr marL="514350" indent="-514350">
              <a:buFont typeface="+mj-lt"/>
              <a:buAutoNum type="romanUcPeriod"/>
            </a:pPr>
            <a:r>
              <a:rPr lang="fr-BF" sz="2800" b="1" dirty="0"/>
              <a:t>État de l’art</a:t>
            </a:r>
          </a:p>
          <a:p>
            <a:pPr marL="514350" indent="-514350">
              <a:buFont typeface="+mj-lt"/>
              <a:buAutoNum type="romanUcPeriod"/>
            </a:pPr>
            <a:r>
              <a:rPr lang="fr-BF" sz="2800" b="1" dirty="0"/>
              <a:t>Résultats obtenus</a:t>
            </a:r>
          </a:p>
          <a:p>
            <a:pPr marL="514350" indent="-514350">
              <a:buFont typeface="+mj-lt"/>
              <a:buAutoNum type="romanUcPeriod"/>
            </a:pPr>
            <a:r>
              <a:rPr lang="fr-BF" sz="2800" b="1" dirty="0"/>
              <a:t>Perspectives</a:t>
            </a:r>
          </a:p>
          <a:p>
            <a:pPr marL="514350" indent="-514350">
              <a:buFont typeface="+mj-lt"/>
              <a:buAutoNum type="romanUcPeriod"/>
            </a:pPr>
            <a:r>
              <a:rPr lang="fr-BF" sz="2800" b="1" dirty="0"/>
              <a:t>Chronogramme de recherche</a:t>
            </a:r>
          </a:p>
        </p:txBody>
      </p:sp>
      <p:sp>
        <p:nvSpPr>
          <p:cNvPr id="4" name="Shape 3">
            <a:extLst>
              <a:ext uri="{FF2B5EF4-FFF2-40B4-BE49-F238E27FC236}">
                <a16:creationId xmlns:a16="http://schemas.microsoft.com/office/drawing/2014/main" id="{39071A4A-4A15-77B2-70E5-95044EC35DE3}"/>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sp>
        <p:nvSpPr>
          <p:cNvPr id="6" name="Espace réservé du numéro de diapositive 5">
            <a:extLst>
              <a:ext uri="{FF2B5EF4-FFF2-40B4-BE49-F238E27FC236}">
                <a16:creationId xmlns:a16="http://schemas.microsoft.com/office/drawing/2014/main" id="{047CCC21-FDB3-6B0B-09D1-1BE924C5E854}"/>
              </a:ext>
            </a:extLst>
          </p:cNvPr>
          <p:cNvSpPr>
            <a:spLocks noGrp="1"/>
          </p:cNvSpPr>
          <p:nvPr>
            <p:ph type="sldNum" sz="quarter" idx="12"/>
          </p:nvPr>
        </p:nvSpPr>
        <p:spPr/>
        <p:txBody>
          <a:bodyPr/>
          <a:lstStyle/>
          <a:p>
            <a:fld id="{4FAB73BC-B049-4115-A692-8D63A059BFB8}" type="slidenum">
              <a:rPr lang="en-US" smtClean="0"/>
              <a:t>2</a:t>
            </a:fld>
            <a:endParaRPr lang="en-US"/>
          </a:p>
        </p:txBody>
      </p:sp>
    </p:spTree>
    <p:extLst>
      <p:ext uri="{BB962C8B-B14F-4D97-AF65-F5344CB8AC3E}">
        <p14:creationId xmlns:p14="http://schemas.microsoft.com/office/powerpoint/2010/main" val="3308079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640331-2C73-1B14-F3D4-BBB962E693A6}"/>
              </a:ext>
            </a:extLst>
          </p:cNvPr>
          <p:cNvSpPr>
            <a:spLocks noGrp="1"/>
          </p:cNvSpPr>
          <p:nvPr>
            <p:ph type="title"/>
          </p:nvPr>
        </p:nvSpPr>
        <p:spPr/>
        <p:txBody>
          <a:bodyPr/>
          <a:lstStyle/>
          <a:p>
            <a:pPr marL="1028700" indent="-1028700">
              <a:buFont typeface="+mj-lt"/>
              <a:buAutoNum type="romanUcPeriod"/>
            </a:pPr>
            <a:r>
              <a:rPr lang="fr-BF" dirty="0"/>
              <a:t>CONTEXTE</a:t>
            </a:r>
          </a:p>
        </p:txBody>
      </p:sp>
      <p:sp>
        <p:nvSpPr>
          <p:cNvPr id="3" name="Espace réservé du contenu 2">
            <a:extLst>
              <a:ext uri="{FF2B5EF4-FFF2-40B4-BE49-F238E27FC236}">
                <a16:creationId xmlns:a16="http://schemas.microsoft.com/office/drawing/2014/main" id="{89DC0F64-4AF4-6E01-B14D-91E98E01B36A}"/>
              </a:ext>
            </a:extLst>
          </p:cNvPr>
          <p:cNvSpPr>
            <a:spLocks noGrp="1"/>
          </p:cNvSpPr>
          <p:nvPr>
            <p:ph idx="1"/>
          </p:nvPr>
        </p:nvSpPr>
        <p:spPr>
          <a:xfrm>
            <a:off x="471949" y="2093976"/>
            <a:ext cx="11202980" cy="4178807"/>
          </a:xfrm>
        </p:spPr>
        <p:txBody>
          <a:bodyPr>
            <a:normAutofit/>
          </a:bodyPr>
          <a:lstStyle/>
          <a:p>
            <a:pPr algn="just">
              <a:lnSpc>
                <a:spcPct val="150000"/>
              </a:lnSpc>
            </a:pPr>
            <a:r>
              <a:rPr lang="fr-FR" sz="2400" dirty="0"/>
              <a:t>Les documents administratifs jouent un rôle important, tant pour l’Administration que les citoyens.</a:t>
            </a:r>
          </a:p>
          <a:p>
            <a:pPr algn="just"/>
            <a:endParaRPr lang="fr-FR" sz="2400" dirty="0"/>
          </a:p>
          <a:p>
            <a:pPr algn="just">
              <a:lnSpc>
                <a:spcPct val="150000"/>
              </a:lnSpc>
            </a:pPr>
            <a:r>
              <a:rPr lang="fr-FR" sz="2400" dirty="0"/>
              <a:t>A l’ère de la révolution numérique, le phénomène de falsification documentaire et de fausses vidéos et images est grandissant [1] [2]. </a:t>
            </a:r>
          </a:p>
          <a:p>
            <a:pPr marL="0" indent="0" algn="just">
              <a:buNone/>
            </a:pPr>
            <a:endParaRPr lang="fr-FR" sz="2400" dirty="0"/>
          </a:p>
        </p:txBody>
      </p:sp>
      <p:sp>
        <p:nvSpPr>
          <p:cNvPr id="4" name="Espace réservé du numéro de diapositive 3">
            <a:extLst>
              <a:ext uri="{FF2B5EF4-FFF2-40B4-BE49-F238E27FC236}">
                <a16:creationId xmlns:a16="http://schemas.microsoft.com/office/drawing/2014/main" id="{6F11A545-FD86-A18D-B999-32A979076DAA}"/>
              </a:ext>
            </a:extLst>
          </p:cNvPr>
          <p:cNvSpPr>
            <a:spLocks noGrp="1"/>
          </p:cNvSpPr>
          <p:nvPr>
            <p:ph type="sldNum" sz="quarter" idx="12"/>
          </p:nvPr>
        </p:nvSpPr>
        <p:spPr/>
        <p:txBody>
          <a:bodyPr/>
          <a:lstStyle/>
          <a:p>
            <a:fld id="{4FAB73BC-B049-4115-A692-8D63A059BFB8}" type="slidenum">
              <a:rPr lang="en-US" smtClean="0"/>
              <a:t>3</a:t>
            </a:fld>
            <a:endParaRPr lang="en-US"/>
          </a:p>
        </p:txBody>
      </p:sp>
      <p:sp>
        <p:nvSpPr>
          <p:cNvPr id="5" name="Shape 3">
            <a:extLst>
              <a:ext uri="{FF2B5EF4-FFF2-40B4-BE49-F238E27FC236}">
                <a16:creationId xmlns:a16="http://schemas.microsoft.com/office/drawing/2014/main" id="{D4387778-7C01-91CA-F7DF-4E103FD17E92}"/>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spTree>
    <p:extLst>
      <p:ext uri="{BB962C8B-B14F-4D97-AF65-F5344CB8AC3E}">
        <p14:creationId xmlns:p14="http://schemas.microsoft.com/office/powerpoint/2010/main" val="3248405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E91BA-1C5A-65E0-BABE-13335F3E7BD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AE59153-4FE3-6505-CB99-F1C11ECB3F79}"/>
              </a:ext>
            </a:extLst>
          </p:cNvPr>
          <p:cNvSpPr>
            <a:spLocks noGrp="1"/>
          </p:cNvSpPr>
          <p:nvPr>
            <p:ph type="title"/>
          </p:nvPr>
        </p:nvSpPr>
        <p:spPr/>
        <p:txBody>
          <a:bodyPr/>
          <a:lstStyle/>
          <a:p>
            <a:pPr marL="1028700" indent="-1028700">
              <a:buFont typeface="+mj-lt"/>
              <a:buAutoNum type="romanUcPeriod"/>
            </a:pPr>
            <a:r>
              <a:rPr lang="fr-BF" dirty="0"/>
              <a:t>CONTEXTE</a:t>
            </a:r>
          </a:p>
        </p:txBody>
      </p:sp>
      <p:sp>
        <p:nvSpPr>
          <p:cNvPr id="3" name="Espace réservé du contenu 2">
            <a:extLst>
              <a:ext uri="{FF2B5EF4-FFF2-40B4-BE49-F238E27FC236}">
                <a16:creationId xmlns:a16="http://schemas.microsoft.com/office/drawing/2014/main" id="{0EEB18D6-3ECF-0951-306F-3FCAB48B62A3}"/>
              </a:ext>
            </a:extLst>
          </p:cNvPr>
          <p:cNvSpPr>
            <a:spLocks noGrp="1"/>
          </p:cNvSpPr>
          <p:nvPr>
            <p:ph idx="1"/>
          </p:nvPr>
        </p:nvSpPr>
        <p:spPr>
          <a:xfrm>
            <a:off x="314632" y="1710813"/>
            <a:ext cx="11739715" cy="4847303"/>
          </a:xfrm>
        </p:spPr>
        <p:txBody>
          <a:bodyPr>
            <a:normAutofit fontScale="92500" lnSpcReduction="10000"/>
          </a:bodyPr>
          <a:lstStyle/>
          <a:p>
            <a:pPr algn="just">
              <a:lnSpc>
                <a:spcPct val="150000"/>
              </a:lnSpc>
            </a:pPr>
            <a:r>
              <a:rPr lang="fr-FR" sz="2400" dirty="0"/>
              <a:t>Plusieurs conséquences : </a:t>
            </a:r>
          </a:p>
          <a:p>
            <a:pPr lvl="1" algn="just">
              <a:lnSpc>
                <a:spcPct val="150000"/>
              </a:lnSpc>
            </a:pPr>
            <a:r>
              <a:rPr lang="fr-FR" sz="2000" dirty="0"/>
              <a:t>crise de confiance entre les gouvernants et les citoyens; </a:t>
            </a:r>
          </a:p>
          <a:p>
            <a:pPr lvl="1" algn="just">
              <a:lnSpc>
                <a:spcPct val="150000"/>
              </a:lnSpc>
            </a:pPr>
            <a:r>
              <a:rPr lang="fr-FR" sz="2000" dirty="0"/>
              <a:t>perte de temps énorme aux administrations qui veillent pour faire des éventuels démentis;</a:t>
            </a:r>
          </a:p>
          <a:p>
            <a:pPr lvl="1" algn="just">
              <a:lnSpc>
                <a:spcPct val="150000"/>
              </a:lnSpc>
            </a:pPr>
            <a:r>
              <a:rPr lang="fr-FR" sz="2000" dirty="0"/>
              <a:t>mobilisation de ressources (temps, financières, humaines) pour des opérations d'authentification de certains documents;</a:t>
            </a:r>
          </a:p>
          <a:p>
            <a:pPr lvl="1" algn="just">
              <a:lnSpc>
                <a:spcPct val="150000"/>
              </a:lnSpc>
            </a:pPr>
            <a:r>
              <a:rPr lang="fr-FR" sz="2000" dirty="0"/>
              <a:t>augmentation des délais de prestation de services règlementaires.</a:t>
            </a:r>
          </a:p>
          <a:p>
            <a:pPr lvl="1" algn="just"/>
            <a:endParaRPr lang="fr-FR" sz="2000" dirty="0"/>
          </a:p>
          <a:p>
            <a:pPr algn="just">
              <a:lnSpc>
                <a:spcPct val="150000"/>
              </a:lnSpc>
            </a:pPr>
            <a:r>
              <a:rPr lang="fr-FR" sz="2400" dirty="0"/>
              <a:t>La technologie Blockchain via ses propriétés d’immuabilité, de stockage décentralisé, et de haute transparence semble une opportunité pour faire face à ce phénomène [3] [4] [5].</a:t>
            </a:r>
            <a:endParaRPr lang="fr-FR" dirty="0"/>
          </a:p>
        </p:txBody>
      </p:sp>
      <p:sp>
        <p:nvSpPr>
          <p:cNvPr id="4" name="Espace réservé du numéro de diapositive 3">
            <a:extLst>
              <a:ext uri="{FF2B5EF4-FFF2-40B4-BE49-F238E27FC236}">
                <a16:creationId xmlns:a16="http://schemas.microsoft.com/office/drawing/2014/main" id="{36AED6E3-0325-E9C4-A5FD-2BCC2E1DFA6C}"/>
              </a:ext>
            </a:extLst>
          </p:cNvPr>
          <p:cNvSpPr>
            <a:spLocks noGrp="1"/>
          </p:cNvSpPr>
          <p:nvPr>
            <p:ph type="sldNum" sz="quarter" idx="12"/>
          </p:nvPr>
        </p:nvSpPr>
        <p:spPr/>
        <p:txBody>
          <a:bodyPr/>
          <a:lstStyle/>
          <a:p>
            <a:fld id="{4FAB73BC-B049-4115-A692-8D63A059BFB8}" type="slidenum">
              <a:rPr lang="en-US" smtClean="0"/>
              <a:t>4</a:t>
            </a:fld>
            <a:endParaRPr lang="en-US"/>
          </a:p>
        </p:txBody>
      </p:sp>
      <p:sp>
        <p:nvSpPr>
          <p:cNvPr id="5" name="Shape 3">
            <a:extLst>
              <a:ext uri="{FF2B5EF4-FFF2-40B4-BE49-F238E27FC236}">
                <a16:creationId xmlns:a16="http://schemas.microsoft.com/office/drawing/2014/main" id="{D73A350F-1BFB-772B-054F-669CC59AB90D}"/>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spTree>
    <p:extLst>
      <p:ext uri="{BB962C8B-B14F-4D97-AF65-F5344CB8AC3E}">
        <p14:creationId xmlns:p14="http://schemas.microsoft.com/office/powerpoint/2010/main" val="1241598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EAC7C-690F-27B5-8524-F7529063F38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9F134A8-17D1-AC0F-76BE-F51C94236F4E}"/>
              </a:ext>
            </a:extLst>
          </p:cNvPr>
          <p:cNvSpPr>
            <a:spLocks noGrp="1"/>
          </p:cNvSpPr>
          <p:nvPr>
            <p:ph type="title"/>
          </p:nvPr>
        </p:nvSpPr>
        <p:spPr/>
        <p:txBody>
          <a:bodyPr/>
          <a:lstStyle/>
          <a:p>
            <a:r>
              <a:rPr lang="fr-BF" dirty="0"/>
              <a:t>II.	problématique</a:t>
            </a:r>
          </a:p>
        </p:txBody>
      </p:sp>
      <p:sp>
        <p:nvSpPr>
          <p:cNvPr id="4" name="Espace réservé du numéro de diapositive 3">
            <a:extLst>
              <a:ext uri="{FF2B5EF4-FFF2-40B4-BE49-F238E27FC236}">
                <a16:creationId xmlns:a16="http://schemas.microsoft.com/office/drawing/2014/main" id="{B942DB98-DF9D-A669-0978-312582856EAC}"/>
              </a:ext>
            </a:extLst>
          </p:cNvPr>
          <p:cNvSpPr>
            <a:spLocks noGrp="1"/>
          </p:cNvSpPr>
          <p:nvPr>
            <p:ph type="sldNum" sz="quarter" idx="12"/>
          </p:nvPr>
        </p:nvSpPr>
        <p:spPr/>
        <p:txBody>
          <a:bodyPr/>
          <a:lstStyle/>
          <a:p>
            <a:fld id="{4FAB73BC-B049-4115-A692-8D63A059BFB8}" type="slidenum">
              <a:rPr lang="en-US" smtClean="0"/>
              <a:t>5</a:t>
            </a:fld>
            <a:endParaRPr lang="en-US"/>
          </a:p>
        </p:txBody>
      </p:sp>
      <p:sp>
        <p:nvSpPr>
          <p:cNvPr id="5" name="Shape 3">
            <a:extLst>
              <a:ext uri="{FF2B5EF4-FFF2-40B4-BE49-F238E27FC236}">
                <a16:creationId xmlns:a16="http://schemas.microsoft.com/office/drawing/2014/main" id="{8668BEDE-E1D2-1CF3-CC4C-A287871DF365}"/>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sp>
        <p:nvSpPr>
          <p:cNvPr id="7" name="ZoneTexte 6">
            <a:extLst>
              <a:ext uri="{FF2B5EF4-FFF2-40B4-BE49-F238E27FC236}">
                <a16:creationId xmlns:a16="http://schemas.microsoft.com/office/drawing/2014/main" id="{3613CD22-AF10-FCF2-98B1-C76B0588BD47}"/>
              </a:ext>
            </a:extLst>
          </p:cNvPr>
          <p:cNvSpPr txBox="1"/>
          <p:nvPr/>
        </p:nvSpPr>
        <p:spPr>
          <a:xfrm>
            <a:off x="2369573" y="2298390"/>
            <a:ext cx="9468639" cy="2795637"/>
          </a:xfrm>
          <a:prstGeom prst="rect">
            <a:avLst/>
          </a:prstGeom>
          <a:noFill/>
        </p:spPr>
        <p:txBody>
          <a:bodyPr wrap="square">
            <a:spAutoFit/>
          </a:bodyPr>
          <a:lstStyle/>
          <a:p>
            <a:pPr marL="274320" lvl="1" indent="0" algn="just">
              <a:lnSpc>
                <a:spcPct val="150000"/>
              </a:lnSpc>
              <a:buNone/>
            </a:pPr>
            <a:r>
              <a:rPr lang="fr-FR" sz="2400" dirty="0"/>
              <a:t>Comment concevoir et mettre en place une approche intégrant la blockchain afin de garantir la traçabilité des documents administratifs et d’offrir la possibilité de vérifier leur authenticité en temps réel de manière plus facile, efficace et sécurisée ?</a:t>
            </a:r>
          </a:p>
        </p:txBody>
      </p:sp>
      <p:pic>
        <p:nvPicPr>
          <p:cNvPr id="9" name="Image 8">
            <a:extLst>
              <a:ext uri="{FF2B5EF4-FFF2-40B4-BE49-F238E27FC236}">
                <a16:creationId xmlns:a16="http://schemas.microsoft.com/office/drawing/2014/main" id="{5BDCB944-C0A9-5990-8D64-4943D62F8778}"/>
              </a:ext>
            </a:extLst>
          </p:cNvPr>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52112" y="2125410"/>
            <a:ext cx="2141998" cy="2247969"/>
          </a:xfrm>
          <a:prstGeom prst="rect">
            <a:avLst/>
          </a:prstGeom>
        </p:spPr>
      </p:pic>
    </p:spTree>
    <p:extLst>
      <p:ext uri="{BB962C8B-B14F-4D97-AF65-F5344CB8AC3E}">
        <p14:creationId xmlns:p14="http://schemas.microsoft.com/office/powerpoint/2010/main" val="4036922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A719B8EB-9D4A-EC22-6134-A99F234BA382}"/>
              </a:ext>
            </a:extLst>
          </p:cNvPr>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9311148" y="3015377"/>
            <a:ext cx="2418736" cy="2354487"/>
          </a:xfrm>
          <a:prstGeom prst="rect">
            <a:avLst/>
          </a:prstGeom>
        </p:spPr>
      </p:pic>
      <p:sp>
        <p:nvSpPr>
          <p:cNvPr id="2" name="Titre 1">
            <a:extLst>
              <a:ext uri="{FF2B5EF4-FFF2-40B4-BE49-F238E27FC236}">
                <a16:creationId xmlns:a16="http://schemas.microsoft.com/office/drawing/2014/main" id="{8D6CB7C7-3142-168E-5900-4E8D3C06BF6C}"/>
              </a:ext>
            </a:extLst>
          </p:cNvPr>
          <p:cNvSpPr>
            <a:spLocks noGrp="1"/>
          </p:cNvSpPr>
          <p:nvPr>
            <p:ph type="title"/>
          </p:nvPr>
        </p:nvSpPr>
        <p:spPr/>
        <p:txBody>
          <a:bodyPr/>
          <a:lstStyle/>
          <a:p>
            <a:r>
              <a:rPr lang="fr-BF" dirty="0"/>
              <a:t>III.	objectifs</a:t>
            </a:r>
          </a:p>
        </p:txBody>
      </p:sp>
      <p:sp>
        <p:nvSpPr>
          <p:cNvPr id="3" name="Espace réservé du contenu 2">
            <a:extLst>
              <a:ext uri="{FF2B5EF4-FFF2-40B4-BE49-F238E27FC236}">
                <a16:creationId xmlns:a16="http://schemas.microsoft.com/office/drawing/2014/main" id="{8EDA46D6-95C9-FB1F-57CF-9DD62E421863}"/>
              </a:ext>
            </a:extLst>
          </p:cNvPr>
          <p:cNvSpPr>
            <a:spLocks noGrp="1"/>
          </p:cNvSpPr>
          <p:nvPr>
            <p:ph idx="1"/>
          </p:nvPr>
        </p:nvSpPr>
        <p:spPr>
          <a:xfrm>
            <a:off x="253769" y="2121408"/>
            <a:ext cx="9558822" cy="3787779"/>
          </a:xfrm>
        </p:spPr>
        <p:txBody>
          <a:bodyPr>
            <a:noAutofit/>
          </a:bodyPr>
          <a:lstStyle/>
          <a:p>
            <a:pPr marL="0" indent="0" algn="just">
              <a:buNone/>
            </a:pPr>
            <a:r>
              <a:rPr lang="fr-FR" sz="2400" dirty="0"/>
              <a:t>Objectif général :</a:t>
            </a:r>
          </a:p>
          <a:p>
            <a:pPr marL="0" indent="0" algn="just">
              <a:lnSpc>
                <a:spcPct val="150000"/>
              </a:lnSpc>
              <a:buNone/>
            </a:pPr>
            <a:r>
              <a:rPr lang="fr-FR" sz="2400" dirty="0"/>
              <a:t>Proposer une approche basée sur la blockchain afin de garantir la sécurité des documents administratifs et d’offrir la possibilité de vérifier leur authenticité en temps réel de manière plus facile, efficace et sécurisée.</a:t>
            </a:r>
          </a:p>
        </p:txBody>
      </p:sp>
      <p:sp>
        <p:nvSpPr>
          <p:cNvPr id="4" name="Espace réservé du numéro de diapositive 3">
            <a:extLst>
              <a:ext uri="{FF2B5EF4-FFF2-40B4-BE49-F238E27FC236}">
                <a16:creationId xmlns:a16="http://schemas.microsoft.com/office/drawing/2014/main" id="{68C79762-FD43-B87B-2235-7BDEA55E0B5E}"/>
              </a:ext>
            </a:extLst>
          </p:cNvPr>
          <p:cNvSpPr>
            <a:spLocks noGrp="1"/>
          </p:cNvSpPr>
          <p:nvPr>
            <p:ph type="sldNum" sz="quarter" idx="12"/>
          </p:nvPr>
        </p:nvSpPr>
        <p:spPr/>
        <p:txBody>
          <a:bodyPr/>
          <a:lstStyle/>
          <a:p>
            <a:fld id="{4FAB73BC-B049-4115-A692-8D63A059BFB8}" type="slidenum">
              <a:rPr lang="en-US" smtClean="0"/>
              <a:t>6</a:t>
            </a:fld>
            <a:endParaRPr lang="en-US"/>
          </a:p>
        </p:txBody>
      </p:sp>
      <p:sp>
        <p:nvSpPr>
          <p:cNvPr id="5" name="Shape 3">
            <a:extLst>
              <a:ext uri="{FF2B5EF4-FFF2-40B4-BE49-F238E27FC236}">
                <a16:creationId xmlns:a16="http://schemas.microsoft.com/office/drawing/2014/main" id="{C2700D0F-74EF-009A-D39C-09E826BE4FBA}"/>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spTree>
    <p:extLst>
      <p:ext uri="{BB962C8B-B14F-4D97-AF65-F5344CB8AC3E}">
        <p14:creationId xmlns:p14="http://schemas.microsoft.com/office/powerpoint/2010/main" val="3583294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E05BF-552E-6009-0ECE-3789CFE37E2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79FFBFF-C6D8-B4B1-6393-7A059380F759}"/>
              </a:ext>
            </a:extLst>
          </p:cNvPr>
          <p:cNvSpPr>
            <a:spLocks noGrp="1"/>
          </p:cNvSpPr>
          <p:nvPr>
            <p:ph type="title"/>
          </p:nvPr>
        </p:nvSpPr>
        <p:spPr/>
        <p:txBody>
          <a:bodyPr/>
          <a:lstStyle/>
          <a:p>
            <a:r>
              <a:rPr lang="fr-BF" dirty="0"/>
              <a:t>III.	objectifs</a:t>
            </a:r>
          </a:p>
        </p:txBody>
      </p:sp>
      <p:sp>
        <p:nvSpPr>
          <p:cNvPr id="3" name="Espace réservé du contenu 2">
            <a:extLst>
              <a:ext uri="{FF2B5EF4-FFF2-40B4-BE49-F238E27FC236}">
                <a16:creationId xmlns:a16="http://schemas.microsoft.com/office/drawing/2014/main" id="{3B801463-0212-7457-D22A-5F963069EFEE}"/>
              </a:ext>
            </a:extLst>
          </p:cNvPr>
          <p:cNvSpPr>
            <a:spLocks noGrp="1"/>
          </p:cNvSpPr>
          <p:nvPr>
            <p:ph idx="1"/>
          </p:nvPr>
        </p:nvSpPr>
        <p:spPr>
          <a:xfrm>
            <a:off x="471949" y="1897622"/>
            <a:ext cx="11202980" cy="4512810"/>
          </a:xfrm>
        </p:spPr>
        <p:txBody>
          <a:bodyPr>
            <a:normAutofit lnSpcReduction="10000"/>
          </a:bodyPr>
          <a:lstStyle/>
          <a:p>
            <a:pPr marL="0" indent="0" algn="just">
              <a:buNone/>
            </a:pPr>
            <a:r>
              <a:rPr lang="fr-FR" sz="2400" dirty="0"/>
              <a:t>Objectifs spécifiques : </a:t>
            </a:r>
          </a:p>
          <a:p>
            <a:pPr algn="just"/>
            <a:r>
              <a:rPr lang="fr-FR" sz="2400" dirty="0"/>
              <a:t> Analyser le dispositif existant de sécurisation de documents administratifs ;</a:t>
            </a:r>
          </a:p>
          <a:p>
            <a:pPr algn="just"/>
            <a:endParaRPr lang="fr-FR" sz="2400" dirty="0"/>
          </a:p>
          <a:p>
            <a:pPr algn="just"/>
            <a:r>
              <a:rPr lang="fr-FR" sz="2400" dirty="0"/>
              <a:t> Faire un état de l’art sur l’application de la blockchain dans les processus de sécurisation des données (notamment des documents) ;</a:t>
            </a:r>
          </a:p>
          <a:p>
            <a:pPr algn="just"/>
            <a:endParaRPr lang="fr-FR" sz="2400" dirty="0"/>
          </a:p>
          <a:p>
            <a:pPr algn="just"/>
            <a:r>
              <a:rPr lang="fr-FR" sz="2400" dirty="0"/>
              <a:t> Proposer une approche de sécurisation des documents administratifs basée sur la technologie blockchain ;</a:t>
            </a:r>
          </a:p>
          <a:p>
            <a:pPr algn="just"/>
            <a:endParaRPr lang="fr-FR" sz="2400" dirty="0"/>
          </a:p>
          <a:p>
            <a:pPr algn="just"/>
            <a:r>
              <a:rPr lang="fr-FR" sz="2400" dirty="0"/>
              <a:t> Evaluer l’approche avec des documents administratifs collectés : cas de sécurisation de documents administratifs du Burkina Faso.</a:t>
            </a:r>
          </a:p>
        </p:txBody>
      </p:sp>
      <p:sp>
        <p:nvSpPr>
          <p:cNvPr id="4" name="Espace réservé du numéro de diapositive 3">
            <a:extLst>
              <a:ext uri="{FF2B5EF4-FFF2-40B4-BE49-F238E27FC236}">
                <a16:creationId xmlns:a16="http://schemas.microsoft.com/office/drawing/2014/main" id="{99D2607F-A5A3-76C0-513B-D7C27E08F730}"/>
              </a:ext>
            </a:extLst>
          </p:cNvPr>
          <p:cNvSpPr>
            <a:spLocks noGrp="1"/>
          </p:cNvSpPr>
          <p:nvPr>
            <p:ph type="sldNum" sz="quarter" idx="12"/>
          </p:nvPr>
        </p:nvSpPr>
        <p:spPr/>
        <p:txBody>
          <a:bodyPr/>
          <a:lstStyle/>
          <a:p>
            <a:fld id="{4FAB73BC-B049-4115-A692-8D63A059BFB8}" type="slidenum">
              <a:rPr lang="en-US" smtClean="0"/>
              <a:t>7</a:t>
            </a:fld>
            <a:endParaRPr lang="en-US"/>
          </a:p>
        </p:txBody>
      </p:sp>
      <p:sp>
        <p:nvSpPr>
          <p:cNvPr id="5" name="Shape 3">
            <a:extLst>
              <a:ext uri="{FF2B5EF4-FFF2-40B4-BE49-F238E27FC236}">
                <a16:creationId xmlns:a16="http://schemas.microsoft.com/office/drawing/2014/main" id="{3E92A8C7-0183-C379-E8D6-3B168D5935CB}"/>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spTree>
    <p:extLst>
      <p:ext uri="{BB962C8B-B14F-4D97-AF65-F5344CB8AC3E}">
        <p14:creationId xmlns:p14="http://schemas.microsoft.com/office/powerpoint/2010/main" val="652641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05C3B-0651-9A78-2CAD-A848E111769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F438F7-A673-8F52-15CB-FFA4EE2E2790}"/>
              </a:ext>
            </a:extLst>
          </p:cNvPr>
          <p:cNvSpPr>
            <a:spLocks noGrp="1"/>
          </p:cNvSpPr>
          <p:nvPr>
            <p:ph type="title"/>
          </p:nvPr>
        </p:nvSpPr>
        <p:spPr/>
        <p:txBody>
          <a:bodyPr/>
          <a:lstStyle/>
          <a:p>
            <a:r>
              <a:rPr lang="fr-BF" dirty="0"/>
              <a:t>IV.	ÉTAT DE L’art (1/3)</a:t>
            </a:r>
          </a:p>
        </p:txBody>
      </p:sp>
      <p:sp>
        <p:nvSpPr>
          <p:cNvPr id="3" name="Espace réservé du contenu 2">
            <a:extLst>
              <a:ext uri="{FF2B5EF4-FFF2-40B4-BE49-F238E27FC236}">
                <a16:creationId xmlns:a16="http://schemas.microsoft.com/office/drawing/2014/main" id="{BD997EE7-E22A-B237-FDD3-6ACBB16D2B7D}"/>
              </a:ext>
            </a:extLst>
          </p:cNvPr>
          <p:cNvSpPr>
            <a:spLocks noGrp="1"/>
          </p:cNvSpPr>
          <p:nvPr>
            <p:ph idx="1"/>
          </p:nvPr>
        </p:nvSpPr>
        <p:spPr>
          <a:xfrm>
            <a:off x="140059" y="1720648"/>
            <a:ext cx="11811149" cy="1379252"/>
          </a:xfrm>
        </p:spPr>
        <p:txBody>
          <a:bodyPr>
            <a:noAutofit/>
          </a:bodyPr>
          <a:lstStyle/>
          <a:p>
            <a:pPr algn="just"/>
            <a:r>
              <a:rPr lang="fr-FR" sz="2400" dirty="0"/>
              <a:t>Documents administratifs = “les documents produits ou reçus, dans le cadre de la mission de service public, par l’État, les collectivités territoriales ainsi que par les autres personnes de droit public ou les personnes de droit privé chargées d’une telle mission </a:t>
            </a:r>
            <a:r>
              <a:rPr lang="fr-FR" sz="2400" i="1" dirty="0"/>
              <a:t>;</a:t>
            </a:r>
            <a:r>
              <a:rPr lang="fr-FR" sz="2400" dirty="0"/>
              <a:t>” [6].</a:t>
            </a:r>
          </a:p>
        </p:txBody>
      </p:sp>
      <p:sp>
        <p:nvSpPr>
          <p:cNvPr id="4" name="Espace réservé du numéro de diapositive 3">
            <a:extLst>
              <a:ext uri="{FF2B5EF4-FFF2-40B4-BE49-F238E27FC236}">
                <a16:creationId xmlns:a16="http://schemas.microsoft.com/office/drawing/2014/main" id="{BBF29519-C9D9-C0B4-A752-1DCEB7586FD6}"/>
              </a:ext>
            </a:extLst>
          </p:cNvPr>
          <p:cNvSpPr>
            <a:spLocks noGrp="1"/>
          </p:cNvSpPr>
          <p:nvPr>
            <p:ph type="sldNum" sz="quarter" idx="12"/>
          </p:nvPr>
        </p:nvSpPr>
        <p:spPr/>
        <p:txBody>
          <a:bodyPr/>
          <a:lstStyle/>
          <a:p>
            <a:fld id="{4FAB73BC-B049-4115-A692-8D63A059BFB8}" type="slidenum">
              <a:rPr lang="en-US" smtClean="0"/>
              <a:t>8</a:t>
            </a:fld>
            <a:endParaRPr lang="en-US"/>
          </a:p>
        </p:txBody>
      </p:sp>
      <p:sp>
        <p:nvSpPr>
          <p:cNvPr id="5" name="Shape 3">
            <a:extLst>
              <a:ext uri="{FF2B5EF4-FFF2-40B4-BE49-F238E27FC236}">
                <a16:creationId xmlns:a16="http://schemas.microsoft.com/office/drawing/2014/main" id="{0B717F12-3A93-7D41-D449-25F672913C08}"/>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graphicFrame>
        <p:nvGraphicFramePr>
          <p:cNvPr id="6" name="Tableau 5">
            <a:extLst>
              <a:ext uri="{FF2B5EF4-FFF2-40B4-BE49-F238E27FC236}">
                <a16:creationId xmlns:a16="http://schemas.microsoft.com/office/drawing/2014/main" id="{0ED94242-A697-5B7C-CFA3-E6D13AF6E971}"/>
              </a:ext>
            </a:extLst>
          </p:cNvPr>
          <p:cNvGraphicFramePr>
            <a:graphicFrameLocks noGrp="1"/>
          </p:cNvGraphicFramePr>
          <p:nvPr>
            <p:extLst>
              <p:ext uri="{D42A27DB-BD31-4B8C-83A1-F6EECF244321}">
                <p14:modId xmlns:p14="http://schemas.microsoft.com/office/powerpoint/2010/main" val="1004394047"/>
              </p:ext>
            </p:extLst>
          </p:nvPr>
        </p:nvGraphicFramePr>
        <p:xfrm>
          <a:off x="140059" y="3196155"/>
          <a:ext cx="11911881" cy="3538532"/>
        </p:xfrm>
        <a:graphic>
          <a:graphicData uri="http://schemas.openxmlformats.org/drawingml/2006/table">
            <a:tbl>
              <a:tblPr firstRow="1" bandRow="1">
                <a:tableStyleId>{5C22544A-7EE6-4342-B048-85BDC9FD1C3A}</a:tableStyleId>
              </a:tblPr>
              <a:tblGrid>
                <a:gridCol w="3970627">
                  <a:extLst>
                    <a:ext uri="{9D8B030D-6E8A-4147-A177-3AD203B41FA5}">
                      <a16:colId xmlns:a16="http://schemas.microsoft.com/office/drawing/2014/main" val="3975719327"/>
                    </a:ext>
                  </a:extLst>
                </a:gridCol>
                <a:gridCol w="3970627">
                  <a:extLst>
                    <a:ext uri="{9D8B030D-6E8A-4147-A177-3AD203B41FA5}">
                      <a16:colId xmlns:a16="http://schemas.microsoft.com/office/drawing/2014/main" val="2341748761"/>
                    </a:ext>
                  </a:extLst>
                </a:gridCol>
                <a:gridCol w="3970627">
                  <a:extLst>
                    <a:ext uri="{9D8B030D-6E8A-4147-A177-3AD203B41FA5}">
                      <a16:colId xmlns:a16="http://schemas.microsoft.com/office/drawing/2014/main" val="4010473877"/>
                    </a:ext>
                  </a:extLst>
                </a:gridCol>
              </a:tblGrid>
              <a:tr h="4300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G. Malik</a:t>
                      </a:r>
                      <a:r>
                        <a:rPr lang="fr-BF" sz="1800" b="1" kern="1200" dirty="0">
                          <a:solidFill>
                            <a:schemeClr val="lt1"/>
                          </a:solidFill>
                          <a:effectLst/>
                          <a:latin typeface="+mn-lt"/>
                          <a:ea typeface="+mn-ea"/>
                          <a:cs typeface="+mn-cs"/>
                        </a:rPr>
                        <a:t> et al. (2019) </a:t>
                      </a:r>
                      <a:r>
                        <a:rPr lang="fr-FR" dirty="0"/>
                        <a:t>[8]</a:t>
                      </a:r>
                      <a:endParaRPr lang="fr-FR" sz="1800" b="1" kern="1200" dirty="0">
                        <a:solidFill>
                          <a:schemeClr val="lt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Omar S. Saleh et al.</a:t>
                      </a:r>
                      <a:r>
                        <a:rPr lang="fr-BF" sz="1800" b="1" kern="1200" dirty="0">
                          <a:solidFill>
                            <a:schemeClr val="lt1"/>
                          </a:solidFill>
                          <a:effectLst/>
                          <a:latin typeface="+mn-lt"/>
                          <a:ea typeface="+mn-ea"/>
                          <a:cs typeface="+mn-cs"/>
                        </a:rPr>
                        <a:t> (2020) </a:t>
                      </a:r>
                      <a:r>
                        <a:rPr lang="fr-FR" dirty="0"/>
                        <a:t>[7]</a:t>
                      </a:r>
                      <a:endParaRPr lang="fr-FR" sz="1800" b="1" kern="1200" dirty="0">
                        <a:solidFill>
                          <a:schemeClr val="lt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R. F. </a:t>
                      </a:r>
                      <a:r>
                        <a:rPr lang="fr-FR" sz="1800" b="1" kern="1200" dirty="0" err="1">
                          <a:solidFill>
                            <a:schemeClr val="lt1"/>
                          </a:solidFill>
                          <a:effectLst/>
                          <a:latin typeface="+mn-lt"/>
                          <a:ea typeface="+mn-ea"/>
                          <a:cs typeface="+mn-cs"/>
                        </a:rPr>
                        <a:t>Ghani</a:t>
                      </a:r>
                      <a:r>
                        <a:rPr lang="fr-FR" sz="1800" b="1" kern="1200" dirty="0">
                          <a:solidFill>
                            <a:schemeClr val="lt1"/>
                          </a:solidFill>
                          <a:effectLst/>
                          <a:latin typeface="+mn-lt"/>
                          <a:ea typeface="+mn-ea"/>
                          <a:cs typeface="+mn-cs"/>
                        </a:rPr>
                        <a:t> et al.</a:t>
                      </a:r>
                      <a:r>
                        <a:rPr lang="fr-BF" sz="1800" b="1" kern="1200" dirty="0">
                          <a:solidFill>
                            <a:schemeClr val="lt1"/>
                          </a:solidFill>
                          <a:effectLst/>
                          <a:latin typeface="+mn-lt"/>
                          <a:ea typeface="+mn-ea"/>
                          <a:cs typeface="+mn-cs"/>
                        </a:rPr>
                        <a:t> (2022) </a:t>
                      </a:r>
                      <a:r>
                        <a:rPr lang="fr-FR" dirty="0"/>
                        <a:t>[10]</a:t>
                      </a:r>
                      <a:endParaRPr lang="fr-FR" sz="1800" b="1" kern="1200" dirty="0">
                        <a:solidFill>
                          <a:schemeClr val="lt1"/>
                        </a:solidFill>
                        <a:effectLst/>
                        <a:latin typeface="+mn-lt"/>
                        <a:ea typeface="+mn-ea"/>
                        <a:cs typeface="+mn-cs"/>
                      </a:endParaRPr>
                    </a:p>
                  </a:txBody>
                  <a:tcPr/>
                </a:tc>
                <a:extLst>
                  <a:ext uri="{0D108BD9-81ED-4DB2-BD59-A6C34878D82A}">
                    <a16:rowId xmlns:a16="http://schemas.microsoft.com/office/drawing/2014/main" val="1307363981"/>
                  </a:ext>
                </a:extLst>
              </a:tr>
              <a:tr h="310843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BF" sz="1800" kern="1200" dirty="0">
                          <a:solidFill>
                            <a:schemeClr val="dk1"/>
                          </a:solidFill>
                          <a:effectLst/>
                          <a:latin typeface="+mn-lt"/>
                          <a:ea typeface="+mn-ea"/>
                          <a:cs typeface="+mn-cs"/>
                        </a:rPr>
                        <a:t>Étude pour le développement d’un réseau blockchain privé autorisé pour le partage sécurisé des documents officiels au sein d’organismes gouvernementaux, et organisations.</a:t>
                      </a:r>
                      <a:endParaRPr lang="fr-FR" sz="1800" kern="1200" dirty="0">
                        <a:solidFill>
                          <a:schemeClr val="dk1"/>
                        </a:solidFill>
                        <a:effectLst/>
                        <a:latin typeface="+mn-lt"/>
                        <a:ea typeface="+mn-ea"/>
                        <a:cs typeface="+mn-cs"/>
                      </a:endParaRPr>
                    </a:p>
                  </a:txBody>
                  <a:tcPr anchor="ctr"/>
                </a:tc>
                <a:tc>
                  <a:txBody>
                    <a:bodyPr/>
                    <a:lstStyle/>
                    <a:p>
                      <a:pPr algn="just"/>
                      <a:r>
                        <a:rPr lang="fr-FR" sz="1800" kern="1200" dirty="0">
                          <a:solidFill>
                            <a:schemeClr val="dk1"/>
                          </a:solidFill>
                          <a:effectLst/>
                          <a:latin typeface="+mn-lt"/>
                          <a:ea typeface="+mn-ea"/>
                          <a:cs typeface="+mn-cs"/>
                        </a:rPr>
                        <a:t>Proposition de cadre basé sur la blockchain pour la vérification des certificats éducatifs afin de palier les problèmes de falsifications des diplômes universitaires.</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latin typeface="+mn-lt"/>
                          <a:ea typeface="+mn-ea"/>
                          <a:cs typeface="+mn-cs"/>
                        </a:rPr>
                        <a:t>P</a:t>
                      </a:r>
                      <a:r>
                        <a:rPr lang="fr-BF" sz="1800" kern="1200" dirty="0">
                          <a:solidFill>
                            <a:schemeClr val="dk1"/>
                          </a:solidFill>
                          <a:effectLst/>
                          <a:latin typeface="+mn-lt"/>
                          <a:ea typeface="+mn-ea"/>
                          <a:cs typeface="+mn-cs"/>
                        </a:rPr>
                        <a:t>roposition d’un système (FBCOLM) avec Java TCP socket utilisant la blockchain.</a:t>
                      </a:r>
                    </a:p>
                    <a:p>
                      <a:pPr marL="0" marR="0" lvl="0" indent="0" algn="just" defTabSz="914400" rtl="0" eaLnBrk="1" fontAlgn="auto" latinLnBrk="0" hangingPunct="1">
                        <a:lnSpc>
                          <a:spcPct val="100000"/>
                        </a:lnSpc>
                        <a:spcBef>
                          <a:spcPts val="0"/>
                        </a:spcBef>
                        <a:spcAft>
                          <a:spcPts val="0"/>
                        </a:spcAft>
                        <a:buClrTx/>
                        <a:buSzTx/>
                        <a:buFontTx/>
                        <a:buNone/>
                        <a:tabLst/>
                        <a:defRPr/>
                      </a:pPr>
                      <a:r>
                        <a:rPr lang="fr-BF" sz="1800" kern="1200" dirty="0">
                          <a:solidFill>
                            <a:schemeClr val="dk1"/>
                          </a:solidFill>
                          <a:effectLst/>
                          <a:latin typeface="+mn-lt"/>
                          <a:ea typeface="+mn-ea"/>
                          <a:cs typeface="+mn-cs"/>
                        </a:rPr>
                        <a:t>200 transactions de vérification de documents en 50 s, avec un temps de recherche de document estimé à 3 s.</a:t>
                      </a:r>
                      <a:r>
                        <a:rPr lang="fr-BF" dirty="0">
                          <a:effectLst/>
                        </a:rPr>
                        <a:t> </a:t>
                      </a:r>
                      <a:endParaRPr lang="fr-FR"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3715094365"/>
                  </a:ext>
                </a:extLst>
              </a:tr>
            </a:tbl>
          </a:graphicData>
        </a:graphic>
      </p:graphicFrame>
    </p:spTree>
    <p:extLst>
      <p:ext uri="{BB962C8B-B14F-4D97-AF65-F5344CB8AC3E}">
        <p14:creationId xmlns:p14="http://schemas.microsoft.com/office/powerpoint/2010/main" val="120771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dissolve">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3DF97-F6D7-BBCA-4665-477F398355C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2E34DD0-CC6E-7F99-A07C-F791CD904ADC}"/>
              </a:ext>
            </a:extLst>
          </p:cNvPr>
          <p:cNvSpPr>
            <a:spLocks noGrp="1"/>
          </p:cNvSpPr>
          <p:nvPr>
            <p:ph type="title"/>
          </p:nvPr>
        </p:nvSpPr>
        <p:spPr/>
        <p:txBody>
          <a:bodyPr/>
          <a:lstStyle/>
          <a:p>
            <a:r>
              <a:rPr lang="fr-BF" dirty="0"/>
              <a:t>IV.	ÉTAT DE L’art (2/3)</a:t>
            </a:r>
          </a:p>
        </p:txBody>
      </p:sp>
      <p:sp>
        <p:nvSpPr>
          <p:cNvPr id="4" name="Espace réservé du numéro de diapositive 3">
            <a:extLst>
              <a:ext uri="{FF2B5EF4-FFF2-40B4-BE49-F238E27FC236}">
                <a16:creationId xmlns:a16="http://schemas.microsoft.com/office/drawing/2014/main" id="{2A5F4E8B-94E5-328D-6BEA-638B30C22384}"/>
              </a:ext>
            </a:extLst>
          </p:cNvPr>
          <p:cNvSpPr>
            <a:spLocks noGrp="1"/>
          </p:cNvSpPr>
          <p:nvPr>
            <p:ph type="sldNum" sz="quarter" idx="12"/>
          </p:nvPr>
        </p:nvSpPr>
        <p:spPr/>
        <p:txBody>
          <a:bodyPr/>
          <a:lstStyle/>
          <a:p>
            <a:fld id="{4FAB73BC-B049-4115-A692-8D63A059BFB8}" type="slidenum">
              <a:rPr lang="en-US" smtClean="0"/>
              <a:t>9</a:t>
            </a:fld>
            <a:endParaRPr lang="en-US"/>
          </a:p>
        </p:txBody>
      </p:sp>
      <p:sp>
        <p:nvSpPr>
          <p:cNvPr id="5" name="Shape 3">
            <a:extLst>
              <a:ext uri="{FF2B5EF4-FFF2-40B4-BE49-F238E27FC236}">
                <a16:creationId xmlns:a16="http://schemas.microsoft.com/office/drawing/2014/main" id="{FE06FCC0-337F-566E-0B1B-D24A4B2946F5}"/>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graphicFrame>
        <p:nvGraphicFramePr>
          <p:cNvPr id="6" name="Tableau 5">
            <a:extLst>
              <a:ext uri="{FF2B5EF4-FFF2-40B4-BE49-F238E27FC236}">
                <a16:creationId xmlns:a16="http://schemas.microsoft.com/office/drawing/2014/main" id="{99CBC850-6000-4809-E362-39F4FB0D7EB2}"/>
              </a:ext>
            </a:extLst>
          </p:cNvPr>
          <p:cNvGraphicFramePr>
            <a:graphicFrameLocks noGrp="1"/>
          </p:cNvGraphicFramePr>
          <p:nvPr>
            <p:extLst>
              <p:ext uri="{D42A27DB-BD31-4B8C-83A1-F6EECF244321}">
                <p14:modId xmlns:p14="http://schemas.microsoft.com/office/powerpoint/2010/main" val="2431127071"/>
              </p:ext>
            </p:extLst>
          </p:nvPr>
        </p:nvGraphicFramePr>
        <p:xfrm>
          <a:off x="39328" y="1898710"/>
          <a:ext cx="11911881" cy="3754120"/>
        </p:xfrm>
        <a:graphic>
          <a:graphicData uri="http://schemas.openxmlformats.org/drawingml/2006/table">
            <a:tbl>
              <a:tblPr firstRow="1" bandRow="1">
                <a:tableStyleId>{5C22544A-7EE6-4342-B048-85BDC9FD1C3A}</a:tableStyleId>
              </a:tblPr>
              <a:tblGrid>
                <a:gridCol w="3970627">
                  <a:extLst>
                    <a:ext uri="{9D8B030D-6E8A-4147-A177-3AD203B41FA5}">
                      <a16:colId xmlns:a16="http://schemas.microsoft.com/office/drawing/2014/main" val="2952128678"/>
                    </a:ext>
                  </a:extLst>
                </a:gridCol>
                <a:gridCol w="3970627">
                  <a:extLst>
                    <a:ext uri="{9D8B030D-6E8A-4147-A177-3AD203B41FA5}">
                      <a16:colId xmlns:a16="http://schemas.microsoft.com/office/drawing/2014/main" val="3166433862"/>
                    </a:ext>
                  </a:extLst>
                </a:gridCol>
                <a:gridCol w="3970627">
                  <a:extLst>
                    <a:ext uri="{9D8B030D-6E8A-4147-A177-3AD203B41FA5}">
                      <a16:colId xmlns:a16="http://schemas.microsoft.com/office/drawing/2014/main" val="401047387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I. </a:t>
                      </a:r>
                      <a:r>
                        <a:rPr lang="fr-FR" sz="1800" b="1" kern="1200" dirty="0" err="1">
                          <a:solidFill>
                            <a:schemeClr val="lt1"/>
                          </a:solidFill>
                          <a:effectLst/>
                          <a:latin typeface="+mn-lt"/>
                          <a:ea typeface="+mn-ea"/>
                          <a:cs typeface="+mn-cs"/>
                        </a:rPr>
                        <a:t>Meirobie</a:t>
                      </a:r>
                      <a:r>
                        <a:rPr lang="fr-FR" sz="1800" b="1" kern="1200" dirty="0">
                          <a:solidFill>
                            <a:schemeClr val="lt1"/>
                          </a:solidFill>
                          <a:effectLst/>
                          <a:latin typeface="+mn-lt"/>
                          <a:ea typeface="+mn-ea"/>
                          <a:cs typeface="+mn-cs"/>
                        </a:rPr>
                        <a:t> </a:t>
                      </a:r>
                      <a:r>
                        <a:rPr lang="fr-BF" sz="1800" b="1" kern="1200" dirty="0">
                          <a:solidFill>
                            <a:schemeClr val="lt1"/>
                          </a:solidFill>
                          <a:effectLst/>
                          <a:latin typeface="+mn-lt"/>
                          <a:ea typeface="+mn-ea"/>
                          <a:cs typeface="+mn-cs"/>
                        </a:rPr>
                        <a:t>et al. (2022) </a:t>
                      </a:r>
                      <a:r>
                        <a:rPr lang="fr-FR" dirty="0"/>
                        <a:t>[11]</a:t>
                      </a:r>
                      <a:endParaRPr lang="fr-FR" sz="1800" b="1" kern="1200" dirty="0">
                        <a:solidFill>
                          <a:schemeClr val="lt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F. Azzam et al</a:t>
                      </a:r>
                      <a:r>
                        <a:rPr lang="fr-BF" sz="1800" b="1" kern="1200" dirty="0">
                          <a:solidFill>
                            <a:schemeClr val="lt1"/>
                          </a:solidFill>
                          <a:effectLst/>
                          <a:latin typeface="+mn-lt"/>
                          <a:ea typeface="+mn-ea"/>
                          <a:cs typeface="+mn-cs"/>
                        </a:rPr>
                        <a:t>. (2023) </a:t>
                      </a:r>
                      <a:r>
                        <a:rPr lang="fr-FR" dirty="0"/>
                        <a:t>[9]</a:t>
                      </a:r>
                      <a:endParaRPr lang="fr-FR" sz="1800" b="1" kern="1200" dirty="0">
                        <a:solidFill>
                          <a:schemeClr val="lt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P. Mishra et al</a:t>
                      </a:r>
                      <a:r>
                        <a:rPr lang="fr-BF" sz="1800" b="1" kern="1200" dirty="0">
                          <a:solidFill>
                            <a:schemeClr val="lt1"/>
                          </a:solidFill>
                          <a:effectLst/>
                          <a:latin typeface="+mn-lt"/>
                          <a:ea typeface="+mn-ea"/>
                          <a:cs typeface="+mn-cs"/>
                        </a:rPr>
                        <a:t>. (2025) </a:t>
                      </a:r>
                      <a:r>
                        <a:rPr lang="fr-FR" dirty="0"/>
                        <a:t>[12]</a:t>
                      </a:r>
                      <a:endParaRPr lang="fr-FR" sz="1800" b="1" kern="1200" dirty="0">
                        <a:solidFill>
                          <a:schemeClr val="lt1"/>
                        </a:solidFill>
                        <a:effectLst/>
                        <a:latin typeface="+mn-lt"/>
                        <a:ea typeface="+mn-ea"/>
                        <a:cs typeface="+mn-cs"/>
                      </a:endParaRPr>
                    </a:p>
                  </a:txBody>
                  <a:tcPr/>
                </a:tc>
                <a:extLst>
                  <a:ext uri="{0D108BD9-81ED-4DB2-BD59-A6C34878D82A}">
                    <a16:rowId xmlns:a16="http://schemas.microsoft.com/office/drawing/2014/main" val="1307363981"/>
                  </a:ext>
                </a:extLst>
              </a:tr>
              <a:tr h="370840">
                <a:tc>
                  <a:txBody>
                    <a:bodyPr/>
                    <a:lstStyle/>
                    <a:p>
                      <a:pPr algn="just"/>
                      <a:r>
                        <a:rPr lang="fr-FR" sz="1800" kern="1200" dirty="0">
                          <a:solidFill>
                            <a:schemeClr val="dk1"/>
                          </a:solidFill>
                          <a:effectLst/>
                          <a:latin typeface="+mn-lt"/>
                          <a:ea typeface="+mn-ea"/>
                          <a:cs typeface="+mn-cs"/>
                        </a:rPr>
                        <a:t>Proposition de Framework pour l’authentification de documents électroniques via la technologie Blockchain au profit du gouvernement Indonésien.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latin typeface="+mn-lt"/>
                          <a:ea typeface="+mn-ea"/>
                          <a:cs typeface="+mn-cs"/>
                        </a:rPr>
                        <a:t>Proposition du model </a:t>
                      </a:r>
                      <a:r>
                        <a:rPr lang="fr-FR" sz="1800" kern="1200" dirty="0" err="1">
                          <a:solidFill>
                            <a:schemeClr val="dk1"/>
                          </a:solidFill>
                          <a:effectLst/>
                          <a:latin typeface="+mn-lt"/>
                          <a:ea typeface="+mn-ea"/>
                          <a:cs typeface="+mn-cs"/>
                        </a:rPr>
                        <a:t>SECHash</a:t>
                      </a:r>
                      <a:r>
                        <a:rPr lang="fr-BF" sz="1800" kern="1200" dirty="0">
                          <a:solidFill>
                            <a:schemeClr val="dk1"/>
                          </a:solidFill>
                          <a:effectLst/>
                          <a:latin typeface="+mn-lt"/>
                          <a:ea typeface="+mn-ea"/>
                          <a:cs typeface="+mn-cs"/>
                        </a:rPr>
                        <a:t> pour </a:t>
                      </a:r>
                      <a:r>
                        <a:rPr lang="fr-FR" sz="1800" kern="1200" dirty="0">
                          <a:solidFill>
                            <a:schemeClr val="dk1"/>
                          </a:solidFill>
                          <a:effectLst/>
                          <a:latin typeface="+mn-lt"/>
                          <a:ea typeface="+mn-ea"/>
                          <a:cs typeface="+mn-cs"/>
                        </a:rPr>
                        <a:t>préserver l'intégrité et l'exactitude des données des factures reçues en interdisant toute modification après leur acceptation par les administrations publiques. Il garantit également que les factures acceptées ne soient ni détruites ni perdues.</a:t>
                      </a:r>
                    </a:p>
                    <a:p>
                      <a:pPr algn="just"/>
                      <a:endParaRPr lang="fr-FR" sz="1800" kern="1200" dirty="0">
                        <a:solidFill>
                          <a:schemeClr val="dk1"/>
                        </a:solidFill>
                        <a:effectLst/>
                        <a:latin typeface="+mn-lt"/>
                        <a:ea typeface="+mn-ea"/>
                        <a:cs typeface="+mn-cs"/>
                      </a:endParaRPr>
                    </a:p>
                  </a:txBody>
                  <a:tcPr/>
                </a:tc>
                <a:tc>
                  <a:txBody>
                    <a:bodyPr/>
                    <a:lstStyle/>
                    <a:p>
                      <a:pPr algn="just"/>
                      <a:r>
                        <a:rPr lang="fr-BF" dirty="0"/>
                        <a:t>Proposition de F</a:t>
                      </a:r>
                      <a:r>
                        <a:rPr lang="fr-FR" sz="1800" kern="1200" dirty="0" err="1">
                          <a:solidFill>
                            <a:schemeClr val="dk1"/>
                          </a:solidFill>
                          <a:effectLst/>
                          <a:latin typeface="+mn-lt"/>
                          <a:ea typeface="+mn-ea"/>
                          <a:cs typeface="+mn-cs"/>
                        </a:rPr>
                        <a:t>ramework</a:t>
                      </a:r>
                      <a:r>
                        <a:rPr lang="fr-FR" sz="1800" kern="1200" dirty="0">
                          <a:solidFill>
                            <a:schemeClr val="dk1"/>
                          </a:solidFill>
                          <a:effectLst/>
                          <a:latin typeface="+mn-lt"/>
                          <a:ea typeface="+mn-ea"/>
                          <a:cs typeface="+mn-cs"/>
                        </a:rPr>
                        <a:t> pour un partage sécurisé de de document PDF dans </a:t>
                      </a:r>
                      <a:r>
                        <a:rPr lang="fr-BF" sz="1800" kern="1200" dirty="0">
                          <a:solidFill>
                            <a:schemeClr val="dk1"/>
                          </a:solidFill>
                          <a:effectLst/>
                          <a:latin typeface="+mn-lt"/>
                          <a:ea typeface="+mn-ea"/>
                          <a:cs typeface="+mn-cs"/>
                        </a:rPr>
                        <a:t>l'administration publique moderne</a:t>
                      </a:r>
                      <a:r>
                        <a:rPr lang="fr-FR" sz="1800" kern="1200" dirty="0">
                          <a:solidFill>
                            <a:schemeClr val="dk1"/>
                          </a:solidFill>
                          <a:effectLst/>
                          <a:latin typeface="+mn-lt"/>
                          <a:ea typeface="+mn-ea"/>
                          <a:cs typeface="+mn-cs"/>
                        </a:rPr>
                        <a:t>.</a:t>
                      </a:r>
                    </a:p>
                    <a:p>
                      <a:r>
                        <a:rPr lang="fr-FR" sz="1800" kern="1200" dirty="0">
                          <a:solidFill>
                            <a:schemeClr val="dk1"/>
                          </a:solidFill>
                          <a:effectLst/>
                          <a:latin typeface="+mn-lt"/>
                          <a:ea typeface="+mn-ea"/>
                          <a:cs typeface="+mn-cs"/>
                        </a:rPr>
                        <a:t>Sur 1000 PDF, le Framework résiste aux attaques MITM et détecte 93,1 % des attaques de type « </a:t>
                      </a:r>
                      <a:r>
                        <a:rPr lang="fr-FR" sz="1800" kern="1200" dirty="0" err="1">
                          <a:solidFill>
                            <a:schemeClr val="dk1"/>
                          </a:solidFill>
                          <a:effectLst/>
                          <a:latin typeface="+mn-lt"/>
                          <a:ea typeface="+mn-ea"/>
                          <a:cs typeface="+mn-cs"/>
                        </a:rPr>
                        <a:t>shadow</a:t>
                      </a:r>
                      <a:r>
                        <a:rPr lang="fr-FR" sz="1800" kern="1200" dirty="0">
                          <a:solidFill>
                            <a:schemeClr val="dk1"/>
                          </a:solidFill>
                          <a:effectLst/>
                          <a:latin typeface="+mn-lt"/>
                          <a:ea typeface="+mn-ea"/>
                          <a:cs typeface="+mn-cs"/>
                        </a:rPr>
                        <a:t> » avec une précision de 98,4% et seulement 1,6% de faux positifs, contrairement aux méthodes PKI traditionnelles, qui n'ont détecté aucune contrefaçon.</a:t>
                      </a:r>
                    </a:p>
                  </a:txBody>
                  <a:tcPr/>
                </a:tc>
                <a:extLst>
                  <a:ext uri="{0D108BD9-81ED-4DB2-BD59-A6C34878D82A}">
                    <a16:rowId xmlns:a16="http://schemas.microsoft.com/office/drawing/2014/main" val="3715094365"/>
                  </a:ext>
                </a:extLst>
              </a:tr>
            </a:tbl>
          </a:graphicData>
        </a:graphic>
      </p:graphicFrame>
    </p:spTree>
    <p:extLst>
      <p:ext uri="{BB962C8B-B14F-4D97-AF65-F5344CB8AC3E}">
        <p14:creationId xmlns:p14="http://schemas.microsoft.com/office/powerpoint/2010/main" val="2953916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5AED-0E5F-8C96-A90B-A016962CE66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3972CE2-93CB-52B8-8BB8-B26171C5EBF0}"/>
              </a:ext>
            </a:extLst>
          </p:cNvPr>
          <p:cNvSpPr>
            <a:spLocks noGrp="1"/>
          </p:cNvSpPr>
          <p:nvPr>
            <p:ph type="title"/>
          </p:nvPr>
        </p:nvSpPr>
        <p:spPr/>
        <p:txBody>
          <a:bodyPr/>
          <a:lstStyle/>
          <a:p>
            <a:r>
              <a:rPr lang="fr-BF" dirty="0"/>
              <a:t>IV.	ÉTAT DE L’art (3/3)</a:t>
            </a:r>
          </a:p>
        </p:txBody>
      </p:sp>
      <p:sp>
        <p:nvSpPr>
          <p:cNvPr id="4" name="Espace réservé du numéro de diapositive 3">
            <a:extLst>
              <a:ext uri="{FF2B5EF4-FFF2-40B4-BE49-F238E27FC236}">
                <a16:creationId xmlns:a16="http://schemas.microsoft.com/office/drawing/2014/main" id="{CAF851C7-B9AD-0F7D-4E3E-8010EA93F643}"/>
              </a:ext>
            </a:extLst>
          </p:cNvPr>
          <p:cNvSpPr>
            <a:spLocks noGrp="1"/>
          </p:cNvSpPr>
          <p:nvPr>
            <p:ph type="sldNum" sz="quarter" idx="12"/>
          </p:nvPr>
        </p:nvSpPr>
        <p:spPr/>
        <p:txBody>
          <a:bodyPr/>
          <a:lstStyle/>
          <a:p>
            <a:fld id="{4FAB73BC-B049-4115-A692-8D63A059BFB8}" type="slidenum">
              <a:rPr lang="en-US" smtClean="0"/>
              <a:t>10</a:t>
            </a:fld>
            <a:endParaRPr lang="en-US"/>
          </a:p>
        </p:txBody>
      </p:sp>
      <p:sp>
        <p:nvSpPr>
          <p:cNvPr id="5" name="Shape 3">
            <a:extLst>
              <a:ext uri="{FF2B5EF4-FFF2-40B4-BE49-F238E27FC236}">
                <a16:creationId xmlns:a16="http://schemas.microsoft.com/office/drawing/2014/main" id="{0B98E3C0-1302-D685-9856-971FE29762E9}"/>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graphicFrame>
        <p:nvGraphicFramePr>
          <p:cNvPr id="3" name="Tableau 2">
            <a:extLst>
              <a:ext uri="{FF2B5EF4-FFF2-40B4-BE49-F238E27FC236}">
                <a16:creationId xmlns:a16="http://schemas.microsoft.com/office/drawing/2014/main" id="{979A3B89-7C3E-8510-74A1-77953B261790}"/>
              </a:ext>
            </a:extLst>
          </p:cNvPr>
          <p:cNvGraphicFramePr>
            <a:graphicFrameLocks noGrp="1"/>
          </p:cNvGraphicFramePr>
          <p:nvPr>
            <p:extLst>
              <p:ext uri="{D42A27DB-BD31-4B8C-83A1-F6EECF244321}">
                <p14:modId xmlns:p14="http://schemas.microsoft.com/office/powerpoint/2010/main" val="423260981"/>
              </p:ext>
            </p:extLst>
          </p:nvPr>
        </p:nvGraphicFramePr>
        <p:xfrm>
          <a:off x="39328" y="1584075"/>
          <a:ext cx="12123174" cy="5255451"/>
        </p:xfrm>
        <a:graphic>
          <a:graphicData uri="http://schemas.openxmlformats.org/drawingml/2006/table">
            <a:tbl>
              <a:tblPr firstRow="1" bandRow="1">
                <a:tableStyleId>{5C22544A-7EE6-4342-B048-85BDC9FD1C3A}</a:tableStyleId>
              </a:tblPr>
              <a:tblGrid>
                <a:gridCol w="1524001">
                  <a:extLst>
                    <a:ext uri="{9D8B030D-6E8A-4147-A177-3AD203B41FA5}">
                      <a16:colId xmlns:a16="http://schemas.microsoft.com/office/drawing/2014/main" val="2341748761"/>
                    </a:ext>
                  </a:extLst>
                </a:gridCol>
                <a:gridCol w="6479458">
                  <a:extLst>
                    <a:ext uri="{9D8B030D-6E8A-4147-A177-3AD203B41FA5}">
                      <a16:colId xmlns:a16="http://schemas.microsoft.com/office/drawing/2014/main" val="2952128678"/>
                    </a:ext>
                  </a:extLst>
                </a:gridCol>
                <a:gridCol w="4119715">
                  <a:extLst>
                    <a:ext uri="{9D8B030D-6E8A-4147-A177-3AD203B41FA5}">
                      <a16:colId xmlns:a16="http://schemas.microsoft.com/office/drawing/2014/main" val="4010473877"/>
                    </a:ext>
                  </a:extLst>
                </a:gridCol>
              </a:tblGrid>
              <a:tr h="3839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Auteurs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Méthode / Moyens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Limites</a:t>
                      </a:r>
                    </a:p>
                  </a:txBody>
                  <a:tcPr/>
                </a:tc>
                <a:extLst>
                  <a:ext uri="{0D108BD9-81ED-4DB2-BD59-A6C34878D82A}">
                    <a16:rowId xmlns:a16="http://schemas.microsoft.com/office/drawing/2014/main" val="1307363981"/>
                  </a:ext>
                </a:extLst>
              </a:tr>
              <a:tr h="1230824">
                <a:tc>
                  <a:txBody>
                    <a:bodyPr/>
                    <a:lstStyle/>
                    <a:p>
                      <a:pPr algn="just"/>
                      <a:r>
                        <a:rPr lang="fr-FR" sz="1800" kern="1200" dirty="0">
                          <a:solidFill>
                            <a:schemeClr val="dk1"/>
                          </a:solidFill>
                          <a:effectLst/>
                          <a:latin typeface="+mn-lt"/>
                          <a:ea typeface="+mn-ea"/>
                          <a:cs typeface="+mn-cs"/>
                        </a:rPr>
                        <a:t>﻿Omar et al.[7]</a:t>
                      </a:r>
                    </a:p>
                  </a:txBody>
                  <a:tcPr/>
                </a:tc>
                <a:tc>
                  <a:txBody>
                    <a:bodyPr/>
                    <a:lstStyle/>
                    <a:p>
                      <a:pPr algn="just"/>
                      <a:r>
                        <a:rPr lang="fr-FR" sz="1800" kern="1200" dirty="0" err="1">
                          <a:solidFill>
                            <a:schemeClr val="dk1"/>
                          </a:solidFill>
                          <a:effectLst/>
                          <a:latin typeface="+mn-lt"/>
                          <a:ea typeface="+mn-ea"/>
                          <a:cs typeface="+mn-cs"/>
                        </a:rPr>
                        <a:t>É</a:t>
                      </a:r>
                      <a:r>
                        <a:rPr lang="fr-BF" sz="1800" kern="1200" dirty="0">
                          <a:solidFill>
                            <a:schemeClr val="dk1"/>
                          </a:solidFill>
                          <a:effectLst/>
                          <a:latin typeface="+mn-lt"/>
                          <a:ea typeface="+mn-ea"/>
                          <a:cs typeface="+mn-cs"/>
                        </a:rPr>
                        <a:t>tude de notions (authentification, autorisation, confidentialité, vie privée et propriété) et de zones documentaires potentiellement falsifiables. </a:t>
                      </a:r>
                      <a:r>
                        <a:rPr lang="fr-FR" sz="1800" kern="1200" dirty="0" err="1">
                          <a:solidFill>
                            <a:schemeClr val="dk1"/>
                          </a:solidFill>
                          <a:effectLst/>
                          <a:latin typeface="+mn-lt"/>
                          <a:ea typeface="+mn-ea"/>
                          <a:cs typeface="+mn-cs"/>
                        </a:rPr>
                        <a:t>Hyperledger</a:t>
                      </a:r>
                      <a:r>
                        <a:rPr lang="fr-FR" sz="1800" kern="1200" dirty="0">
                          <a:solidFill>
                            <a:schemeClr val="dk1"/>
                          </a:solidFill>
                          <a:effectLst/>
                          <a:latin typeface="+mn-lt"/>
                          <a:ea typeface="+mn-ea"/>
                          <a:cs typeface="+mn-cs"/>
                        </a:rPr>
                        <a:t> </a:t>
                      </a:r>
                      <a:r>
                        <a:rPr lang="fr-FR" sz="1800" kern="1200" dirty="0" err="1">
                          <a:solidFill>
                            <a:schemeClr val="dk1"/>
                          </a:solidFill>
                          <a:effectLst/>
                          <a:latin typeface="+mn-lt"/>
                          <a:ea typeface="+mn-ea"/>
                          <a:cs typeface="+mn-cs"/>
                        </a:rPr>
                        <a:t>Fabric</a:t>
                      </a:r>
                      <a:endParaRPr lang="fr-FR" sz="1800" kern="1200" dirty="0">
                        <a:solidFill>
                          <a:schemeClr val="dk1"/>
                        </a:solidFill>
                        <a:effectLst/>
                        <a:latin typeface="+mn-lt"/>
                        <a:ea typeface="+mn-ea"/>
                        <a:cs typeface="+mn-cs"/>
                      </a:endParaRPr>
                    </a:p>
                  </a:txBody>
                  <a:tcPr/>
                </a:tc>
                <a:tc>
                  <a:txBody>
                    <a:bodyPr/>
                    <a:lstStyle/>
                    <a:p>
                      <a:r>
                        <a:rPr lang="fr-BF" sz="1800" kern="1200" dirty="0">
                          <a:solidFill>
                            <a:schemeClr val="dk1"/>
                          </a:solidFill>
                          <a:effectLst/>
                          <a:latin typeface="+mn-lt"/>
                          <a:ea typeface="+mn-ea"/>
                          <a:cs typeface="+mn-cs"/>
                        </a:rPr>
                        <a:t>Uniquement appliquée aux diplômes académiques</a:t>
                      </a:r>
                      <a:r>
                        <a:rPr lang="fr-BF" dirty="0">
                          <a:effectLst/>
                        </a:rPr>
                        <a:t> </a:t>
                      </a:r>
                      <a:endParaRPr lang="fr-FR" sz="1800" kern="1200" dirty="0">
                        <a:solidFill>
                          <a:schemeClr val="dk1"/>
                        </a:solidFill>
                        <a:effectLst/>
                        <a:latin typeface="+mn-lt"/>
                        <a:ea typeface="+mn-ea"/>
                        <a:cs typeface="+mn-cs"/>
                      </a:endParaRPr>
                    </a:p>
                  </a:txBody>
                  <a:tcPr/>
                </a:tc>
                <a:extLst>
                  <a:ext uri="{0D108BD9-81ED-4DB2-BD59-A6C34878D82A}">
                    <a16:rowId xmlns:a16="http://schemas.microsoft.com/office/drawing/2014/main" val="3715094365"/>
                  </a:ext>
                </a:extLst>
              </a:tr>
              <a:tr h="946788">
                <a:tc>
                  <a:txBody>
                    <a:bodyPr/>
                    <a:lstStyle/>
                    <a:p>
                      <a:pPr algn="just"/>
                      <a:r>
                        <a:rPr lang="fr-FR" sz="1800" kern="1200" dirty="0">
                          <a:solidFill>
                            <a:schemeClr val="dk1"/>
                          </a:solidFill>
                          <a:effectLst/>
                          <a:latin typeface="+mn-lt"/>
                          <a:ea typeface="+mn-ea"/>
                          <a:cs typeface="+mn-cs"/>
                        </a:rPr>
                        <a:t>R. F. </a:t>
                      </a:r>
                      <a:r>
                        <a:rPr lang="fr-FR" sz="1800" kern="1200" dirty="0" err="1">
                          <a:solidFill>
                            <a:schemeClr val="dk1"/>
                          </a:solidFill>
                          <a:effectLst/>
                          <a:latin typeface="+mn-lt"/>
                          <a:ea typeface="+mn-ea"/>
                          <a:cs typeface="+mn-cs"/>
                        </a:rPr>
                        <a:t>Ghani</a:t>
                      </a:r>
                      <a:r>
                        <a:rPr lang="fr-FR" sz="1800" kern="1200" dirty="0">
                          <a:solidFill>
                            <a:schemeClr val="dk1"/>
                          </a:solidFill>
                          <a:effectLst/>
                          <a:latin typeface="+mn-lt"/>
                          <a:ea typeface="+mn-ea"/>
                          <a:cs typeface="+mn-cs"/>
                        </a:rPr>
                        <a:t> et al. [10]</a:t>
                      </a:r>
                    </a:p>
                  </a:txBody>
                  <a:tcPr/>
                </a:tc>
                <a:tc>
                  <a:txBody>
                    <a:bodyPr/>
                    <a:lstStyle/>
                    <a:p>
                      <a:pPr algn="just"/>
                      <a:r>
                        <a:rPr lang="fr-FR" sz="1800" kern="1200" dirty="0">
                          <a:solidFill>
                            <a:schemeClr val="dk1"/>
                          </a:solidFill>
                          <a:effectLst/>
                          <a:latin typeface="+mn-lt"/>
                          <a:ea typeface="+mn-ea"/>
                          <a:cs typeface="+mn-cs"/>
                        </a:rPr>
                        <a:t>Étude des processus d’émission, partage, vérification, archivage de lettres officielles. </a:t>
                      </a:r>
                      <a:r>
                        <a:rPr lang="fr-FR" sz="1800" kern="1200" dirty="0" err="1">
                          <a:solidFill>
                            <a:schemeClr val="dk1"/>
                          </a:solidFill>
                          <a:effectLst/>
                          <a:latin typeface="+mn-lt"/>
                          <a:ea typeface="+mn-ea"/>
                          <a:cs typeface="+mn-cs"/>
                        </a:rPr>
                        <a:t>JavaTCP</a:t>
                      </a:r>
                      <a:r>
                        <a:rPr lang="fr-FR" sz="1800" kern="1200" dirty="0">
                          <a:solidFill>
                            <a:schemeClr val="dk1"/>
                          </a:solidFill>
                          <a:effectLst/>
                          <a:latin typeface="+mn-lt"/>
                          <a:ea typeface="+mn-ea"/>
                          <a:cs typeface="+mn-cs"/>
                        </a:rPr>
                        <a:t> socket + Blockchain</a:t>
                      </a:r>
                    </a:p>
                  </a:txBody>
                  <a:tcPr/>
                </a:tc>
                <a:tc>
                  <a:txBody>
                    <a:bodyPr/>
                    <a:lstStyle/>
                    <a:p>
                      <a:r>
                        <a:rPr lang="fr-FR" sz="1800" kern="1200" dirty="0">
                          <a:solidFill>
                            <a:schemeClr val="dk1"/>
                          </a:solidFill>
                          <a:effectLst/>
                          <a:latin typeface="+mn-lt"/>
                          <a:ea typeface="+mn-ea"/>
                          <a:cs typeface="+mn-cs"/>
                        </a:rPr>
                        <a:t>Absence de test réel, problème </a:t>
                      </a:r>
                      <a:r>
                        <a:rPr lang="fr-BF" sz="1800" kern="1200" dirty="0">
                          <a:solidFill>
                            <a:schemeClr val="dk1"/>
                          </a:solidFill>
                          <a:effectLst/>
                          <a:latin typeface="+mn-lt"/>
                          <a:ea typeface="+mn-ea"/>
                          <a:cs typeface="+mn-cs"/>
                        </a:rPr>
                        <a:t>d'évolutivité et d'interopérabilité</a:t>
                      </a:r>
                      <a:r>
                        <a:rPr lang="fr-BF" dirty="0">
                          <a:effectLst/>
                        </a:rPr>
                        <a:t> </a:t>
                      </a:r>
                      <a:endParaRPr lang="fr-FR" sz="1800" kern="1200" dirty="0">
                        <a:solidFill>
                          <a:schemeClr val="dk1"/>
                        </a:solidFill>
                        <a:effectLst/>
                        <a:latin typeface="+mn-lt"/>
                        <a:ea typeface="+mn-ea"/>
                        <a:cs typeface="+mn-cs"/>
                      </a:endParaRPr>
                    </a:p>
                  </a:txBody>
                  <a:tcPr/>
                </a:tc>
                <a:extLst>
                  <a:ext uri="{0D108BD9-81ED-4DB2-BD59-A6C34878D82A}">
                    <a16:rowId xmlns:a16="http://schemas.microsoft.com/office/drawing/2014/main" val="1816450278"/>
                  </a:ext>
                </a:extLst>
              </a:tr>
              <a:tr h="946788">
                <a:tc>
                  <a:txBody>
                    <a:bodyPr/>
                    <a:lstStyle/>
                    <a:p>
                      <a:pPr algn="just"/>
                      <a:r>
                        <a:rPr lang="fr-FR" sz="1800" kern="1200" dirty="0">
                          <a:solidFill>
                            <a:schemeClr val="dk1"/>
                          </a:solidFill>
                          <a:effectLst/>
                          <a:latin typeface="+mn-lt"/>
                          <a:ea typeface="+mn-ea"/>
                          <a:cs typeface="+mn-cs"/>
                        </a:rPr>
                        <a:t>-</a:t>
                      </a:r>
                      <a:r>
                        <a:rPr lang="fr-FR" sz="1800" kern="1200" dirty="0" err="1">
                          <a:solidFill>
                            <a:schemeClr val="dk1"/>
                          </a:solidFill>
                          <a:effectLst/>
                          <a:latin typeface="+mn-lt"/>
                          <a:ea typeface="+mn-ea"/>
                          <a:cs typeface="+mn-cs"/>
                        </a:rPr>
                        <a:t>Meirobie</a:t>
                      </a:r>
                      <a:r>
                        <a:rPr lang="fr-FR" sz="1800" kern="1200" dirty="0">
                          <a:solidFill>
                            <a:schemeClr val="dk1"/>
                          </a:solidFill>
                          <a:effectLst/>
                          <a:latin typeface="+mn-lt"/>
                          <a:ea typeface="+mn-ea"/>
                          <a:cs typeface="+mn-cs"/>
                        </a:rPr>
                        <a:t> et al. [11]</a:t>
                      </a:r>
                    </a:p>
                    <a:p>
                      <a:pPr algn="just"/>
                      <a:r>
                        <a:rPr lang="fr-FR" sz="1800" kern="1200" dirty="0">
                          <a:solidFill>
                            <a:schemeClr val="dk1"/>
                          </a:solidFill>
                          <a:effectLst/>
                          <a:latin typeface="+mn-lt"/>
                          <a:ea typeface="+mn-ea"/>
                          <a:cs typeface="+mn-cs"/>
                        </a:rPr>
                        <a:t>-Mishra et al.[12]</a:t>
                      </a:r>
                    </a:p>
                    <a:p>
                      <a:pPr algn="just"/>
                      <a:endParaRPr lang="fr-FR" sz="1800" kern="1200" dirty="0">
                        <a:solidFill>
                          <a:schemeClr val="dk1"/>
                        </a:solidFill>
                        <a:effectLst/>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latin typeface="+mn-lt"/>
                          <a:ea typeface="+mn-ea"/>
                          <a:cs typeface="+mn-cs"/>
                        </a:rPr>
                        <a:t>- </a:t>
                      </a:r>
                      <a:r>
                        <a:rPr lang="fr-FR" sz="1800" kern="1200" dirty="0" err="1">
                          <a:solidFill>
                            <a:schemeClr val="dk1"/>
                          </a:solidFill>
                          <a:effectLst/>
                          <a:latin typeface="+mn-lt"/>
                          <a:ea typeface="+mn-ea"/>
                          <a:cs typeface="+mn-cs"/>
                        </a:rPr>
                        <a:t>PoA</a:t>
                      </a:r>
                      <a:r>
                        <a:rPr lang="fr-FR" sz="1800" kern="1200" dirty="0">
                          <a:solidFill>
                            <a:schemeClr val="dk1"/>
                          </a:solidFill>
                          <a:effectLst/>
                          <a:latin typeface="+mn-lt"/>
                          <a:ea typeface="+mn-ea"/>
                          <a:cs typeface="+mn-cs"/>
                        </a:rPr>
                        <a:t>, SHA-256 et signature (P-256) des transcriptions documentaires.</a:t>
                      </a: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latin typeface="+mn-lt"/>
                          <a:ea typeface="+mn-ea"/>
                          <a:cs typeface="+mn-cs"/>
                        </a:rPr>
                        <a:t>- Ethereum-</a:t>
                      </a:r>
                      <a:r>
                        <a:rPr lang="fr-FR" sz="1800" kern="1200" dirty="0" err="1">
                          <a:solidFill>
                            <a:schemeClr val="dk1"/>
                          </a:solidFill>
                          <a:effectLst/>
                          <a:latin typeface="+mn-lt"/>
                          <a:ea typeface="+mn-ea"/>
                          <a:cs typeface="+mn-cs"/>
                        </a:rPr>
                        <a:t>based</a:t>
                      </a:r>
                      <a:r>
                        <a:rPr lang="fr-FR" sz="1800" kern="1200" dirty="0">
                          <a:solidFill>
                            <a:schemeClr val="dk1"/>
                          </a:solidFill>
                          <a:effectLst/>
                          <a:latin typeface="+mn-lt"/>
                          <a:ea typeface="+mn-ea"/>
                          <a:cs typeface="+mn-cs"/>
                        </a:rPr>
                        <a:t> + </a:t>
                      </a:r>
                      <a:r>
                        <a:rPr lang="fr-FR" sz="1800" kern="1200" dirty="0" err="1">
                          <a:solidFill>
                            <a:schemeClr val="dk1"/>
                          </a:solidFill>
                          <a:effectLst/>
                          <a:latin typeface="+mn-lt"/>
                          <a:ea typeface="+mn-ea"/>
                          <a:cs typeface="+mn-cs"/>
                        </a:rPr>
                        <a:t>PoA</a:t>
                      </a:r>
                      <a:r>
                        <a:rPr lang="fr-FR" sz="1800" kern="1200" dirty="0">
                          <a:solidFill>
                            <a:schemeClr val="dk1"/>
                          </a:solidFill>
                          <a:effectLst/>
                          <a:latin typeface="+mn-lt"/>
                          <a:ea typeface="+mn-ea"/>
                          <a:cs typeface="+mn-cs"/>
                        </a:rPr>
                        <a:t>, SHA-256, </a:t>
                      </a:r>
                      <a:r>
                        <a:rPr lang="fr-FR" sz="1800" kern="1200" dirty="0" err="1">
                          <a:solidFill>
                            <a:schemeClr val="dk1"/>
                          </a:solidFill>
                          <a:effectLst/>
                          <a:latin typeface="+mn-lt"/>
                          <a:ea typeface="+mn-ea"/>
                          <a:cs typeface="+mn-cs"/>
                        </a:rPr>
                        <a:t>timestamping</a:t>
                      </a:r>
                      <a:r>
                        <a:rPr lang="fr-FR" sz="1800" kern="1200" dirty="0">
                          <a:solidFill>
                            <a:schemeClr val="dk1"/>
                          </a:solidFill>
                          <a:effectLst/>
                          <a:latin typeface="+mn-lt"/>
                          <a:ea typeface="+mn-ea"/>
                          <a:cs typeface="+mn-cs"/>
                        </a:rPr>
                        <a:t> et smart </a:t>
                      </a:r>
                      <a:r>
                        <a:rPr lang="fr-FR" sz="1800" kern="1200" dirty="0" err="1">
                          <a:solidFill>
                            <a:schemeClr val="dk1"/>
                          </a:solidFill>
                          <a:effectLst/>
                          <a:latin typeface="+mn-lt"/>
                          <a:ea typeface="+mn-ea"/>
                          <a:cs typeface="+mn-cs"/>
                        </a:rPr>
                        <a:t>contracts</a:t>
                      </a:r>
                      <a:r>
                        <a:rPr lang="fr-FR" sz="1800" kern="1200" dirty="0">
                          <a:solidFill>
                            <a:schemeClr val="dk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F" sz="1800" kern="1200" dirty="0">
                          <a:solidFill>
                            <a:schemeClr val="dk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fr-BF" sz="1800" kern="1200" dirty="0">
                          <a:solidFill>
                            <a:schemeClr val="dk1"/>
                          </a:solidFill>
                          <a:effectLst/>
                          <a:latin typeface="+mn-lt"/>
                          <a:ea typeface="+mn-ea"/>
                          <a:cs typeface="+mn-cs"/>
                        </a:rPr>
                        <a:t>-Uniquement appliquée aux supoorts PDF, absence d’interopérabilité, techniques cryptographiques préservant la confidentialité</a:t>
                      </a:r>
                      <a:endParaRPr lang="fr-FR" sz="1800" kern="1200" dirty="0">
                        <a:solidFill>
                          <a:schemeClr val="dk1"/>
                        </a:solidFill>
                        <a:effectLst/>
                        <a:latin typeface="+mn-lt"/>
                        <a:ea typeface="+mn-ea"/>
                        <a:cs typeface="+mn-cs"/>
                      </a:endParaRPr>
                    </a:p>
                  </a:txBody>
                  <a:tcPr/>
                </a:tc>
                <a:extLst>
                  <a:ext uri="{0D108BD9-81ED-4DB2-BD59-A6C34878D82A}">
                    <a16:rowId xmlns:a16="http://schemas.microsoft.com/office/drawing/2014/main" val="2289979294"/>
                  </a:ext>
                </a:extLst>
              </a:tr>
              <a:tr h="1230824">
                <a:tc>
                  <a:txBody>
                    <a:bodyPr/>
                    <a:lstStyle/>
                    <a:p>
                      <a:pPr algn="just"/>
                      <a:r>
                        <a:rPr lang="fr-FR" sz="1800" kern="1200" dirty="0">
                          <a:solidFill>
                            <a:schemeClr val="dk1"/>
                          </a:solidFill>
                          <a:effectLst/>
                          <a:latin typeface="+mn-lt"/>
                          <a:ea typeface="+mn-ea"/>
                          <a:cs typeface="+mn-cs"/>
                        </a:rPr>
                        <a:t>Azzam et al.[9]</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latin typeface="+mn-lt"/>
                          <a:ea typeface="+mn-ea"/>
                          <a:cs typeface="+mn-cs"/>
                        </a:rPr>
                        <a:t>Approche : </a:t>
                      </a:r>
                      <a:r>
                        <a:rPr lang="fr-FR" sz="1800" kern="1200" dirty="0" err="1">
                          <a:solidFill>
                            <a:schemeClr val="dk1"/>
                          </a:solidFill>
                          <a:effectLst/>
                          <a:latin typeface="+mn-lt"/>
                          <a:ea typeface="+mn-ea"/>
                          <a:cs typeface="+mn-cs"/>
                        </a:rPr>
                        <a:t>scannerFactureParScanner</a:t>
                      </a:r>
                      <a:r>
                        <a:rPr lang="fr-FR" sz="1800" kern="1200" dirty="0">
                          <a:solidFill>
                            <a:schemeClr val="dk1"/>
                          </a:solidFill>
                          <a:effectLst/>
                          <a:latin typeface="+mn-lt"/>
                          <a:ea typeface="+mn-ea"/>
                          <a:cs typeface="+mn-cs"/>
                        </a:rPr>
                        <a:t>, </a:t>
                      </a:r>
                      <a:r>
                        <a:rPr lang="fr-FR" sz="1800" kern="1200" dirty="0" err="1">
                          <a:solidFill>
                            <a:schemeClr val="dk1"/>
                          </a:solidFill>
                          <a:effectLst/>
                          <a:latin typeface="+mn-lt"/>
                          <a:ea typeface="+mn-ea"/>
                          <a:cs typeface="+mn-cs"/>
                        </a:rPr>
                        <a:t>extraireDataParOCR</a:t>
                      </a:r>
                      <a:r>
                        <a:rPr lang="fr-FR" sz="1800" kern="1200" dirty="0">
                          <a:solidFill>
                            <a:schemeClr val="dk1"/>
                          </a:solidFill>
                          <a:effectLst/>
                          <a:latin typeface="+mn-lt"/>
                          <a:ea typeface="+mn-ea"/>
                          <a:cs typeface="+mn-cs"/>
                        </a:rPr>
                        <a:t>, </a:t>
                      </a:r>
                      <a:r>
                        <a:rPr lang="fr-FR" sz="1800" kern="1200" dirty="0" err="1">
                          <a:solidFill>
                            <a:schemeClr val="dk1"/>
                          </a:solidFill>
                          <a:effectLst/>
                          <a:latin typeface="+mn-lt"/>
                          <a:ea typeface="+mn-ea"/>
                          <a:cs typeface="+mn-cs"/>
                        </a:rPr>
                        <a:t>ConfirmerDataParEmployé</a:t>
                      </a:r>
                      <a:r>
                        <a:rPr lang="fr-FR" sz="1800" kern="1200" dirty="0">
                          <a:solidFill>
                            <a:schemeClr val="dk1"/>
                          </a:solidFill>
                          <a:effectLst/>
                          <a:latin typeface="+mn-lt"/>
                          <a:ea typeface="+mn-ea"/>
                          <a:cs typeface="+mn-cs"/>
                        </a:rPr>
                        <a:t>, </a:t>
                      </a:r>
                      <a:r>
                        <a:rPr lang="fr-FR" sz="1800" kern="1200" dirty="0" err="1">
                          <a:solidFill>
                            <a:schemeClr val="dk1"/>
                          </a:solidFill>
                          <a:effectLst/>
                          <a:latin typeface="+mn-lt"/>
                          <a:ea typeface="+mn-ea"/>
                          <a:cs typeface="+mn-cs"/>
                        </a:rPr>
                        <a:t>HacherDataParLBRY</a:t>
                      </a:r>
                      <a:r>
                        <a:rPr lang="fr-FR" sz="1800" kern="1200" dirty="0">
                          <a:solidFill>
                            <a:schemeClr val="dk1"/>
                          </a:solidFill>
                          <a:effectLst/>
                          <a:latin typeface="+mn-lt"/>
                          <a:ea typeface="+mn-ea"/>
                          <a:cs typeface="+mn-cs"/>
                        </a:rPr>
                        <a:t>, </a:t>
                      </a:r>
                      <a:r>
                        <a:rPr lang="fr-FR" sz="1800" kern="1200" dirty="0" err="1">
                          <a:solidFill>
                            <a:schemeClr val="dk1"/>
                          </a:solidFill>
                          <a:effectLst/>
                          <a:latin typeface="+mn-lt"/>
                          <a:ea typeface="+mn-ea"/>
                          <a:cs typeface="+mn-cs"/>
                        </a:rPr>
                        <a:t>stokerDataDansBlockchain</a:t>
                      </a:r>
                      <a:r>
                        <a:rPr lang="fr-FR" sz="1800" kern="1200" dirty="0">
                          <a:solidFill>
                            <a:schemeClr val="dk1"/>
                          </a:solidFill>
                          <a:effectLst/>
                          <a:latin typeface="+mn-lt"/>
                          <a:ea typeface="+mn-ea"/>
                          <a:cs typeface="+mn-cs"/>
                        </a:rPr>
                        <a:t>. Réseau LBRY + OCR  + PostgreSQL + Django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F" sz="1800" kern="1200" dirty="0">
                          <a:solidFill>
                            <a:schemeClr val="dk1"/>
                          </a:solidFill>
                          <a:effectLst/>
                          <a:latin typeface="+mn-lt"/>
                          <a:ea typeface="+mn-ea"/>
                          <a:cs typeface="+mn-cs"/>
                        </a:rPr>
                        <a:t>Uniquement appliquée aux factures entrantes, non expérimentation approfondie</a:t>
                      </a:r>
                      <a:r>
                        <a:rPr lang="fr-BF" dirty="0">
                          <a:effectLst/>
                        </a:rPr>
                        <a:t> </a:t>
                      </a:r>
                      <a:endParaRPr lang="fr-FR" sz="1800" kern="1200" dirty="0">
                        <a:solidFill>
                          <a:schemeClr val="dk1"/>
                        </a:solidFill>
                        <a:effectLst/>
                        <a:latin typeface="+mn-lt"/>
                        <a:ea typeface="+mn-ea"/>
                        <a:cs typeface="+mn-cs"/>
                      </a:endParaRPr>
                    </a:p>
                  </a:txBody>
                  <a:tcPr/>
                </a:tc>
                <a:extLst>
                  <a:ext uri="{0D108BD9-81ED-4DB2-BD59-A6C34878D82A}">
                    <a16:rowId xmlns:a16="http://schemas.microsoft.com/office/drawing/2014/main" val="2585798848"/>
                  </a:ext>
                </a:extLst>
              </a:tr>
            </a:tbl>
          </a:graphicData>
        </a:graphic>
      </p:graphicFrame>
    </p:spTree>
    <p:extLst>
      <p:ext uri="{BB962C8B-B14F-4D97-AF65-F5344CB8AC3E}">
        <p14:creationId xmlns:p14="http://schemas.microsoft.com/office/powerpoint/2010/main" val="329954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1297C-6B2D-590E-D671-8B25F92C5EC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79E38D8-B39D-4CD4-3CC7-B9B95BE3921F}"/>
              </a:ext>
            </a:extLst>
          </p:cNvPr>
          <p:cNvSpPr>
            <a:spLocks noGrp="1"/>
          </p:cNvSpPr>
          <p:nvPr>
            <p:ph type="title"/>
          </p:nvPr>
        </p:nvSpPr>
        <p:spPr/>
        <p:txBody>
          <a:bodyPr/>
          <a:lstStyle/>
          <a:p>
            <a:r>
              <a:rPr lang="fr-BF" dirty="0"/>
              <a:t>V.	RÉSULTATS</a:t>
            </a:r>
          </a:p>
        </p:txBody>
      </p:sp>
      <p:sp>
        <p:nvSpPr>
          <p:cNvPr id="4" name="Espace réservé du numéro de diapositive 3">
            <a:extLst>
              <a:ext uri="{FF2B5EF4-FFF2-40B4-BE49-F238E27FC236}">
                <a16:creationId xmlns:a16="http://schemas.microsoft.com/office/drawing/2014/main" id="{04940A27-CBA5-D6D6-6F2B-9D512619EAE1}"/>
              </a:ext>
            </a:extLst>
          </p:cNvPr>
          <p:cNvSpPr>
            <a:spLocks noGrp="1"/>
          </p:cNvSpPr>
          <p:nvPr>
            <p:ph type="sldNum" sz="quarter" idx="12"/>
          </p:nvPr>
        </p:nvSpPr>
        <p:spPr/>
        <p:txBody>
          <a:bodyPr/>
          <a:lstStyle/>
          <a:p>
            <a:fld id="{4FAB73BC-B049-4115-A692-8D63A059BFB8}" type="slidenum">
              <a:rPr lang="en-US" smtClean="0"/>
              <a:t>11</a:t>
            </a:fld>
            <a:endParaRPr lang="en-US"/>
          </a:p>
        </p:txBody>
      </p:sp>
      <p:sp>
        <p:nvSpPr>
          <p:cNvPr id="5" name="Shape 3">
            <a:extLst>
              <a:ext uri="{FF2B5EF4-FFF2-40B4-BE49-F238E27FC236}">
                <a16:creationId xmlns:a16="http://schemas.microsoft.com/office/drawing/2014/main" id="{5F8F47A4-5314-7C34-7FE7-A5C981B5D71E}"/>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sp>
        <p:nvSpPr>
          <p:cNvPr id="6" name="Espace réservé du contenu 2">
            <a:extLst>
              <a:ext uri="{FF2B5EF4-FFF2-40B4-BE49-F238E27FC236}">
                <a16:creationId xmlns:a16="http://schemas.microsoft.com/office/drawing/2014/main" id="{F2D9D742-6F90-9A55-E710-CA309B7BADD0}"/>
              </a:ext>
            </a:extLst>
          </p:cNvPr>
          <p:cNvSpPr>
            <a:spLocks noGrp="1"/>
          </p:cNvSpPr>
          <p:nvPr>
            <p:ph idx="1"/>
          </p:nvPr>
        </p:nvSpPr>
        <p:spPr>
          <a:xfrm>
            <a:off x="253768" y="2121408"/>
            <a:ext cx="11491763" cy="3787779"/>
          </a:xfrm>
        </p:spPr>
        <p:txBody>
          <a:bodyPr>
            <a:noAutofit/>
          </a:bodyPr>
          <a:lstStyle/>
          <a:p>
            <a:pPr marL="0" indent="0" algn="just">
              <a:buNone/>
            </a:pPr>
            <a:r>
              <a:rPr lang="fr-FR" sz="2400" dirty="0"/>
              <a:t>Contribution 1 (encours de publication) :</a:t>
            </a:r>
          </a:p>
          <a:p>
            <a:pPr marL="0" indent="0" algn="just">
              <a:lnSpc>
                <a:spcPct val="150000"/>
              </a:lnSpc>
              <a:buNone/>
            </a:pPr>
            <a:r>
              <a:rPr lang="fr-FR" sz="2400" dirty="0"/>
              <a:t>Approche d’authentification de documents officiels grâce à la blockchain Ethereum : </a:t>
            </a:r>
          </a:p>
          <a:p>
            <a:pPr lvl="1" algn="just">
              <a:lnSpc>
                <a:spcPct val="150000"/>
              </a:lnSpc>
            </a:pPr>
            <a:r>
              <a:rPr lang="fr-FR" sz="2400" dirty="0"/>
              <a:t>Phase d’ajout de documents</a:t>
            </a:r>
          </a:p>
          <a:p>
            <a:pPr lvl="1" algn="just">
              <a:lnSpc>
                <a:spcPct val="150000"/>
              </a:lnSpc>
            </a:pPr>
            <a:r>
              <a:rPr lang="fr-FR" sz="2400" dirty="0"/>
              <a:t>Phase de vérification de documents</a:t>
            </a:r>
          </a:p>
        </p:txBody>
      </p:sp>
    </p:spTree>
    <p:extLst>
      <p:ext uri="{BB962C8B-B14F-4D97-AF65-F5344CB8AC3E}">
        <p14:creationId xmlns:p14="http://schemas.microsoft.com/office/powerpoint/2010/main" val="2576996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3A589-7CE9-62AD-22CC-42B8D58C83D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FCB9C76-0731-E89F-7566-F78F33401DDC}"/>
              </a:ext>
            </a:extLst>
          </p:cNvPr>
          <p:cNvSpPr>
            <a:spLocks noGrp="1"/>
          </p:cNvSpPr>
          <p:nvPr>
            <p:ph type="title"/>
          </p:nvPr>
        </p:nvSpPr>
        <p:spPr/>
        <p:txBody>
          <a:bodyPr/>
          <a:lstStyle/>
          <a:p>
            <a:r>
              <a:rPr lang="fr-BF" dirty="0"/>
              <a:t>V.	RÉSULTATS</a:t>
            </a:r>
          </a:p>
        </p:txBody>
      </p:sp>
      <p:sp>
        <p:nvSpPr>
          <p:cNvPr id="4" name="Espace réservé du numéro de diapositive 3">
            <a:extLst>
              <a:ext uri="{FF2B5EF4-FFF2-40B4-BE49-F238E27FC236}">
                <a16:creationId xmlns:a16="http://schemas.microsoft.com/office/drawing/2014/main" id="{B7E19ADE-A645-B1C8-802F-5802EEC8F612}"/>
              </a:ext>
            </a:extLst>
          </p:cNvPr>
          <p:cNvSpPr>
            <a:spLocks noGrp="1"/>
          </p:cNvSpPr>
          <p:nvPr>
            <p:ph type="sldNum" sz="quarter" idx="12"/>
          </p:nvPr>
        </p:nvSpPr>
        <p:spPr/>
        <p:txBody>
          <a:bodyPr/>
          <a:lstStyle/>
          <a:p>
            <a:fld id="{4FAB73BC-B049-4115-A692-8D63A059BFB8}" type="slidenum">
              <a:rPr lang="en-US" smtClean="0"/>
              <a:t>12</a:t>
            </a:fld>
            <a:endParaRPr lang="en-US"/>
          </a:p>
        </p:txBody>
      </p:sp>
      <p:sp>
        <p:nvSpPr>
          <p:cNvPr id="5" name="Shape 3">
            <a:extLst>
              <a:ext uri="{FF2B5EF4-FFF2-40B4-BE49-F238E27FC236}">
                <a16:creationId xmlns:a16="http://schemas.microsoft.com/office/drawing/2014/main" id="{94B06380-DAC7-C9EE-DCC4-18603CE54C2A}"/>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pic>
        <p:nvPicPr>
          <p:cNvPr id="9" name="Image 8" descr="Une image contenant texte, capture d’écran, diagramme, ligne&#10;&#10;Le contenu généré par l’IA peut être incorrect.">
            <a:extLst>
              <a:ext uri="{FF2B5EF4-FFF2-40B4-BE49-F238E27FC236}">
                <a16:creationId xmlns:a16="http://schemas.microsoft.com/office/drawing/2014/main" id="{D2A605D2-194A-101F-FD3E-BD926499D2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62628"/>
            <a:ext cx="12054625" cy="5213414"/>
          </a:xfrm>
          <a:prstGeom prst="rect">
            <a:avLst/>
          </a:prstGeom>
        </p:spPr>
      </p:pic>
    </p:spTree>
    <p:extLst>
      <p:ext uri="{BB962C8B-B14F-4D97-AF65-F5344CB8AC3E}">
        <p14:creationId xmlns:p14="http://schemas.microsoft.com/office/powerpoint/2010/main" val="4000449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E40AA-4A77-7D2F-AD7F-32F5F340AC6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2FFED61-C448-8DA4-594A-3D8C715ECCC3}"/>
              </a:ext>
            </a:extLst>
          </p:cNvPr>
          <p:cNvSpPr>
            <a:spLocks noGrp="1"/>
          </p:cNvSpPr>
          <p:nvPr>
            <p:ph type="title"/>
          </p:nvPr>
        </p:nvSpPr>
        <p:spPr/>
        <p:txBody>
          <a:bodyPr/>
          <a:lstStyle/>
          <a:p>
            <a:r>
              <a:rPr lang="fr-BF" dirty="0"/>
              <a:t>V.	RÉSULTATS</a:t>
            </a:r>
          </a:p>
        </p:txBody>
      </p:sp>
      <p:sp>
        <p:nvSpPr>
          <p:cNvPr id="4" name="Espace réservé du numéro de diapositive 3">
            <a:extLst>
              <a:ext uri="{FF2B5EF4-FFF2-40B4-BE49-F238E27FC236}">
                <a16:creationId xmlns:a16="http://schemas.microsoft.com/office/drawing/2014/main" id="{FBD17D63-F070-E7D6-7A2D-4CF8611AA20D}"/>
              </a:ext>
            </a:extLst>
          </p:cNvPr>
          <p:cNvSpPr>
            <a:spLocks noGrp="1"/>
          </p:cNvSpPr>
          <p:nvPr>
            <p:ph type="sldNum" sz="quarter" idx="12"/>
          </p:nvPr>
        </p:nvSpPr>
        <p:spPr/>
        <p:txBody>
          <a:bodyPr/>
          <a:lstStyle/>
          <a:p>
            <a:fld id="{4FAB73BC-B049-4115-A692-8D63A059BFB8}" type="slidenum">
              <a:rPr lang="en-US" smtClean="0"/>
              <a:t>13</a:t>
            </a:fld>
            <a:endParaRPr lang="en-US"/>
          </a:p>
        </p:txBody>
      </p:sp>
      <p:sp>
        <p:nvSpPr>
          <p:cNvPr id="5" name="Shape 3">
            <a:extLst>
              <a:ext uri="{FF2B5EF4-FFF2-40B4-BE49-F238E27FC236}">
                <a16:creationId xmlns:a16="http://schemas.microsoft.com/office/drawing/2014/main" id="{A75C95B1-1F9D-6E17-E380-D1D9E798081F}"/>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pic>
        <p:nvPicPr>
          <p:cNvPr id="9" name="Image 8">
            <a:extLst>
              <a:ext uri="{FF2B5EF4-FFF2-40B4-BE49-F238E27FC236}">
                <a16:creationId xmlns:a16="http://schemas.microsoft.com/office/drawing/2014/main" id="{041D0FBB-EA67-82D2-94B3-2588C0F2F6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33945" y="1662628"/>
            <a:ext cx="9986734" cy="5213414"/>
          </a:xfrm>
          <a:prstGeom prst="rect">
            <a:avLst/>
          </a:prstGeom>
        </p:spPr>
      </p:pic>
    </p:spTree>
    <p:extLst>
      <p:ext uri="{BB962C8B-B14F-4D97-AF65-F5344CB8AC3E}">
        <p14:creationId xmlns:p14="http://schemas.microsoft.com/office/powerpoint/2010/main" val="811999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5FEED-B30F-838F-92CF-C4FF14E97C9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0B8EE02-5598-9F3D-23CB-B49B8BD777FB}"/>
              </a:ext>
            </a:extLst>
          </p:cNvPr>
          <p:cNvSpPr>
            <a:spLocks noGrp="1"/>
          </p:cNvSpPr>
          <p:nvPr>
            <p:ph type="title"/>
          </p:nvPr>
        </p:nvSpPr>
        <p:spPr>
          <a:xfrm>
            <a:off x="1069848" y="484632"/>
            <a:ext cx="4880015" cy="1609344"/>
          </a:xfrm>
        </p:spPr>
        <p:txBody>
          <a:bodyPr/>
          <a:lstStyle/>
          <a:p>
            <a:r>
              <a:rPr lang="fr-BF" dirty="0"/>
              <a:t>VI.	Perspectives</a:t>
            </a:r>
            <a:r>
              <a:rPr lang="fr-BF" strike="dblStrike" dirty="0"/>
              <a:t>. </a:t>
            </a:r>
          </a:p>
        </p:txBody>
      </p:sp>
      <p:sp>
        <p:nvSpPr>
          <p:cNvPr id="4" name="Espace réservé du numéro de diapositive 3">
            <a:extLst>
              <a:ext uri="{FF2B5EF4-FFF2-40B4-BE49-F238E27FC236}">
                <a16:creationId xmlns:a16="http://schemas.microsoft.com/office/drawing/2014/main" id="{E149A405-95B6-B103-B147-B422678337AD}"/>
              </a:ext>
            </a:extLst>
          </p:cNvPr>
          <p:cNvSpPr>
            <a:spLocks noGrp="1"/>
          </p:cNvSpPr>
          <p:nvPr>
            <p:ph type="sldNum" sz="quarter" idx="12"/>
          </p:nvPr>
        </p:nvSpPr>
        <p:spPr/>
        <p:txBody>
          <a:bodyPr/>
          <a:lstStyle/>
          <a:p>
            <a:fld id="{4FAB73BC-B049-4115-A692-8D63A059BFB8}" type="slidenum">
              <a:rPr lang="en-US" smtClean="0"/>
              <a:t>14</a:t>
            </a:fld>
            <a:endParaRPr lang="en-US"/>
          </a:p>
        </p:txBody>
      </p:sp>
      <p:sp>
        <p:nvSpPr>
          <p:cNvPr id="5" name="Shape 3">
            <a:extLst>
              <a:ext uri="{FF2B5EF4-FFF2-40B4-BE49-F238E27FC236}">
                <a16:creationId xmlns:a16="http://schemas.microsoft.com/office/drawing/2014/main" id="{DDF01F6E-4F0C-F5C5-7313-7D4CC8B3E7E2}"/>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sp>
        <p:nvSpPr>
          <p:cNvPr id="3" name="Espace réservé du contenu 2">
            <a:extLst>
              <a:ext uri="{FF2B5EF4-FFF2-40B4-BE49-F238E27FC236}">
                <a16:creationId xmlns:a16="http://schemas.microsoft.com/office/drawing/2014/main" id="{3E96E6CC-9DBC-3705-74CF-A198DCEFC981}"/>
              </a:ext>
            </a:extLst>
          </p:cNvPr>
          <p:cNvSpPr>
            <a:spLocks noGrp="1"/>
          </p:cNvSpPr>
          <p:nvPr>
            <p:ph idx="1"/>
          </p:nvPr>
        </p:nvSpPr>
        <p:spPr>
          <a:xfrm>
            <a:off x="1069848" y="2121408"/>
            <a:ext cx="10058400" cy="4050792"/>
          </a:xfrm>
        </p:spPr>
        <p:txBody>
          <a:bodyPr>
            <a:normAutofit/>
          </a:bodyPr>
          <a:lstStyle/>
          <a:p>
            <a:pPr algn="just"/>
            <a:r>
              <a:rPr lang="fr-FR" sz="2400" dirty="0"/>
              <a:t>Analyser le dispositif national de sécurisation de documents électroniques (NPKI + signature numérique).</a:t>
            </a:r>
          </a:p>
          <a:p>
            <a:pPr algn="just"/>
            <a:endParaRPr lang="fr-FR" sz="2400" dirty="0"/>
          </a:p>
          <a:p>
            <a:pPr algn="just"/>
            <a:r>
              <a:rPr lang="fr-FR" sz="2400" dirty="0"/>
              <a:t>Adresser la question de l’interopérabilité entre le réseau Blockchain (P2P network) et les infrastructures gouvernementales existantes (historiquement centralisées).</a:t>
            </a:r>
            <a:endParaRPr lang="fr-BF" sz="2400" dirty="0"/>
          </a:p>
        </p:txBody>
      </p:sp>
    </p:spTree>
    <p:extLst>
      <p:ext uri="{BB962C8B-B14F-4D97-AF65-F5344CB8AC3E}">
        <p14:creationId xmlns:p14="http://schemas.microsoft.com/office/powerpoint/2010/main" val="393446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98216-303F-4BE3-9356-46B3F99BE44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E17F2EE-66F3-F7E1-01F4-3FB7C84FB24E}"/>
              </a:ext>
            </a:extLst>
          </p:cNvPr>
          <p:cNvSpPr>
            <a:spLocks noGrp="1"/>
          </p:cNvSpPr>
          <p:nvPr>
            <p:ph type="title"/>
          </p:nvPr>
        </p:nvSpPr>
        <p:spPr/>
        <p:txBody>
          <a:bodyPr/>
          <a:lstStyle/>
          <a:p>
            <a:r>
              <a:rPr lang="fr-BF" dirty="0"/>
              <a:t>VII.	Chronogramme</a:t>
            </a:r>
          </a:p>
        </p:txBody>
      </p:sp>
      <p:sp>
        <p:nvSpPr>
          <p:cNvPr id="4" name="Espace réservé du numéro de diapositive 3">
            <a:extLst>
              <a:ext uri="{FF2B5EF4-FFF2-40B4-BE49-F238E27FC236}">
                <a16:creationId xmlns:a16="http://schemas.microsoft.com/office/drawing/2014/main" id="{D704DD1C-E689-F751-62D5-67FEB7B29C98}"/>
              </a:ext>
            </a:extLst>
          </p:cNvPr>
          <p:cNvSpPr>
            <a:spLocks noGrp="1"/>
          </p:cNvSpPr>
          <p:nvPr>
            <p:ph type="sldNum" sz="quarter" idx="12"/>
          </p:nvPr>
        </p:nvSpPr>
        <p:spPr/>
        <p:txBody>
          <a:bodyPr/>
          <a:lstStyle/>
          <a:p>
            <a:fld id="{4FAB73BC-B049-4115-A692-8D63A059BFB8}" type="slidenum">
              <a:rPr lang="en-US" smtClean="0"/>
              <a:t>15</a:t>
            </a:fld>
            <a:endParaRPr lang="en-US"/>
          </a:p>
        </p:txBody>
      </p:sp>
      <p:sp>
        <p:nvSpPr>
          <p:cNvPr id="5" name="Shape 3">
            <a:extLst>
              <a:ext uri="{FF2B5EF4-FFF2-40B4-BE49-F238E27FC236}">
                <a16:creationId xmlns:a16="http://schemas.microsoft.com/office/drawing/2014/main" id="{54DBFC68-1D4F-0A5E-3B86-D99BEDA07E72}"/>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graphicFrame>
        <p:nvGraphicFramePr>
          <p:cNvPr id="3" name="Tableau 2">
            <a:extLst>
              <a:ext uri="{FF2B5EF4-FFF2-40B4-BE49-F238E27FC236}">
                <a16:creationId xmlns:a16="http://schemas.microsoft.com/office/drawing/2014/main" id="{0800B7D3-9A0C-8B01-14D4-F982E653B832}"/>
              </a:ext>
            </a:extLst>
          </p:cNvPr>
          <p:cNvGraphicFramePr>
            <a:graphicFrameLocks noGrp="1"/>
          </p:cNvGraphicFramePr>
          <p:nvPr>
            <p:extLst>
              <p:ext uri="{D42A27DB-BD31-4B8C-83A1-F6EECF244321}">
                <p14:modId xmlns:p14="http://schemas.microsoft.com/office/powerpoint/2010/main" val="827303239"/>
              </p:ext>
            </p:extLst>
          </p:nvPr>
        </p:nvGraphicFramePr>
        <p:xfrm>
          <a:off x="86264" y="1842305"/>
          <a:ext cx="12007968" cy="4824960"/>
        </p:xfrm>
        <a:graphic>
          <a:graphicData uri="http://schemas.openxmlformats.org/drawingml/2006/table">
            <a:tbl>
              <a:tblPr firstRow="1" bandRow="1">
                <a:tableStyleId>{5C22544A-7EE6-4342-B048-85BDC9FD1C3A}</a:tableStyleId>
              </a:tblPr>
              <a:tblGrid>
                <a:gridCol w="9463178">
                  <a:extLst>
                    <a:ext uri="{9D8B030D-6E8A-4147-A177-3AD203B41FA5}">
                      <a16:colId xmlns:a16="http://schemas.microsoft.com/office/drawing/2014/main" val="2299189902"/>
                    </a:ext>
                  </a:extLst>
                </a:gridCol>
                <a:gridCol w="845388">
                  <a:extLst>
                    <a:ext uri="{9D8B030D-6E8A-4147-A177-3AD203B41FA5}">
                      <a16:colId xmlns:a16="http://schemas.microsoft.com/office/drawing/2014/main" val="1478396344"/>
                    </a:ext>
                  </a:extLst>
                </a:gridCol>
                <a:gridCol w="854015">
                  <a:extLst>
                    <a:ext uri="{9D8B030D-6E8A-4147-A177-3AD203B41FA5}">
                      <a16:colId xmlns:a16="http://schemas.microsoft.com/office/drawing/2014/main" val="3944735165"/>
                    </a:ext>
                  </a:extLst>
                </a:gridCol>
                <a:gridCol w="845387">
                  <a:extLst>
                    <a:ext uri="{9D8B030D-6E8A-4147-A177-3AD203B41FA5}">
                      <a16:colId xmlns:a16="http://schemas.microsoft.com/office/drawing/2014/main" val="2480014228"/>
                    </a:ext>
                  </a:extLst>
                </a:gridCol>
              </a:tblGrid>
              <a:tr h="540000">
                <a:tc>
                  <a:txBody>
                    <a:bodyPr/>
                    <a:lstStyle/>
                    <a:p>
                      <a:r>
                        <a:rPr lang="fr-FR" sz="2400" dirty="0"/>
                        <a:t>A</a:t>
                      </a:r>
                      <a:r>
                        <a:rPr lang="fr-BF" sz="2400" dirty="0"/>
                        <a:t>CTIVITÉS</a:t>
                      </a:r>
                    </a:p>
                  </a:txBody>
                  <a:tcPr anchor="ctr"/>
                </a:tc>
                <a:tc>
                  <a:txBody>
                    <a:bodyPr/>
                    <a:lstStyle/>
                    <a:p>
                      <a:pPr algn="ctr"/>
                      <a:r>
                        <a:rPr lang="fr-FR" sz="2400" dirty="0"/>
                        <a:t>A</a:t>
                      </a:r>
                      <a:r>
                        <a:rPr lang="fr-BF" sz="2400" dirty="0"/>
                        <a:t>N 1</a:t>
                      </a:r>
                    </a:p>
                  </a:txBody>
                  <a:tcPr anchor="ctr"/>
                </a:tc>
                <a:tc>
                  <a:txBody>
                    <a:bodyPr/>
                    <a:lstStyle/>
                    <a:p>
                      <a:pPr algn="ctr"/>
                      <a:r>
                        <a:rPr lang="fr-BF" sz="2400" dirty="0"/>
                        <a:t>AN 2</a:t>
                      </a:r>
                    </a:p>
                  </a:txBody>
                  <a:tcPr anchor="ctr"/>
                </a:tc>
                <a:tc>
                  <a:txBody>
                    <a:bodyPr/>
                    <a:lstStyle/>
                    <a:p>
                      <a:pPr algn="ctr"/>
                      <a:r>
                        <a:rPr lang="fr-BF" sz="2400" dirty="0"/>
                        <a:t>AN 3</a:t>
                      </a:r>
                    </a:p>
                  </a:txBody>
                  <a:tcPr anchor="ctr"/>
                </a:tc>
                <a:extLst>
                  <a:ext uri="{0D108BD9-81ED-4DB2-BD59-A6C34878D82A}">
                    <a16:rowId xmlns:a16="http://schemas.microsoft.com/office/drawing/2014/main" val="708230753"/>
                  </a:ext>
                </a:extLst>
              </a:tr>
              <a:tr h="540000">
                <a:tc>
                  <a:txBody>
                    <a:bodyPr/>
                    <a:lstStyle/>
                    <a:p>
                      <a:r>
                        <a:rPr lang="fr-FR" sz="2200" b="1" dirty="0"/>
                        <a:t>Compréhension du sujet  : Analyser les dispositifs existants et les processus métier</a:t>
                      </a:r>
                      <a:endParaRPr lang="fr-BF" sz="2200" b="1" dirty="0"/>
                    </a:p>
                  </a:txBody>
                  <a:tcPr/>
                </a:tc>
                <a:tc>
                  <a:txBody>
                    <a:bodyPr/>
                    <a:lstStyle/>
                    <a:p>
                      <a:pPr algn="ctr"/>
                      <a:r>
                        <a:rPr lang="fr-BF" sz="2200" dirty="0"/>
                        <a:t>X</a:t>
                      </a:r>
                    </a:p>
                  </a:txBody>
                  <a:tcPr anchor="ctr"/>
                </a:tc>
                <a:tc>
                  <a:txBody>
                    <a:bodyPr/>
                    <a:lstStyle/>
                    <a:p>
                      <a:pPr algn="ctr"/>
                      <a:endParaRPr lang="fr-BF" sz="2200" dirty="0"/>
                    </a:p>
                  </a:txBody>
                  <a:tcPr anchor="ctr"/>
                </a:tc>
                <a:tc>
                  <a:txBody>
                    <a:bodyPr/>
                    <a:lstStyle/>
                    <a:p>
                      <a:pPr algn="ctr"/>
                      <a:endParaRPr lang="fr-BF" sz="2200"/>
                    </a:p>
                  </a:txBody>
                  <a:tcPr anchor="ctr"/>
                </a:tc>
                <a:extLst>
                  <a:ext uri="{0D108BD9-81ED-4DB2-BD59-A6C34878D82A}">
                    <a16:rowId xmlns:a16="http://schemas.microsoft.com/office/drawing/2014/main" val="2809146287"/>
                  </a:ext>
                </a:extLst>
              </a:tr>
              <a:tr h="540000">
                <a:tc>
                  <a:txBody>
                    <a:bodyPr/>
                    <a:lstStyle/>
                    <a:p>
                      <a:r>
                        <a:rPr lang="fr-FR" sz="2200" b="1" dirty="0"/>
                        <a:t>Faire une revue de littérature</a:t>
                      </a:r>
                      <a:endParaRPr lang="fr-BF" sz="2200" b="1" dirty="0"/>
                    </a:p>
                  </a:txBody>
                  <a:tcPr/>
                </a:tc>
                <a:tc>
                  <a:txBody>
                    <a:bodyPr/>
                    <a:lstStyle/>
                    <a:p>
                      <a:pPr algn="ctr"/>
                      <a:r>
                        <a:rPr lang="fr-BF" sz="2200" dirty="0"/>
                        <a:t>X</a:t>
                      </a:r>
                    </a:p>
                  </a:txBody>
                  <a:tcPr anchor="ctr"/>
                </a:tc>
                <a:tc>
                  <a:txBody>
                    <a:bodyPr/>
                    <a:lstStyle/>
                    <a:p>
                      <a:pPr algn="ctr"/>
                      <a:r>
                        <a:rPr lang="fr-BF" sz="2200" dirty="0"/>
                        <a:t>X</a:t>
                      </a:r>
                    </a:p>
                  </a:txBody>
                  <a:tcPr anchor="ctr"/>
                </a:tc>
                <a:tc>
                  <a:txBody>
                    <a:bodyPr/>
                    <a:lstStyle/>
                    <a:p>
                      <a:pPr algn="ctr"/>
                      <a:r>
                        <a:rPr lang="fr-BF" sz="2200" dirty="0"/>
                        <a:t>X</a:t>
                      </a:r>
                    </a:p>
                  </a:txBody>
                  <a:tcPr anchor="ctr"/>
                </a:tc>
                <a:extLst>
                  <a:ext uri="{0D108BD9-81ED-4DB2-BD59-A6C34878D82A}">
                    <a16:rowId xmlns:a16="http://schemas.microsoft.com/office/drawing/2014/main" val="3716080662"/>
                  </a:ext>
                </a:extLst>
              </a:tr>
              <a:tr h="540000">
                <a:tc>
                  <a:txBody>
                    <a:bodyPr/>
                    <a:lstStyle/>
                    <a:p>
                      <a:r>
                        <a:rPr lang="fr-FR" sz="2200" kern="1200" dirty="0">
                          <a:solidFill>
                            <a:schemeClr val="dk1"/>
                          </a:solidFill>
                          <a:effectLst/>
                          <a:latin typeface="+mn-lt"/>
                          <a:ea typeface="+mn-ea"/>
                          <a:cs typeface="+mn-cs"/>
                        </a:rPr>
                        <a:t>Proposer des approches de sécurisation des documents </a:t>
                      </a:r>
                      <a:endParaRPr lang="fr-BF" sz="2200" dirty="0"/>
                    </a:p>
                  </a:txBody>
                  <a:tcPr/>
                </a:tc>
                <a:tc>
                  <a:txBody>
                    <a:bodyPr/>
                    <a:lstStyle/>
                    <a:p>
                      <a:pPr algn="ctr"/>
                      <a:r>
                        <a:rPr lang="fr-BF" sz="2200"/>
                        <a:t>X</a:t>
                      </a:r>
                      <a:endParaRPr lang="fr-BF" sz="2200" dirty="0"/>
                    </a:p>
                  </a:txBody>
                  <a:tcPr anchor="ctr"/>
                </a:tc>
                <a:tc>
                  <a:txBody>
                    <a:bodyPr/>
                    <a:lstStyle/>
                    <a:p>
                      <a:pPr algn="ctr"/>
                      <a:r>
                        <a:rPr lang="fr-BF" sz="2200" dirty="0"/>
                        <a:t>X</a:t>
                      </a:r>
                    </a:p>
                  </a:txBody>
                  <a:tcPr anchor="ctr"/>
                </a:tc>
                <a:tc>
                  <a:txBody>
                    <a:bodyPr/>
                    <a:lstStyle/>
                    <a:p>
                      <a:pPr algn="ctr"/>
                      <a:r>
                        <a:rPr lang="fr-BF" sz="2200" dirty="0"/>
                        <a:t>X</a:t>
                      </a:r>
                    </a:p>
                  </a:txBody>
                  <a:tcPr anchor="ctr"/>
                </a:tc>
                <a:extLst>
                  <a:ext uri="{0D108BD9-81ED-4DB2-BD59-A6C34878D82A}">
                    <a16:rowId xmlns:a16="http://schemas.microsoft.com/office/drawing/2014/main" val="1342864067"/>
                  </a:ext>
                </a:extLst>
              </a:tr>
              <a:tr h="540000">
                <a:tc>
                  <a:txBody>
                    <a:bodyPr/>
                    <a:lstStyle/>
                    <a:p>
                      <a:r>
                        <a:rPr lang="fr-FR" sz="2200" kern="1200" dirty="0">
                          <a:solidFill>
                            <a:schemeClr val="dk1"/>
                          </a:solidFill>
                          <a:effectLst/>
                          <a:latin typeface="+mn-lt"/>
                          <a:ea typeface="+mn-ea"/>
                          <a:cs typeface="+mn-cs"/>
                        </a:rPr>
                        <a:t>Proposer une architecture de mise en œuvre des approches</a:t>
                      </a:r>
                      <a:endParaRPr lang="fr-BF" sz="2200" dirty="0"/>
                    </a:p>
                  </a:txBody>
                  <a:tcPr/>
                </a:tc>
                <a:tc>
                  <a:txBody>
                    <a:bodyPr/>
                    <a:lstStyle/>
                    <a:p>
                      <a:pPr algn="ctr"/>
                      <a:endParaRPr lang="fr-BF" sz="2200" dirty="0"/>
                    </a:p>
                  </a:txBody>
                  <a:tcPr anchor="ctr"/>
                </a:tc>
                <a:tc>
                  <a:txBody>
                    <a:bodyPr/>
                    <a:lstStyle/>
                    <a:p>
                      <a:pPr algn="ctr"/>
                      <a:r>
                        <a:rPr lang="fr-BF" sz="2200" dirty="0"/>
                        <a:t>X</a:t>
                      </a:r>
                    </a:p>
                  </a:txBody>
                  <a:tcPr anchor="ctr"/>
                </a:tc>
                <a:tc>
                  <a:txBody>
                    <a:bodyPr/>
                    <a:lstStyle/>
                    <a:p>
                      <a:pPr algn="ctr"/>
                      <a:r>
                        <a:rPr lang="fr-BF" sz="2200" dirty="0"/>
                        <a:t>X</a:t>
                      </a:r>
                    </a:p>
                  </a:txBody>
                  <a:tcPr anchor="ctr"/>
                </a:tc>
                <a:extLst>
                  <a:ext uri="{0D108BD9-81ED-4DB2-BD59-A6C34878D82A}">
                    <a16:rowId xmlns:a16="http://schemas.microsoft.com/office/drawing/2014/main" val="681544150"/>
                  </a:ext>
                </a:extLst>
              </a:tr>
              <a:tr h="540000">
                <a:tc>
                  <a:txBody>
                    <a:bodyPr/>
                    <a:lstStyle/>
                    <a:p>
                      <a:r>
                        <a:rPr lang="fr-FR" sz="2200" kern="1200" dirty="0">
                          <a:solidFill>
                            <a:schemeClr val="dk1"/>
                          </a:solidFill>
                          <a:effectLst/>
                          <a:latin typeface="+mn-lt"/>
                          <a:ea typeface="+mn-ea"/>
                          <a:cs typeface="+mn-cs"/>
                        </a:rPr>
                        <a:t>Evaluer les approches et discuter les résultats</a:t>
                      </a:r>
                      <a:endParaRPr lang="fr-BF" sz="2200" dirty="0"/>
                    </a:p>
                  </a:txBody>
                  <a:tcPr/>
                </a:tc>
                <a:tc>
                  <a:txBody>
                    <a:bodyPr/>
                    <a:lstStyle/>
                    <a:p>
                      <a:pPr algn="ctr"/>
                      <a:endParaRPr lang="fr-BF" sz="2200" dirty="0"/>
                    </a:p>
                  </a:txBody>
                  <a:tcPr anchor="ctr"/>
                </a:tc>
                <a:tc>
                  <a:txBody>
                    <a:bodyPr/>
                    <a:lstStyle/>
                    <a:p>
                      <a:pPr algn="ctr"/>
                      <a:r>
                        <a:rPr lang="fr-BF" sz="2200" dirty="0"/>
                        <a:t>X</a:t>
                      </a:r>
                    </a:p>
                  </a:txBody>
                  <a:tcPr anchor="ctr"/>
                </a:tc>
                <a:tc>
                  <a:txBody>
                    <a:bodyPr/>
                    <a:lstStyle/>
                    <a:p>
                      <a:pPr algn="ctr"/>
                      <a:r>
                        <a:rPr lang="fr-BF" sz="2200" dirty="0"/>
                        <a:t>X</a:t>
                      </a:r>
                    </a:p>
                  </a:txBody>
                  <a:tcPr anchor="ctr"/>
                </a:tc>
                <a:extLst>
                  <a:ext uri="{0D108BD9-81ED-4DB2-BD59-A6C34878D82A}">
                    <a16:rowId xmlns:a16="http://schemas.microsoft.com/office/drawing/2014/main" val="2433956522"/>
                  </a:ext>
                </a:extLst>
              </a:tr>
              <a:tr h="54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200" b="1" kern="1200" dirty="0">
                          <a:solidFill>
                            <a:schemeClr val="dk1"/>
                          </a:solidFill>
                          <a:effectLst/>
                          <a:latin typeface="+mn-lt"/>
                          <a:ea typeface="+mn-ea"/>
                          <a:cs typeface="+mn-cs"/>
                        </a:rPr>
                        <a:t>Soumettre des contributions scientifiques</a:t>
                      </a:r>
                      <a:r>
                        <a:rPr lang="fr-BF" sz="2200" b="1" dirty="0">
                          <a:effectLst/>
                        </a:rPr>
                        <a:t> </a:t>
                      </a:r>
                      <a:endParaRPr lang="fr-BF" sz="2200" b="1" dirty="0"/>
                    </a:p>
                  </a:txBody>
                  <a:tcPr/>
                </a:tc>
                <a:tc>
                  <a:txBody>
                    <a:bodyPr/>
                    <a:lstStyle/>
                    <a:p>
                      <a:pPr algn="ctr"/>
                      <a:r>
                        <a:rPr lang="fr-BF" sz="2200" dirty="0"/>
                        <a:t>X</a:t>
                      </a:r>
                    </a:p>
                  </a:txBody>
                  <a:tcPr anchor="ctr"/>
                </a:tc>
                <a:tc>
                  <a:txBody>
                    <a:bodyPr/>
                    <a:lstStyle/>
                    <a:p>
                      <a:pPr algn="ctr"/>
                      <a:r>
                        <a:rPr lang="fr-BF" sz="2200" dirty="0"/>
                        <a:t>X</a:t>
                      </a:r>
                    </a:p>
                  </a:txBody>
                  <a:tcPr anchor="ctr"/>
                </a:tc>
                <a:tc>
                  <a:txBody>
                    <a:bodyPr/>
                    <a:lstStyle/>
                    <a:p>
                      <a:pPr algn="ctr"/>
                      <a:r>
                        <a:rPr lang="fr-BF" sz="2200" dirty="0"/>
                        <a:t>X</a:t>
                      </a:r>
                    </a:p>
                  </a:txBody>
                  <a:tcPr anchor="ctr"/>
                </a:tc>
                <a:extLst>
                  <a:ext uri="{0D108BD9-81ED-4DB2-BD59-A6C34878D82A}">
                    <a16:rowId xmlns:a16="http://schemas.microsoft.com/office/drawing/2014/main" val="1659220637"/>
                  </a:ext>
                </a:extLst>
              </a:tr>
              <a:tr h="540000">
                <a:tc>
                  <a:txBody>
                    <a:bodyPr/>
                    <a:lstStyle/>
                    <a:p>
                      <a:r>
                        <a:rPr lang="fr-FR" sz="2200" kern="1200" dirty="0">
                          <a:solidFill>
                            <a:schemeClr val="dk1"/>
                          </a:solidFill>
                          <a:effectLst/>
                          <a:latin typeface="+mn-lt"/>
                          <a:ea typeface="+mn-ea"/>
                          <a:cs typeface="+mn-cs"/>
                        </a:rPr>
                        <a:t>Produire le document final de la thèse</a:t>
                      </a:r>
                      <a:endParaRPr lang="fr-BF" sz="2200" dirty="0"/>
                    </a:p>
                  </a:txBody>
                  <a:tcPr/>
                </a:tc>
                <a:tc>
                  <a:txBody>
                    <a:bodyPr/>
                    <a:lstStyle/>
                    <a:p>
                      <a:pPr algn="ctr"/>
                      <a:endParaRPr lang="fr-BF" sz="2200" dirty="0"/>
                    </a:p>
                  </a:txBody>
                  <a:tcPr anchor="ctr"/>
                </a:tc>
                <a:tc>
                  <a:txBody>
                    <a:bodyPr/>
                    <a:lstStyle/>
                    <a:p>
                      <a:pPr algn="ctr"/>
                      <a:endParaRPr lang="fr-BF" sz="2200" dirty="0"/>
                    </a:p>
                  </a:txBody>
                  <a:tcPr anchor="ctr"/>
                </a:tc>
                <a:tc>
                  <a:txBody>
                    <a:bodyPr/>
                    <a:lstStyle/>
                    <a:p>
                      <a:pPr algn="ctr"/>
                      <a:r>
                        <a:rPr lang="fr-BF" sz="2200" dirty="0"/>
                        <a:t>X</a:t>
                      </a:r>
                    </a:p>
                  </a:txBody>
                  <a:tcPr anchor="ctr"/>
                </a:tc>
                <a:extLst>
                  <a:ext uri="{0D108BD9-81ED-4DB2-BD59-A6C34878D82A}">
                    <a16:rowId xmlns:a16="http://schemas.microsoft.com/office/drawing/2014/main" val="1354607700"/>
                  </a:ext>
                </a:extLst>
              </a:tr>
            </a:tbl>
          </a:graphicData>
        </a:graphic>
      </p:graphicFrame>
    </p:spTree>
    <p:extLst>
      <p:ext uri="{BB962C8B-B14F-4D97-AF65-F5344CB8AC3E}">
        <p14:creationId xmlns:p14="http://schemas.microsoft.com/office/powerpoint/2010/main" val="1340858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773C-0D7E-297D-8435-3ECC8AE75F3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16CD914-64FF-E6BB-CE2E-ECBE4C9D3BD3}"/>
              </a:ext>
            </a:extLst>
          </p:cNvPr>
          <p:cNvSpPr>
            <a:spLocks noGrp="1"/>
          </p:cNvSpPr>
          <p:nvPr>
            <p:ph type="ctrTitle"/>
          </p:nvPr>
        </p:nvSpPr>
        <p:spPr/>
        <p:txBody>
          <a:bodyPr/>
          <a:lstStyle/>
          <a:p>
            <a:pPr algn="ctr"/>
            <a:r>
              <a:rPr lang="fr-FR" sz="5400" b="1" dirty="0"/>
              <a:t>Merci.</a:t>
            </a:r>
            <a:endParaRPr lang="fr-BF" sz="5400" dirty="0"/>
          </a:p>
        </p:txBody>
      </p:sp>
      <p:sp>
        <p:nvSpPr>
          <p:cNvPr id="6" name="ZoneTexte 5">
            <a:extLst>
              <a:ext uri="{FF2B5EF4-FFF2-40B4-BE49-F238E27FC236}">
                <a16:creationId xmlns:a16="http://schemas.microsoft.com/office/drawing/2014/main" id="{3FA7C3EA-D32B-35F6-5F53-B9DE564107D3}"/>
              </a:ext>
            </a:extLst>
          </p:cNvPr>
          <p:cNvSpPr txBox="1"/>
          <p:nvPr/>
        </p:nvSpPr>
        <p:spPr>
          <a:xfrm>
            <a:off x="2212522" y="6482441"/>
            <a:ext cx="9979478" cy="276999"/>
          </a:xfrm>
          <a:prstGeom prst="rect">
            <a:avLst/>
          </a:prstGeom>
          <a:noFill/>
        </p:spPr>
        <p:txBody>
          <a:bodyPr wrap="square" rtlCol="0">
            <a:spAutoFit/>
          </a:bodyPr>
          <a:lstStyle/>
          <a:p>
            <a:pPr algn="r"/>
            <a:r>
              <a:rPr lang="fr-FR" sz="1200" dirty="0" err="1"/>
              <a:t>Doctoriales</a:t>
            </a:r>
            <a:r>
              <a:rPr lang="fr-FR" sz="1200" dirty="0"/>
              <a:t> 2026 </a:t>
            </a:r>
            <a:r>
              <a:rPr lang="fr-BF" sz="1200" dirty="0"/>
              <a:t>|</a:t>
            </a:r>
            <a:r>
              <a:rPr lang="fr-FR" sz="1200" dirty="0"/>
              <a:t> Bobo-Dioulasso</a:t>
            </a:r>
            <a:r>
              <a:rPr lang="fr-BF" sz="1200" dirty="0"/>
              <a:t>, 16-</a:t>
            </a:r>
            <a:r>
              <a:rPr lang="fr-BF" sz="1200" b="1" dirty="0"/>
              <a:t>17</a:t>
            </a:r>
            <a:r>
              <a:rPr lang="fr-BF" sz="1200" dirty="0"/>
              <a:t>-18 Juillet 2026</a:t>
            </a:r>
          </a:p>
        </p:txBody>
      </p:sp>
      <p:sp>
        <p:nvSpPr>
          <p:cNvPr id="3" name="ZoneTexte 2">
            <a:extLst>
              <a:ext uri="{FF2B5EF4-FFF2-40B4-BE49-F238E27FC236}">
                <a16:creationId xmlns:a16="http://schemas.microsoft.com/office/drawing/2014/main" id="{5DEE6E48-9286-8855-1ABF-BA791576A7B7}"/>
              </a:ext>
            </a:extLst>
          </p:cNvPr>
          <p:cNvSpPr txBox="1"/>
          <p:nvPr/>
        </p:nvSpPr>
        <p:spPr>
          <a:xfrm>
            <a:off x="894735" y="4468031"/>
            <a:ext cx="5123647" cy="369332"/>
          </a:xfrm>
          <a:prstGeom prst="rect">
            <a:avLst/>
          </a:prstGeom>
          <a:noFill/>
        </p:spPr>
        <p:txBody>
          <a:bodyPr wrap="none" rtlCol="0">
            <a:spAutoFit/>
          </a:bodyPr>
          <a:lstStyle/>
          <a:p>
            <a:r>
              <a:rPr lang="fr-BF" dirty="0">
                <a:hlinkClick r:id="rId2"/>
              </a:rPr>
              <a:t>hiencanisius@gmail.com</a:t>
            </a:r>
            <a:r>
              <a:rPr lang="fr-BF" dirty="0"/>
              <a:t>, UNB (Burkina Faso)</a:t>
            </a:r>
          </a:p>
        </p:txBody>
      </p:sp>
    </p:spTree>
    <p:extLst>
      <p:ext uri="{BB962C8B-B14F-4D97-AF65-F5344CB8AC3E}">
        <p14:creationId xmlns:p14="http://schemas.microsoft.com/office/powerpoint/2010/main" val="1219072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10CEB-BBEB-161B-1CD9-1D27F9F639A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713E62A-B352-E9BE-A89D-D9151F3006CA}"/>
              </a:ext>
            </a:extLst>
          </p:cNvPr>
          <p:cNvSpPr>
            <a:spLocks noGrp="1"/>
          </p:cNvSpPr>
          <p:nvPr>
            <p:ph type="title"/>
          </p:nvPr>
        </p:nvSpPr>
        <p:spPr/>
        <p:txBody>
          <a:bodyPr/>
          <a:lstStyle/>
          <a:p>
            <a:r>
              <a:rPr lang="fr-BF" dirty="0"/>
              <a:t>RÉFÉRENCES (1/3)</a:t>
            </a:r>
          </a:p>
        </p:txBody>
      </p:sp>
      <p:sp>
        <p:nvSpPr>
          <p:cNvPr id="4" name="Espace réservé du numéro de diapositive 3">
            <a:extLst>
              <a:ext uri="{FF2B5EF4-FFF2-40B4-BE49-F238E27FC236}">
                <a16:creationId xmlns:a16="http://schemas.microsoft.com/office/drawing/2014/main" id="{3ADEE9BD-876B-ECF7-674F-5AE63B3CB6BD}"/>
              </a:ext>
            </a:extLst>
          </p:cNvPr>
          <p:cNvSpPr>
            <a:spLocks noGrp="1"/>
          </p:cNvSpPr>
          <p:nvPr>
            <p:ph type="sldNum" sz="quarter" idx="12"/>
          </p:nvPr>
        </p:nvSpPr>
        <p:spPr/>
        <p:txBody>
          <a:bodyPr/>
          <a:lstStyle/>
          <a:p>
            <a:fld id="{4FAB73BC-B049-4115-A692-8D63A059BFB8}" type="slidenum">
              <a:rPr lang="en-US" smtClean="0"/>
              <a:t>17</a:t>
            </a:fld>
            <a:endParaRPr lang="en-US"/>
          </a:p>
        </p:txBody>
      </p:sp>
      <p:sp>
        <p:nvSpPr>
          <p:cNvPr id="5" name="Shape 3">
            <a:extLst>
              <a:ext uri="{FF2B5EF4-FFF2-40B4-BE49-F238E27FC236}">
                <a16:creationId xmlns:a16="http://schemas.microsoft.com/office/drawing/2014/main" id="{559D0F50-2E85-B524-AFD4-AD5015004D32}"/>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sp>
        <p:nvSpPr>
          <p:cNvPr id="3" name="Espace réservé du contenu 2">
            <a:extLst>
              <a:ext uri="{FF2B5EF4-FFF2-40B4-BE49-F238E27FC236}">
                <a16:creationId xmlns:a16="http://schemas.microsoft.com/office/drawing/2014/main" id="{1E15BBE0-279B-20AD-4D55-0E5E0C615618}"/>
              </a:ext>
            </a:extLst>
          </p:cNvPr>
          <p:cNvSpPr>
            <a:spLocks noGrp="1"/>
          </p:cNvSpPr>
          <p:nvPr>
            <p:ph idx="1"/>
          </p:nvPr>
        </p:nvSpPr>
        <p:spPr>
          <a:xfrm>
            <a:off x="1069847" y="1718284"/>
            <a:ext cx="10768365" cy="4820167"/>
          </a:xfrm>
        </p:spPr>
        <p:txBody>
          <a:bodyPr>
            <a:normAutofit fontScale="85000" lnSpcReduction="10000"/>
          </a:bodyPr>
          <a:lstStyle/>
          <a:p>
            <a:pPr marL="0" indent="0" algn="just">
              <a:lnSpc>
                <a:spcPct val="150000"/>
              </a:lnSpc>
              <a:buNone/>
            </a:pPr>
            <a:r>
              <a:rPr lang="fr-FR" dirty="0"/>
              <a:t>﻿[1] C. S. </a:t>
            </a:r>
            <a:r>
              <a:rPr lang="fr-FR" dirty="0" err="1"/>
              <a:t>Kubam</a:t>
            </a:r>
            <a:r>
              <a:rPr lang="fr-FR" dirty="0"/>
              <a:t>, “</a:t>
            </a:r>
            <a:r>
              <a:rPr lang="fr-FR" dirty="0" err="1"/>
              <a:t>Agentic</a:t>
            </a:r>
            <a:r>
              <a:rPr lang="fr-FR" dirty="0"/>
              <a:t> ai </a:t>
            </a:r>
            <a:r>
              <a:rPr lang="fr-FR" dirty="0" err="1"/>
              <a:t>microservice</a:t>
            </a:r>
            <a:r>
              <a:rPr lang="fr-FR" dirty="0"/>
              <a:t> </a:t>
            </a:r>
            <a:r>
              <a:rPr lang="fr-FR" dirty="0" err="1"/>
              <a:t>framework</a:t>
            </a:r>
            <a:r>
              <a:rPr lang="fr-FR" dirty="0"/>
              <a:t> for </a:t>
            </a:r>
            <a:r>
              <a:rPr lang="fr-FR" dirty="0" err="1"/>
              <a:t>deepfake</a:t>
            </a:r>
            <a:r>
              <a:rPr lang="fr-FR" dirty="0"/>
              <a:t> and document </a:t>
            </a:r>
            <a:r>
              <a:rPr lang="fr-FR" dirty="0" err="1"/>
              <a:t>fraud</a:t>
            </a:r>
            <a:r>
              <a:rPr lang="fr-FR" dirty="0"/>
              <a:t> </a:t>
            </a:r>
            <a:r>
              <a:rPr lang="fr-FR" dirty="0" err="1"/>
              <a:t>detection</a:t>
            </a:r>
            <a:r>
              <a:rPr lang="fr-FR" dirty="0"/>
              <a:t> in </a:t>
            </a:r>
            <a:r>
              <a:rPr lang="fr-FR" dirty="0" err="1"/>
              <a:t>kyc</a:t>
            </a:r>
            <a:r>
              <a:rPr lang="fr-FR" dirty="0"/>
              <a:t> pipelines,” </a:t>
            </a:r>
            <a:r>
              <a:rPr lang="fr-FR" dirty="0" err="1"/>
              <a:t>arXiv</a:t>
            </a:r>
            <a:r>
              <a:rPr lang="fr-FR" dirty="0"/>
              <a:t> </a:t>
            </a:r>
            <a:r>
              <a:rPr lang="fr-FR" dirty="0" err="1"/>
              <a:t>preprint</a:t>
            </a:r>
            <a:r>
              <a:rPr lang="fr-FR" dirty="0"/>
              <a:t> arXiv:2601.06241, 2026.</a:t>
            </a:r>
          </a:p>
          <a:p>
            <a:pPr marL="0" indent="0" algn="just">
              <a:lnSpc>
                <a:spcPct val="150000"/>
              </a:lnSpc>
              <a:buNone/>
            </a:pPr>
            <a:r>
              <a:rPr lang="fr-FR" dirty="0"/>
              <a:t>[2] M. </a:t>
            </a:r>
            <a:r>
              <a:rPr lang="fr-FR" dirty="0" err="1"/>
              <a:t>Goc</a:t>
            </a:r>
            <a:r>
              <a:rPr lang="fr-FR" dirty="0"/>
              <a:t> and D. </a:t>
            </a:r>
            <a:r>
              <a:rPr lang="fr-FR" dirty="0" err="1"/>
              <a:t>Semków</a:t>
            </a:r>
            <a:r>
              <a:rPr lang="fr-FR" dirty="0"/>
              <a:t>, “Public documents </a:t>
            </a:r>
            <a:r>
              <a:rPr lang="fr-FR" dirty="0" err="1"/>
              <a:t>act</a:t>
            </a:r>
            <a:r>
              <a:rPr lang="fr-FR" dirty="0"/>
              <a:t> and </a:t>
            </a:r>
            <a:r>
              <a:rPr lang="fr-FR" dirty="0" err="1"/>
              <a:t>its</a:t>
            </a:r>
            <a:r>
              <a:rPr lang="fr-FR" dirty="0"/>
              <a:t> </a:t>
            </a:r>
            <a:r>
              <a:rPr lang="fr-FR" dirty="0" err="1"/>
              <a:t>role</a:t>
            </a:r>
            <a:r>
              <a:rPr lang="fr-FR" dirty="0"/>
              <a:t> in </a:t>
            </a:r>
            <a:r>
              <a:rPr lang="fr-FR" dirty="0" err="1"/>
              <a:t>preventing</a:t>
            </a:r>
            <a:r>
              <a:rPr lang="fr-FR" dirty="0"/>
              <a:t> document </a:t>
            </a:r>
            <a:r>
              <a:rPr lang="fr-FR" dirty="0" err="1"/>
              <a:t>forgery</a:t>
            </a:r>
            <a:r>
              <a:rPr lang="fr-FR" dirty="0"/>
              <a:t>,” Studia </a:t>
            </a:r>
            <a:r>
              <a:rPr lang="fr-FR" dirty="0" err="1"/>
              <a:t>Iuridica</a:t>
            </a:r>
            <a:r>
              <a:rPr lang="fr-FR" dirty="0"/>
              <a:t> </a:t>
            </a:r>
            <a:r>
              <a:rPr lang="fr-FR" dirty="0" err="1"/>
              <a:t>Lublinensia</a:t>
            </a:r>
            <a:r>
              <a:rPr lang="fr-FR" dirty="0"/>
              <a:t>, vol. 29, no. 4, pp. 4–85, 2020.</a:t>
            </a:r>
          </a:p>
          <a:p>
            <a:pPr marL="0" indent="0" algn="just">
              <a:lnSpc>
                <a:spcPct val="150000"/>
              </a:lnSpc>
              <a:buNone/>
            </a:pPr>
            <a:r>
              <a:rPr lang="fr-FR" dirty="0"/>
              <a:t>﻿[3] B. </a:t>
            </a:r>
            <a:r>
              <a:rPr lang="fr-FR" dirty="0" err="1"/>
              <a:t>Dziundziuk</a:t>
            </a:r>
            <a:r>
              <a:rPr lang="fr-FR" dirty="0"/>
              <a:t> and V. </a:t>
            </a:r>
            <a:r>
              <a:rPr lang="fr-FR" dirty="0" err="1"/>
              <a:t>Dziundziuk</a:t>
            </a:r>
            <a:r>
              <a:rPr lang="fr-FR" dirty="0"/>
              <a:t>, “</a:t>
            </a:r>
            <a:r>
              <a:rPr lang="fr-FR" dirty="0" err="1"/>
              <a:t>Methodology</a:t>
            </a:r>
            <a:r>
              <a:rPr lang="fr-FR" dirty="0"/>
              <a:t> for </a:t>
            </a:r>
            <a:r>
              <a:rPr lang="fr-FR" dirty="0" err="1"/>
              <a:t>integrating</a:t>
            </a:r>
            <a:r>
              <a:rPr lang="fr-FR" dirty="0"/>
              <a:t> blockchain </a:t>
            </a:r>
            <a:r>
              <a:rPr lang="fr-FR" dirty="0" err="1"/>
              <a:t>into</a:t>
            </a:r>
            <a:r>
              <a:rPr lang="fr-FR" dirty="0"/>
              <a:t> digital </a:t>
            </a:r>
            <a:r>
              <a:rPr lang="fr-FR" dirty="0" err="1"/>
              <a:t>governance</a:t>
            </a:r>
            <a:r>
              <a:rPr lang="fr-FR" dirty="0"/>
              <a:t> </a:t>
            </a:r>
            <a:r>
              <a:rPr lang="fr-FR" dirty="0" err="1"/>
              <a:t>systems</a:t>
            </a:r>
            <a:r>
              <a:rPr lang="fr-FR" dirty="0"/>
              <a:t>: </a:t>
            </a:r>
            <a:r>
              <a:rPr lang="fr-FR" dirty="0" err="1"/>
              <a:t>Analysis</a:t>
            </a:r>
            <a:r>
              <a:rPr lang="fr-FR" dirty="0"/>
              <a:t> of challenges, </a:t>
            </a:r>
            <a:r>
              <a:rPr lang="fr-FR" dirty="0" err="1"/>
              <a:t>benefits</a:t>
            </a:r>
            <a:r>
              <a:rPr lang="fr-FR" dirty="0"/>
              <a:t>, and </a:t>
            </a:r>
            <a:r>
              <a:rPr lang="fr-FR" dirty="0" err="1"/>
              <a:t>opportunities</a:t>
            </a:r>
            <a:r>
              <a:rPr lang="fr-FR" dirty="0"/>
              <a:t> for society,” Science and Public Policy, vol. 52, no. 6, pp. 815–825, 2025.</a:t>
            </a:r>
          </a:p>
          <a:p>
            <a:pPr marL="0" indent="0" algn="just">
              <a:lnSpc>
                <a:spcPct val="150000"/>
              </a:lnSpc>
              <a:buNone/>
            </a:pPr>
            <a:r>
              <a:rPr lang="fr-FR" dirty="0"/>
              <a:t>[4] O. Ali, A. </a:t>
            </a:r>
            <a:r>
              <a:rPr lang="fr-FR" dirty="0" err="1"/>
              <a:t>Jaradat</a:t>
            </a:r>
            <a:r>
              <a:rPr lang="fr-FR" dirty="0"/>
              <a:t>, A. </a:t>
            </a:r>
            <a:r>
              <a:rPr lang="fr-FR" dirty="0" err="1"/>
              <a:t>Kulakli</a:t>
            </a:r>
            <a:r>
              <a:rPr lang="fr-FR" dirty="0"/>
              <a:t>, and A. </a:t>
            </a:r>
            <a:r>
              <a:rPr lang="fr-FR" dirty="0" err="1"/>
              <a:t>Abuhalimeh</a:t>
            </a:r>
            <a:r>
              <a:rPr lang="fr-FR" dirty="0"/>
              <a:t>, “A comparative </a:t>
            </a:r>
            <a:r>
              <a:rPr lang="fr-FR" dirty="0" err="1"/>
              <a:t>study</a:t>
            </a:r>
            <a:r>
              <a:rPr lang="fr-FR" dirty="0"/>
              <a:t>: Blockchain </a:t>
            </a:r>
            <a:r>
              <a:rPr lang="fr-FR" dirty="0" err="1"/>
              <a:t>technology</a:t>
            </a:r>
            <a:r>
              <a:rPr lang="fr-FR" dirty="0"/>
              <a:t> </a:t>
            </a:r>
            <a:r>
              <a:rPr lang="fr-FR" dirty="0" err="1"/>
              <a:t>utilization</a:t>
            </a:r>
            <a:r>
              <a:rPr lang="fr-FR" dirty="0"/>
              <a:t> </a:t>
            </a:r>
            <a:r>
              <a:rPr lang="fr-FR" dirty="0" err="1"/>
              <a:t>benefits</a:t>
            </a:r>
            <a:r>
              <a:rPr lang="fr-FR" dirty="0"/>
              <a:t>, challenges and </a:t>
            </a:r>
            <a:r>
              <a:rPr lang="fr-FR" dirty="0" err="1"/>
              <a:t>functionalities</a:t>
            </a:r>
            <a:r>
              <a:rPr lang="fr-FR" dirty="0"/>
              <a:t>,” </a:t>
            </a:r>
            <a:r>
              <a:rPr lang="fr-FR" dirty="0" err="1"/>
              <a:t>Ieee</a:t>
            </a:r>
            <a:r>
              <a:rPr lang="fr-FR" dirty="0"/>
              <a:t> Access, vol. 9, pp. 12 730–12 749, 2021.</a:t>
            </a:r>
          </a:p>
          <a:p>
            <a:pPr marL="0" indent="0" algn="just">
              <a:lnSpc>
                <a:spcPct val="150000"/>
              </a:lnSpc>
              <a:buNone/>
            </a:pPr>
            <a:r>
              <a:rPr lang="fr-FR" dirty="0"/>
              <a:t>﻿[5] M. </a:t>
            </a:r>
            <a:r>
              <a:rPr lang="fr-FR" dirty="0" err="1"/>
              <a:t>Khayyat</a:t>
            </a:r>
            <a:r>
              <a:rPr lang="fr-FR" dirty="0"/>
              <a:t>, F. </a:t>
            </a:r>
            <a:r>
              <a:rPr lang="fr-FR" dirty="0" err="1"/>
              <a:t>Alhemdi</a:t>
            </a:r>
            <a:r>
              <a:rPr lang="fr-FR" dirty="0"/>
              <a:t>, and R. </a:t>
            </a:r>
            <a:r>
              <a:rPr lang="fr-FR" dirty="0" err="1"/>
              <a:t>Alnunu</a:t>
            </a:r>
            <a:r>
              <a:rPr lang="fr-FR" dirty="0"/>
              <a:t>, “The challenges and </a:t>
            </a:r>
            <a:r>
              <a:rPr lang="fr-FR" dirty="0" err="1"/>
              <a:t>benefits</a:t>
            </a:r>
            <a:r>
              <a:rPr lang="fr-FR" dirty="0"/>
              <a:t> of blockchain in e-</a:t>
            </a:r>
            <a:r>
              <a:rPr lang="fr-FR" dirty="0" err="1"/>
              <a:t>government</a:t>
            </a:r>
            <a:r>
              <a:rPr lang="fr-FR" dirty="0"/>
              <a:t>,” Int. J. Comput. </a:t>
            </a:r>
            <a:r>
              <a:rPr lang="fr-FR" dirty="0" err="1"/>
              <a:t>Sci</a:t>
            </a:r>
            <a:r>
              <a:rPr lang="fr-FR" dirty="0"/>
              <a:t>. </a:t>
            </a:r>
            <a:r>
              <a:rPr lang="fr-FR" dirty="0" err="1"/>
              <a:t>Netw</a:t>
            </a:r>
            <a:r>
              <a:rPr lang="fr-FR" dirty="0"/>
              <a:t>. </a:t>
            </a:r>
            <a:r>
              <a:rPr lang="fr-FR" dirty="0" err="1"/>
              <a:t>Secur</a:t>
            </a:r>
            <a:r>
              <a:rPr lang="fr-FR" dirty="0"/>
              <a:t>, vol. 20, pp. 15–20, 2020.</a:t>
            </a:r>
            <a:endParaRPr lang="fr-BF" dirty="0"/>
          </a:p>
        </p:txBody>
      </p:sp>
    </p:spTree>
    <p:extLst>
      <p:ext uri="{BB962C8B-B14F-4D97-AF65-F5344CB8AC3E}">
        <p14:creationId xmlns:p14="http://schemas.microsoft.com/office/powerpoint/2010/main" val="411378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033CD-1504-567B-AD95-298B51F98B8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3FB890-0670-C312-43AD-6C26AD5C402F}"/>
              </a:ext>
            </a:extLst>
          </p:cNvPr>
          <p:cNvSpPr>
            <a:spLocks noGrp="1"/>
          </p:cNvSpPr>
          <p:nvPr>
            <p:ph type="title"/>
          </p:nvPr>
        </p:nvSpPr>
        <p:spPr/>
        <p:txBody>
          <a:bodyPr/>
          <a:lstStyle/>
          <a:p>
            <a:r>
              <a:rPr lang="fr-BF" dirty="0"/>
              <a:t>RÉFÉRENCES (2/3)</a:t>
            </a:r>
          </a:p>
        </p:txBody>
      </p:sp>
      <p:sp>
        <p:nvSpPr>
          <p:cNvPr id="4" name="Espace réservé du numéro de diapositive 3">
            <a:extLst>
              <a:ext uri="{FF2B5EF4-FFF2-40B4-BE49-F238E27FC236}">
                <a16:creationId xmlns:a16="http://schemas.microsoft.com/office/drawing/2014/main" id="{E7ED8870-E710-F2C3-3CF8-4DA352DB4A96}"/>
              </a:ext>
            </a:extLst>
          </p:cNvPr>
          <p:cNvSpPr>
            <a:spLocks noGrp="1"/>
          </p:cNvSpPr>
          <p:nvPr>
            <p:ph type="sldNum" sz="quarter" idx="12"/>
          </p:nvPr>
        </p:nvSpPr>
        <p:spPr/>
        <p:txBody>
          <a:bodyPr/>
          <a:lstStyle/>
          <a:p>
            <a:fld id="{4FAB73BC-B049-4115-A692-8D63A059BFB8}" type="slidenum">
              <a:rPr lang="en-US" smtClean="0"/>
              <a:t>18</a:t>
            </a:fld>
            <a:endParaRPr lang="en-US"/>
          </a:p>
        </p:txBody>
      </p:sp>
      <p:sp>
        <p:nvSpPr>
          <p:cNvPr id="5" name="Shape 3">
            <a:extLst>
              <a:ext uri="{FF2B5EF4-FFF2-40B4-BE49-F238E27FC236}">
                <a16:creationId xmlns:a16="http://schemas.microsoft.com/office/drawing/2014/main" id="{62592A36-DFD4-0B04-6E24-2377D51EC43B}"/>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sp>
        <p:nvSpPr>
          <p:cNvPr id="3" name="Espace réservé du contenu 2">
            <a:extLst>
              <a:ext uri="{FF2B5EF4-FFF2-40B4-BE49-F238E27FC236}">
                <a16:creationId xmlns:a16="http://schemas.microsoft.com/office/drawing/2014/main" id="{BCAF3F8E-D2F0-D115-23E0-DBFC1E8B8E31}"/>
              </a:ext>
            </a:extLst>
          </p:cNvPr>
          <p:cNvSpPr>
            <a:spLocks noGrp="1"/>
          </p:cNvSpPr>
          <p:nvPr>
            <p:ph idx="1"/>
          </p:nvPr>
        </p:nvSpPr>
        <p:spPr>
          <a:xfrm>
            <a:off x="1069847" y="1718284"/>
            <a:ext cx="10768365" cy="4820167"/>
          </a:xfrm>
        </p:spPr>
        <p:txBody>
          <a:bodyPr>
            <a:normAutofit fontScale="92500" lnSpcReduction="20000"/>
          </a:bodyPr>
          <a:lstStyle/>
          <a:p>
            <a:pPr marL="0" indent="0" algn="just">
              <a:lnSpc>
                <a:spcPct val="150000"/>
              </a:lnSpc>
              <a:buNone/>
            </a:pPr>
            <a:r>
              <a:rPr lang="fr-FR" dirty="0"/>
              <a:t>﻿﻿[6] B. FASO, “Loi n°051-2015/</a:t>
            </a:r>
            <a:r>
              <a:rPr lang="fr-FR" dirty="0" err="1"/>
              <a:t>cnt</a:t>
            </a:r>
            <a:r>
              <a:rPr lang="fr-FR" dirty="0"/>
              <a:t> du 30 août 2015 portant droit d’accès à l’information publique et aux documents administratifs,”, 2015. [Online]. </a:t>
            </a:r>
            <a:r>
              <a:rPr lang="fr-FR" dirty="0" err="1"/>
              <a:t>Available</a:t>
            </a:r>
            <a:r>
              <a:rPr lang="fr-FR" dirty="0"/>
              <a:t>: https://</a:t>
            </a:r>
            <a:r>
              <a:rPr lang="fr-FR" dirty="0" err="1"/>
              <a:t>www.csc.bf</a:t>
            </a:r>
            <a:r>
              <a:rPr lang="fr-FR" dirty="0"/>
              <a:t>/</a:t>
            </a:r>
            <a:r>
              <a:rPr lang="fr-FR" dirty="0" err="1"/>
              <a:t>index.php</a:t>
            </a:r>
            <a:r>
              <a:rPr lang="fr-FR" dirty="0"/>
              <a:t>/textes-</a:t>
            </a:r>
            <a:r>
              <a:rPr lang="fr-FR" dirty="0" err="1"/>
              <a:t>dereference</a:t>
            </a:r>
            <a:r>
              <a:rPr lang="fr-FR" dirty="0"/>
              <a:t>/lois/item/76-loi-051-portant-sur-l-acces-a-l-information-publique.</a:t>
            </a:r>
          </a:p>
          <a:p>
            <a:pPr marL="0" indent="0" algn="just">
              <a:lnSpc>
                <a:spcPct val="150000"/>
              </a:lnSpc>
              <a:buNone/>
            </a:pPr>
            <a:r>
              <a:rPr lang="fr-FR" dirty="0"/>
              <a:t>[7] O. S. Saleh, O. Ghazali, and M. E. Rana, “Blockchain </a:t>
            </a:r>
            <a:r>
              <a:rPr lang="fr-FR" dirty="0" err="1"/>
              <a:t>based</a:t>
            </a:r>
            <a:r>
              <a:rPr lang="fr-FR" dirty="0"/>
              <a:t> </a:t>
            </a:r>
            <a:r>
              <a:rPr lang="fr-FR" dirty="0" err="1"/>
              <a:t>framework</a:t>
            </a:r>
            <a:r>
              <a:rPr lang="fr-FR" dirty="0"/>
              <a:t> for </a:t>
            </a:r>
            <a:r>
              <a:rPr lang="fr-FR" dirty="0" err="1"/>
              <a:t>educational</a:t>
            </a:r>
            <a:r>
              <a:rPr lang="fr-FR" dirty="0"/>
              <a:t> </a:t>
            </a:r>
            <a:r>
              <a:rPr lang="fr-FR" dirty="0" err="1"/>
              <a:t>certificates</a:t>
            </a:r>
            <a:r>
              <a:rPr lang="fr-FR" dirty="0"/>
              <a:t> </a:t>
            </a:r>
            <a:r>
              <a:rPr lang="fr-FR" dirty="0" err="1"/>
              <a:t>verification</a:t>
            </a:r>
            <a:r>
              <a:rPr lang="fr-FR" dirty="0"/>
              <a:t>,” Journal of </a:t>
            </a:r>
            <a:r>
              <a:rPr lang="fr-FR" dirty="0" err="1"/>
              <a:t>critical</a:t>
            </a:r>
            <a:r>
              <a:rPr lang="fr-FR" dirty="0"/>
              <a:t> </a:t>
            </a:r>
            <a:r>
              <a:rPr lang="fr-FR" dirty="0" err="1"/>
              <a:t>reviews</a:t>
            </a:r>
            <a:r>
              <a:rPr lang="fr-FR" dirty="0"/>
              <a:t>, 2020.</a:t>
            </a:r>
          </a:p>
          <a:p>
            <a:pPr marL="0" indent="0" algn="just">
              <a:lnSpc>
                <a:spcPct val="150000"/>
              </a:lnSpc>
              <a:buNone/>
            </a:pPr>
            <a:r>
              <a:rPr lang="fr-FR" dirty="0"/>
              <a:t>[8] G. Malik, K. </a:t>
            </a:r>
            <a:r>
              <a:rPr lang="fr-FR" dirty="0" err="1"/>
              <a:t>Parasrampuria</a:t>
            </a:r>
            <a:r>
              <a:rPr lang="fr-FR" dirty="0"/>
              <a:t>, S. P. Reddy, and S. Shah, “Blockchain </a:t>
            </a:r>
            <a:r>
              <a:rPr lang="fr-FR" dirty="0" err="1"/>
              <a:t>based</a:t>
            </a:r>
            <a:r>
              <a:rPr lang="fr-FR" dirty="0"/>
              <a:t> </a:t>
            </a:r>
            <a:r>
              <a:rPr lang="fr-FR" dirty="0" err="1"/>
              <a:t>identity</a:t>
            </a:r>
            <a:r>
              <a:rPr lang="fr-FR" dirty="0"/>
              <a:t> </a:t>
            </a:r>
            <a:r>
              <a:rPr lang="fr-FR" dirty="0" err="1"/>
              <a:t>verification</a:t>
            </a:r>
            <a:r>
              <a:rPr lang="fr-FR" dirty="0"/>
              <a:t> model,”, pp. 1–6, 2019.</a:t>
            </a:r>
          </a:p>
          <a:p>
            <a:pPr marL="0" indent="0" algn="just">
              <a:lnSpc>
                <a:spcPct val="150000"/>
              </a:lnSpc>
              <a:buNone/>
            </a:pPr>
            <a:r>
              <a:rPr lang="fr-FR" dirty="0"/>
              <a:t>[9] F. Azzam et al., “The use of blockchain </a:t>
            </a:r>
            <a:r>
              <a:rPr lang="fr-FR" dirty="0" err="1"/>
              <a:t>technology</a:t>
            </a:r>
            <a:r>
              <a:rPr lang="fr-FR" dirty="0"/>
              <a:t> and </a:t>
            </a:r>
            <a:r>
              <a:rPr lang="fr-FR" dirty="0" err="1"/>
              <a:t>ocr</a:t>
            </a:r>
            <a:r>
              <a:rPr lang="fr-FR" dirty="0"/>
              <a:t> in e-</a:t>
            </a:r>
            <a:r>
              <a:rPr lang="fr-FR" dirty="0" err="1"/>
              <a:t>government</a:t>
            </a:r>
            <a:r>
              <a:rPr lang="fr-FR" dirty="0"/>
              <a:t> for document management: Inbound </a:t>
            </a:r>
            <a:r>
              <a:rPr lang="fr-FR" dirty="0" err="1"/>
              <a:t>invoice</a:t>
            </a:r>
            <a:r>
              <a:rPr lang="fr-FR" dirty="0"/>
              <a:t> management as an </a:t>
            </a:r>
            <a:r>
              <a:rPr lang="fr-FR" dirty="0" err="1"/>
              <a:t>example</a:t>
            </a:r>
            <a:r>
              <a:rPr lang="fr-FR" dirty="0"/>
              <a:t>,” </a:t>
            </a:r>
            <a:r>
              <a:rPr lang="fr-FR" dirty="0" err="1"/>
              <a:t>Applied</a:t>
            </a:r>
            <a:r>
              <a:rPr lang="fr-FR" dirty="0"/>
              <a:t> Sciences, vol. 13, no. 14, p. 8463, 2023.</a:t>
            </a:r>
            <a:endParaRPr lang="fr-BF" dirty="0"/>
          </a:p>
        </p:txBody>
      </p:sp>
    </p:spTree>
    <p:extLst>
      <p:ext uri="{BB962C8B-B14F-4D97-AF65-F5344CB8AC3E}">
        <p14:creationId xmlns:p14="http://schemas.microsoft.com/office/powerpoint/2010/main" val="252437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D6348-AEE2-A41F-8469-32B4B67CFCC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6C12F87-0D13-BE05-A8B6-06220D72AC10}"/>
              </a:ext>
            </a:extLst>
          </p:cNvPr>
          <p:cNvSpPr>
            <a:spLocks noGrp="1"/>
          </p:cNvSpPr>
          <p:nvPr>
            <p:ph type="title"/>
          </p:nvPr>
        </p:nvSpPr>
        <p:spPr/>
        <p:txBody>
          <a:bodyPr/>
          <a:lstStyle/>
          <a:p>
            <a:r>
              <a:rPr lang="fr-BF" dirty="0"/>
              <a:t>RÉFÉRENCES (3/3)</a:t>
            </a:r>
          </a:p>
        </p:txBody>
      </p:sp>
      <p:sp>
        <p:nvSpPr>
          <p:cNvPr id="4" name="Espace réservé du numéro de diapositive 3">
            <a:extLst>
              <a:ext uri="{FF2B5EF4-FFF2-40B4-BE49-F238E27FC236}">
                <a16:creationId xmlns:a16="http://schemas.microsoft.com/office/drawing/2014/main" id="{6A8162F5-8A22-221B-E03F-03864331A1B5}"/>
              </a:ext>
            </a:extLst>
          </p:cNvPr>
          <p:cNvSpPr>
            <a:spLocks noGrp="1"/>
          </p:cNvSpPr>
          <p:nvPr>
            <p:ph type="sldNum" sz="quarter" idx="12"/>
          </p:nvPr>
        </p:nvSpPr>
        <p:spPr/>
        <p:txBody>
          <a:bodyPr/>
          <a:lstStyle/>
          <a:p>
            <a:fld id="{4FAB73BC-B049-4115-A692-8D63A059BFB8}" type="slidenum">
              <a:rPr lang="en-US" smtClean="0"/>
              <a:t>19</a:t>
            </a:fld>
            <a:endParaRPr lang="en-US"/>
          </a:p>
        </p:txBody>
      </p:sp>
      <p:sp>
        <p:nvSpPr>
          <p:cNvPr id="5" name="Shape 3">
            <a:extLst>
              <a:ext uri="{FF2B5EF4-FFF2-40B4-BE49-F238E27FC236}">
                <a16:creationId xmlns:a16="http://schemas.microsoft.com/office/drawing/2014/main" id="{C64DD857-7501-C4A8-6B81-B237D646E07D}"/>
              </a:ext>
            </a:extLst>
          </p:cNvPr>
          <p:cNvSpPr/>
          <p:nvPr/>
        </p:nvSpPr>
        <p:spPr>
          <a:xfrm flipV="1">
            <a:off x="1069520" y="1559379"/>
            <a:ext cx="10768693" cy="66619"/>
          </a:xfrm>
          <a:prstGeom prst="rect">
            <a:avLst/>
          </a:prstGeom>
          <a:solidFill>
            <a:schemeClr val="accent2"/>
          </a:solidFill>
          <a:ln>
            <a:solidFill>
              <a:schemeClr val="accent1"/>
            </a:solidFill>
          </a:ln>
        </p:spPr>
        <p:txBody>
          <a:bodyPr/>
          <a:lstStyle/>
          <a:p>
            <a:endParaRPr lang="fr-BF"/>
          </a:p>
        </p:txBody>
      </p:sp>
      <p:sp>
        <p:nvSpPr>
          <p:cNvPr id="3" name="Espace réservé du contenu 2">
            <a:extLst>
              <a:ext uri="{FF2B5EF4-FFF2-40B4-BE49-F238E27FC236}">
                <a16:creationId xmlns:a16="http://schemas.microsoft.com/office/drawing/2014/main" id="{39362F12-9EE7-0184-D8D4-264C721D7875}"/>
              </a:ext>
            </a:extLst>
          </p:cNvPr>
          <p:cNvSpPr>
            <a:spLocks noGrp="1"/>
          </p:cNvSpPr>
          <p:nvPr>
            <p:ph idx="1"/>
          </p:nvPr>
        </p:nvSpPr>
        <p:spPr>
          <a:xfrm>
            <a:off x="1069847" y="1718284"/>
            <a:ext cx="10768365" cy="4820167"/>
          </a:xfrm>
        </p:spPr>
        <p:txBody>
          <a:bodyPr>
            <a:normAutofit/>
          </a:bodyPr>
          <a:lstStyle/>
          <a:p>
            <a:pPr marL="0" indent="0" algn="just">
              <a:lnSpc>
                <a:spcPct val="150000"/>
              </a:lnSpc>
              <a:buNone/>
            </a:pPr>
            <a:r>
              <a:rPr lang="fr-FR" dirty="0"/>
              <a:t>﻿﻿﻿[10] R. F. </a:t>
            </a:r>
            <a:r>
              <a:rPr lang="fr-FR" dirty="0" err="1"/>
              <a:t>Ghani</a:t>
            </a:r>
            <a:r>
              <a:rPr lang="fr-FR" dirty="0"/>
              <a:t>, A. A. S. Al-</a:t>
            </a:r>
            <a:r>
              <a:rPr lang="fr-FR" dirty="0" err="1"/>
              <a:t>Karkhi</a:t>
            </a:r>
            <a:r>
              <a:rPr lang="fr-FR" dirty="0"/>
              <a:t>, and S. M. Mahdi, “</a:t>
            </a:r>
            <a:r>
              <a:rPr lang="fr-FR" dirty="0" err="1"/>
              <a:t>Proposed</a:t>
            </a:r>
            <a:r>
              <a:rPr lang="fr-FR" dirty="0"/>
              <a:t> </a:t>
            </a:r>
            <a:r>
              <a:rPr lang="fr-FR" dirty="0" err="1"/>
              <a:t>framework</a:t>
            </a:r>
            <a:r>
              <a:rPr lang="fr-FR" dirty="0"/>
              <a:t> for official document sharing and </a:t>
            </a:r>
            <a:r>
              <a:rPr lang="fr-FR" dirty="0" err="1"/>
              <a:t>verification</a:t>
            </a:r>
            <a:r>
              <a:rPr lang="fr-FR" dirty="0"/>
              <a:t> in e-</a:t>
            </a:r>
            <a:r>
              <a:rPr lang="fr-FR" dirty="0" err="1"/>
              <a:t>government</a:t>
            </a:r>
            <a:r>
              <a:rPr lang="fr-FR" dirty="0"/>
              <a:t> </a:t>
            </a:r>
            <a:r>
              <a:rPr lang="fr-FR" dirty="0" err="1"/>
              <a:t>environment</a:t>
            </a:r>
            <a:r>
              <a:rPr lang="fr-FR" dirty="0"/>
              <a:t> </a:t>
            </a:r>
            <a:r>
              <a:rPr lang="fr-FR" dirty="0" err="1"/>
              <a:t>based</a:t>
            </a:r>
            <a:r>
              <a:rPr lang="fr-FR" dirty="0"/>
              <a:t> on blockchain </a:t>
            </a:r>
            <a:r>
              <a:rPr lang="fr-FR" dirty="0" err="1"/>
              <a:t>technology</a:t>
            </a:r>
            <a:r>
              <a:rPr lang="fr-FR" dirty="0"/>
              <a:t>,” </a:t>
            </a:r>
            <a:r>
              <a:rPr lang="fr-FR" dirty="0" err="1"/>
              <a:t>Baghdad</a:t>
            </a:r>
            <a:r>
              <a:rPr lang="fr-FR" dirty="0"/>
              <a:t> Science Journal, vol. 19, no. 6, p. 45, 2022.</a:t>
            </a:r>
          </a:p>
          <a:p>
            <a:pPr marL="0" indent="0" algn="just">
              <a:lnSpc>
                <a:spcPct val="150000"/>
              </a:lnSpc>
              <a:buNone/>
            </a:pPr>
            <a:r>
              <a:rPr lang="fr-FR" dirty="0"/>
              <a:t>[11] I. </a:t>
            </a:r>
            <a:r>
              <a:rPr lang="fr-FR" dirty="0" err="1"/>
              <a:t>Meirobie</a:t>
            </a:r>
            <a:r>
              <a:rPr lang="fr-FR" dirty="0"/>
              <a:t>, A. P. </a:t>
            </a:r>
            <a:r>
              <a:rPr lang="fr-FR" dirty="0" err="1"/>
              <a:t>Irawan</a:t>
            </a:r>
            <a:r>
              <a:rPr lang="fr-FR" dirty="0"/>
              <a:t>, H. </a:t>
            </a:r>
            <a:r>
              <a:rPr lang="fr-FR" dirty="0" err="1"/>
              <a:t>T</a:t>
            </a:r>
            <a:r>
              <a:rPr lang="fr-FR" dirty="0"/>
              <a:t>. </a:t>
            </a:r>
            <a:r>
              <a:rPr lang="fr-FR" dirty="0" err="1"/>
              <a:t>Sukmana</a:t>
            </a:r>
            <a:r>
              <a:rPr lang="fr-FR" dirty="0"/>
              <a:t>, D. P. </a:t>
            </a:r>
            <a:r>
              <a:rPr lang="fr-FR" dirty="0" err="1"/>
              <a:t>Lazirkha</a:t>
            </a:r>
            <a:r>
              <a:rPr lang="fr-FR" dirty="0"/>
              <a:t>, and N. P. L. </a:t>
            </a:r>
            <a:r>
              <a:rPr lang="fr-FR" dirty="0" err="1"/>
              <a:t>Santoso</a:t>
            </a:r>
            <a:r>
              <a:rPr lang="fr-FR" dirty="0"/>
              <a:t>, “Framework </a:t>
            </a:r>
            <a:r>
              <a:rPr lang="fr-FR" dirty="0" err="1"/>
              <a:t>authentication</a:t>
            </a:r>
            <a:r>
              <a:rPr lang="fr-FR" dirty="0"/>
              <a:t> e-document </a:t>
            </a:r>
            <a:r>
              <a:rPr lang="fr-FR" dirty="0" err="1"/>
              <a:t>using</a:t>
            </a:r>
            <a:r>
              <a:rPr lang="fr-FR" dirty="0"/>
              <a:t> blockchain </a:t>
            </a:r>
            <a:r>
              <a:rPr lang="fr-FR" dirty="0" err="1"/>
              <a:t>technology</a:t>
            </a:r>
            <a:r>
              <a:rPr lang="fr-FR" dirty="0"/>
              <a:t> on the </a:t>
            </a:r>
            <a:r>
              <a:rPr lang="fr-FR" dirty="0" err="1"/>
              <a:t>government</a:t>
            </a:r>
            <a:r>
              <a:rPr lang="fr-FR" dirty="0"/>
              <a:t> system,” International Journal of </a:t>
            </a:r>
            <a:r>
              <a:rPr lang="fr-FR" dirty="0" err="1"/>
              <a:t>Artificial</a:t>
            </a:r>
            <a:r>
              <a:rPr lang="fr-FR" dirty="0"/>
              <a:t> Intelligence </a:t>
            </a:r>
            <a:r>
              <a:rPr lang="fr-FR" dirty="0" err="1"/>
              <a:t>Research</a:t>
            </a:r>
            <a:r>
              <a:rPr lang="fr-FR" dirty="0"/>
              <a:t>, vol. 6, no. 2, pp. 2579–7298, 2022.</a:t>
            </a:r>
          </a:p>
          <a:p>
            <a:pPr marL="0" indent="0" algn="just">
              <a:lnSpc>
                <a:spcPct val="150000"/>
              </a:lnSpc>
              <a:buNone/>
            </a:pPr>
            <a:r>
              <a:rPr lang="fr-FR" dirty="0"/>
              <a:t>[12] P. Mishra and R. Ganesan, “</a:t>
            </a:r>
            <a:r>
              <a:rPr lang="fr-FR" dirty="0" err="1"/>
              <a:t>Securing</a:t>
            </a:r>
            <a:r>
              <a:rPr lang="fr-FR" dirty="0"/>
              <a:t> e-</a:t>
            </a:r>
            <a:r>
              <a:rPr lang="fr-FR" dirty="0" err="1"/>
              <a:t>governance</a:t>
            </a:r>
            <a:r>
              <a:rPr lang="fr-FR" dirty="0"/>
              <a:t>: A blockchain-</a:t>
            </a:r>
            <a:r>
              <a:rPr lang="fr-FR" dirty="0" err="1"/>
              <a:t>based</a:t>
            </a:r>
            <a:r>
              <a:rPr lang="fr-FR" dirty="0"/>
              <a:t> </a:t>
            </a:r>
            <a:r>
              <a:rPr lang="fr-FR" dirty="0" err="1"/>
              <a:t>framework</a:t>
            </a:r>
            <a:r>
              <a:rPr lang="fr-FR" dirty="0"/>
              <a:t> for </a:t>
            </a:r>
            <a:r>
              <a:rPr lang="fr-FR" dirty="0" err="1"/>
              <a:t>tamper</a:t>
            </a:r>
            <a:r>
              <a:rPr lang="fr-FR" dirty="0"/>
              <a:t>-proof </a:t>
            </a:r>
            <a:r>
              <a:rPr lang="fr-FR" dirty="0" err="1"/>
              <a:t>pdf</a:t>
            </a:r>
            <a:r>
              <a:rPr lang="fr-FR" dirty="0"/>
              <a:t> document exchange,” </a:t>
            </a:r>
            <a:r>
              <a:rPr lang="fr-FR" dirty="0" err="1"/>
              <a:t>Frontiers</a:t>
            </a:r>
            <a:r>
              <a:rPr lang="fr-FR" dirty="0"/>
              <a:t> in Blockchain, vol. 8, p. 1 699 773, 2025.</a:t>
            </a:r>
            <a:endParaRPr lang="fr-BF" dirty="0"/>
          </a:p>
        </p:txBody>
      </p:sp>
    </p:spTree>
    <p:extLst>
      <p:ext uri="{BB962C8B-B14F-4D97-AF65-F5344CB8AC3E}">
        <p14:creationId xmlns:p14="http://schemas.microsoft.com/office/powerpoint/2010/main" val="23635758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ype de bois">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Type de bois</Template>
  <TotalTime>3884</TotalTime>
  <Words>1840</Words>
  <Application>Microsoft Macintosh PowerPoint</Application>
  <PresentationFormat>Grand écran</PresentationFormat>
  <Paragraphs>173</Paragraphs>
  <Slides>19</Slides>
  <Notes>16</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19</vt:i4>
      </vt:variant>
    </vt:vector>
  </HeadingPairs>
  <TitlesOfParts>
    <vt:vector size="26" baseType="lpstr">
      <vt:lpstr>Aptos</vt:lpstr>
      <vt:lpstr>Calibri</vt:lpstr>
      <vt:lpstr>Rockwell</vt:lpstr>
      <vt:lpstr>Rockwell Condensed</vt:lpstr>
      <vt:lpstr>Rockwell Extra Bold</vt:lpstr>
      <vt:lpstr>Wingdings</vt:lpstr>
      <vt:lpstr>Type de bois</vt:lpstr>
      <vt:lpstr>Sécurisation de documents administratifs à l’aide de la technologie blockchain</vt:lpstr>
      <vt:lpstr>Plan</vt:lpstr>
      <vt:lpstr>CONTEXTE</vt:lpstr>
      <vt:lpstr>CONTEXTE</vt:lpstr>
      <vt:lpstr>II. problématique</vt:lpstr>
      <vt:lpstr>III. objectifs</vt:lpstr>
      <vt:lpstr>III. objectifs</vt:lpstr>
      <vt:lpstr>IV. ÉTAT DE L’art (1/3)</vt:lpstr>
      <vt:lpstr>IV. ÉTAT DE L’art (2/3)</vt:lpstr>
      <vt:lpstr>IV. ÉTAT DE L’art (3/3)</vt:lpstr>
      <vt:lpstr>V. RÉSULTATS</vt:lpstr>
      <vt:lpstr>V. RÉSULTATS</vt:lpstr>
      <vt:lpstr>V. RÉSULTATS</vt:lpstr>
      <vt:lpstr>VI. Perspectives. </vt:lpstr>
      <vt:lpstr>VII. Chronogramme</vt:lpstr>
      <vt:lpstr>Merci.</vt:lpstr>
      <vt:lpstr>RÉFÉRENCES (1/3)</vt:lpstr>
      <vt:lpstr>RÉFÉRENCES (2/3)</vt:lpstr>
      <vt:lpstr>RÉFÉRENCES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Sécurisation de documents administratifs à l’aide de la technologie blockchain</dc:title>
  <dc:creator>ADMIN</dc:creator>
  <cp:lastModifiedBy>ADMIN</cp:lastModifiedBy>
  <cp:revision>290</cp:revision>
  <dcterms:created xsi:type="dcterms:W3CDTF">2026-05-13T14:49:47Z</dcterms:created>
  <dcterms:modified xsi:type="dcterms:W3CDTF">2026-07-17T04:51:01Z</dcterms:modified>
</cp:coreProperties>
</file>