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1"/>
  </p:sldMasterIdLst>
  <p:notesMasterIdLst>
    <p:notesMasterId r:id="rId17"/>
  </p:notesMasterIdLst>
  <p:sldIdLst>
    <p:sldId id="256" r:id="rId2"/>
    <p:sldId id="286" r:id="rId3"/>
    <p:sldId id="287" r:id="rId4"/>
    <p:sldId id="288" r:id="rId5"/>
    <p:sldId id="289" r:id="rId6"/>
    <p:sldId id="290" r:id="rId7"/>
    <p:sldId id="291" r:id="rId8"/>
    <p:sldId id="292" r:id="rId9"/>
    <p:sldId id="293" r:id="rId10"/>
    <p:sldId id="294" r:id="rId11"/>
    <p:sldId id="300" r:id="rId12"/>
    <p:sldId id="297" r:id="rId13"/>
    <p:sldId id="295" r:id="rId14"/>
    <p:sldId id="296" r:id="rId15"/>
    <p:sldId id="299"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B8B9B5CD-20A2-4FBB-B16F-C928C662C356}">
          <p14:sldIdLst>
            <p14:sldId id="256"/>
            <p14:sldId id="286"/>
            <p14:sldId id="287"/>
            <p14:sldId id="288"/>
            <p14:sldId id="289"/>
            <p14:sldId id="290"/>
            <p14:sldId id="291"/>
            <p14:sldId id="292"/>
            <p14:sldId id="293"/>
            <p14:sldId id="294"/>
            <p14:sldId id="300"/>
            <p14:sldId id="297"/>
            <p14:sldId id="295"/>
            <p14:sldId id="296"/>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344"/>
    <p:restoredTop sz="78919"/>
  </p:normalViewPr>
  <p:slideViewPr>
    <p:cSldViewPr snapToGrid="0">
      <p:cViewPr varScale="1">
        <p:scale>
          <a:sx n="130" d="100"/>
          <a:sy n="130" d="100"/>
        </p:scale>
        <p:origin x="1800"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A05C07-07F7-43C6-BEE1-85621C190CAF}" type="datetimeFigureOut">
              <a:rPr lang="fr-FR" smtClean="0"/>
              <a:t>19/03/2026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BDFB7E-2474-4A9F-8B05-9F791A42A9D2}" type="slidenum">
              <a:rPr lang="fr-FR" smtClean="0"/>
              <a:t>‹N°›</a:t>
            </a:fld>
            <a:endParaRPr lang="fr-FR"/>
          </a:p>
        </p:txBody>
      </p:sp>
    </p:spTree>
    <p:extLst>
      <p:ext uri="{BB962C8B-B14F-4D97-AF65-F5344CB8AC3E}">
        <p14:creationId xmlns:p14="http://schemas.microsoft.com/office/powerpoint/2010/main" val="959478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8BDFB7E-2474-4A9F-8B05-9F791A42A9D2}" type="slidenum">
              <a:rPr lang="fr-FR" smtClean="0"/>
              <a:t>1</a:t>
            </a:fld>
            <a:endParaRPr lang="fr-FR"/>
          </a:p>
        </p:txBody>
      </p:sp>
    </p:spTree>
    <p:extLst>
      <p:ext uri="{BB962C8B-B14F-4D97-AF65-F5344CB8AC3E}">
        <p14:creationId xmlns:p14="http://schemas.microsoft.com/office/powerpoint/2010/main" val="2426794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F" dirty="0"/>
          </a:p>
        </p:txBody>
      </p:sp>
      <p:sp>
        <p:nvSpPr>
          <p:cNvPr id="4" name="Espace réservé du numéro de diapositive 3"/>
          <p:cNvSpPr>
            <a:spLocks noGrp="1"/>
          </p:cNvSpPr>
          <p:nvPr>
            <p:ph type="sldNum" sz="quarter" idx="5"/>
          </p:nvPr>
        </p:nvSpPr>
        <p:spPr/>
        <p:txBody>
          <a:bodyPr/>
          <a:lstStyle/>
          <a:p>
            <a:fld id="{38BDFB7E-2474-4A9F-8B05-9F791A42A9D2}" type="slidenum">
              <a:rPr lang="fr-FR" smtClean="0"/>
              <a:t>2</a:t>
            </a:fld>
            <a:endParaRPr lang="fr-FR"/>
          </a:p>
        </p:txBody>
      </p:sp>
    </p:spTree>
    <p:extLst>
      <p:ext uri="{BB962C8B-B14F-4D97-AF65-F5344CB8AC3E}">
        <p14:creationId xmlns:p14="http://schemas.microsoft.com/office/powerpoint/2010/main" val="2148008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F" dirty="0"/>
              <a:t>Nous sommes dans un contexte de révolution numérique basée notamment sur l'IA. </a:t>
            </a:r>
          </a:p>
          <a:p>
            <a:r>
              <a:rPr lang="fr-BF" dirty="0"/>
              <a:t>Mais très malheureusement, nous subissons des revers dûs à l'utilisation souvent malsaine de cette IA. </a:t>
            </a:r>
          </a:p>
          <a:p>
            <a:r>
              <a:rPr lang="fr-BF" dirty="0"/>
              <a:t>Par exemple, il n'est pas rare de voir sur l'espace public numérique, des images ou vidéos qui sont fausses.</a:t>
            </a:r>
          </a:p>
          <a:p>
            <a:r>
              <a:rPr lang="fr-BF" dirty="0"/>
              <a:t>A l'instar donc de ces fausses vidéos, il y a également un phénomène actuellement grandissant de falsification documentaire sur ces réseaux sociaux (voir des cas repertoriés dans notre mémoire et même plus recents qui ont fait l’objet de démentis).</a:t>
            </a:r>
          </a:p>
        </p:txBody>
      </p:sp>
      <p:sp>
        <p:nvSpPr>
          <p:cNvPr id="4" name="Espace réservé du numéro de diapositive 3"/>
          <p:cNvSpPr>
            <a:spLocks noGrp="1"/>
          </p:cNvSpPr>
          <p:nvPr>
            <p:ph type="sldNum" sz="quarter" idx="5"/>
          </p:nvPr>
        </p:nvSpPr>
        <p:spPr/>
        <p:txBody>
          <a:bodyPr/>
          <a:lstStyle/>
          <a:p>
            <a:fld id="{38BDFB7E-2474-4A9F-8B05-9F791A42A9D2}" type="slidenum">
              <a:rPr lang="fr-FR" smtClean="0"/>
              <a:t>3</a:t>
            </a:fld>
            <a:endParaRPr lang="fr-FR"/>
          </a:p>
        </p:txBody>
      </p:sp>
    </p:spTree>
    <p:extLst>
      <p:ext uri="{BB962C8B-B14F-4D97-AF65-F5344CB8AC3E}">
        <p14:creationId xmlns:p14="http://schemas.microsoft.com/office/powerpoint/2010/main" val="1642820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2000" dirty="0"/>
              <a:t>Fonctionnement admin : </a:t>
            </a:r>
            <a:r>
              <a:rPr lang="fr-FR" sz="2000" kern="1200" dirty="0">
                <a:solidFill>
                  <a:schemeClr val="tx1"/>
                </a:solidFill>
                <a:effectLst/>
                <a:latin typeface="+mn-lt"/>
                <a:ea typeface="+mn-ea"/>
                <a:cs typeface="+mn-cs"/>
              </a:rPr>
              <a:t>Cette règle permet d’avoir des preuves d'engagement, un socle d'exercice de droits, des supports de traçabilité et de planification au profit de l'administration et des usagers</a:t>
            </a:r>
            <a:r>
              <a:rPr lang="fr-BF" sz="2000" dirty="0">
                <a:effectLst/>
              </a:rPr>
              <a:t> </a:t>
            </a:r>
            <a:endParaRPr lang="fr-BF" sz="2000" dirty="0"/>
          </a:p>
        </p:txBody>
      </p:sp>
      <p:sp>
        <p:nvSpPr>
          <p:cNvPr id="4" name="Espace réservé du numéro de diapositive 3"/>
          <p:cNvSpPr>
            <a:spLocks noGrp="1"/>
          </p:cNvSpPr>
          <p:nvPr>
            <p:ph type="sldNum" sz="quarter" idx="5"/>
          </p:nvPr>
        </p:nvSpPr>
        <p:spPr/>
        <p:txBody>
          <a:bodyPr/>
          <a:lstStyle/>
          <a:p>
            <a:fld id="{38BDFB7E-2474-4A9F-8B05-9F791A42A9D2}" type="slidenum">
              <a:rPr lang="fr-FR" smtClean="0"/>
              <a:t>4</a:t>
            </a:fld>
            <a:endParaRPr lang="fr-FR"/>
          </a:p>
        </p:txBody>
      </p:sp>
    </p:spTree>
    <p:extLst>
      <p:ext uri="{BB962C8B-B14F-4D97-AF65-F5344CB8AC3E}">
        <p14:creationId xmlns:p14="http://schemas.microsoft.com/office/powerpoint/2010/main" val="4036823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BEBB6-6C9E-A5DD-4506-F180C03420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DA490E-B653-5943-3214-120AFEBFCFF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54762AF-EF21-804C-9C3E-DDFAFB8AAAB1}"/>
              </a:ext>
            </a:extLst>
          </p:cNvPr>
          <p:cNvSpPr>
            <a:spLocks noGrp="1"/>
          </p:cNvSpPr>
          <p:nvPr>
            <p:ph type="body" idx="1"/>
          </p:nvPr>
        </p:nvSpPr>
        <p:spPr/>
        <p:txBody>
          <a:bodyPr/>
          <a:lstStyle/>
          <a:p>
            <a:r>
              <a:rPr lang="fr-BF" sz="2000" dirty="0"/>
              <a:t>Les efforts du gouvernement sont limités car en plus de ces conséquences, il ya : </a:t>
            </a:r>
            <a:r>
              <a:rPr lang="fr-FR" sz="1200" kern="1200" dirty="0">
                <a:solidFill>
                  <a:schemeClr val="tx1"/>
                </a:solidFill>
                <a:effectLst/>
                <a:latin typeface="+mn-lt"/>
                <a:ea typeface="+mn-ea"/>
                <a:cs typeface="+mn-cs"/>
              </a:rPr>
              <a:t>les potentielles allégeances ou complaisances dues naturellement à l’émotion humaine dans le dispositif et qui pourraient constitué un biais dans les résultats d’authentification ;</a:t>
            </a:r>
            <a:endParaRPr lang="fr-BF"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3933B111-D0F5-2DE6-877A-4136875E4210}"/>
              </a:ext>
            </a:extLst>
          </p:cNvPr>
          <p:cNvSpPr>
            <a:spLocks noGrp="1"/>
          </p:cNvSpPr>
          <p:nvPr>
            <p:ph type="sldNum" sz="quarter" idx="5"/>
          </p:nvPr>
        </p:nvSpPr>
        <p:spPr/>
        <p:txBody>
          <a:bodyPr/>
          <a:lstStyle/>
          <a:p>
            <a:fld id="{38BDFB7E-2474-4A9F-8B05-9F791A42A9D2}" type="slidenum">
              <a:rPr lang="fr-FR" smtClean="0"/>
              <a:t>5</a:t>
            </a:fld>
            <a:endParaRPr lang="fr-FR"/>
          </a:p>
        </p:txBody>
      </p:sp>
    </p:spTree>
    <p:extLst>
      <p:ext uri="{BB962C8B-B14F-4D97-AF65-F5344CB8AC3E}">
        <p14:creationId xmlns:p14="http://schemas.microsoft.com/office/powerpoint/2010/main" val="1008584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92972-107F-4A2B-F44C-A51087CCCED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F6F12EF-866D-893E-0991-5FBB21F2EDE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4A44D52-3D5E-DAC6-525B-979619DBD079}"/>
              </a:ext>
            </a:extLst>
          </p:cNvPr>
          <p:cNvSpPr>
            <a:spLocks noGrp="1"/>
          </p:cNvSpPr>
          <p:nvPr>
            <p:ph type="body" idx="1"/>
          </p:nvPr>
        </p:nvSpPr>
        <p:spPr/>
        <p:txBody>
          <a:bodyPr/>
          <a:lstStyle/>
          <a:p>
            <a:r>
              <a:rPr lang="fr-FR" sz="2000" dirty="0"/>
              <a:t>...partagée entre les participants…....</a:t>
            </a:r>
          </a:p>
          <a:p>
            <a:endParaRPr lang="fr-FR" sz="2000" dirty="0"/>
          </a:p>
          <a:p>
            <a:r>
              <a:rPr lang="fr-FR" sz="2000" dirty="0"/>
              <a:t>Chaque bloc de données est cryptographiquement lié au précédent, formant une chaîne infalsifiable. Cette architecture décentralisée assure la confiance et l'intégrité des informations, éliminant le besoin d'une tierce partie de confiance.</a:t>
            </a:r>
          </a:p>
          <a:p>
            <a:endParaRPr lang="fr-FR" sz="2000" dirty="0"/>
          </a:p>
          <a:p>
            <a:r>
              <a:rPr lang="fr-FR" sz="2000" dirty="0"/>
              <a:t>…défaillance d'un point central……..</a:t>
            </a:r>
          </a:p>
          <a:p>
            <a:endParaRPr lang="fr-FR" sz="2000" dirty="0"/>
          </a:p>
          <a:p>
            <a:r>
              <a:rPr lang="fr-FR" sz="2000" dirty="0"/>
              <a:t>Ainsi, une question fondamentale se dégage : </a:t>
            </a:r>
          </a:p>
        </p:txBody>
      </p:sp>
      <p:sp>
        <p:nvSpPr>
          <p:cNvPr id="4" name="Espace réservé du numéro de diapositive 3">
            <a:extLst>
              <a:ext uri="{FF2B5EF4-FFF2-40B4-BE49-F238E27FC236}">
                <a16:creationId xmlns:a16="http://schemas.microsoft.com/office/drawing/2014/main" id="{B0979B1F-5768-6A21-D9D8-2BAEBB68D84A}"/>
              </a:ext>
            </a:extLst>
          </p:cNvPr>
          <p:cNvSpPr>
            <a:spLocks noGrp="1"/>
          </p:cNvSpPr>
          <p:nvPr>
            <p:ph type="sldNum" sz="quarter" idx="5"/>
          </p:nvPr>
        </p:nvSpPr>
        <p:spPr/>
        <p:txBody>
          <a:bodyPr/>
          <a:lstStyle/>
          <a:p>
            <a:fld id="{38BDFB7E-2474-4A9F-8B05-9F791A42A9D2}" type="slidenum">
              <a:rPr lang="fr-FR" smtClean="0"/>
              <a:t>6</a:t>
            </a:fld>
            <a:endParaRPr lang="fr-FR"/>
          </a:p>
        </p:txBody>
      </p:sp>
    </p:spTree>
    <p:extLst>
      <p:ext uri="{BB962C8B-B14F-4D97-AF65-F5344CB8AC3E}">
        <p14:creationId xmlns:p14="http://schemas.microsoft.com/office/powerpoint/2010/main" val="3581012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0FFAC-3F6C-2973-AA81-D1059D04755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FB32B87-8EA7-6BCD-D7D4-65DA31DEC1E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B7DDE3B-B9D1-14C7-B20B-281EA2D7CA29}"/>
              </a:ext>
            </a:extLst>
          </p:cNvPr>
          <p:cNvSpPr>
            <a:spLocks noGrp="1"/>
          </p:cNvSpPr>
          <p:nvPr>
            <p:ph type="body" idx="1"/>
          </p:nvPr>
        </p:nvSpPr>
        <p:spPr/>
        <p:txBody>
          <a:bodyPr/>
          <a:lstStyle/>
          <a:p>
            <a:r>
              <a:rPr lang="fr-FR" sz="1100" dirty="0"/>
              <a:t>Donc en résumé, ce sujet de </a:t>
            </a:r>
            <a:r>
              <a:rPr lang="fr-FR" sz="2000" dirty="0"/>
              <a:t>thèse s'inscrit dans le contexte émergent de l'utilisation des blockchains pour sécuriser</a:t>
            </a:r>
          </a:p>
          <a:p>
            <a:r>
              <a:rPr lang="fr-FR" sz="2000" dirty="0"/>
              <a:t>les documents administratifs. Il explore comment cette technologie peut renforcer la sécurité, la gestion des accès</a:t>
            </a:r>
          </a:p>
          <a:p>
            <a:r>
              <a:rPr lang="fr-FR" sz="2000" dirty="0"/>
              <a:t>et la traçabilité contribuant ainsi à </a:t>
            </a:r>
            <a:r>
              <a:rPr lang="fr-FR" sz="1100" dirty="0"/>
              <a:t>créer des environnements plus fiables et résilients</a:t>
            </a:r>
          </a:p>
          <a:p>
            <a:r>
              <a:rPr lang="fr-FR" sz="1100" dirty="0"/>
              <a:t>pour le stockage, le traitement et la diffusion des documents administratifs à grande échelle.</a:t>
            </a:r>
            <a:endParaRPr lang="fr-BF" sz="1100" dirty="0"/>
          </a:p>
        </p:txBody>
      </p:sp>
      <p:sp>
        <p:nvSpPr>
          <p:cNvPr id="4" name="Espace réservé du numéro de diapositive 3">
            <a:extLst>
              <a:ext uri="{FF2B5EF4-FFF2-40B4-BE49-F238E27FC236}">
                <a16:creationId xmlns:a16="http://schemas.microsoft.com/office/drawing/2014/main" id="{6C3EB5D7-61C5-14B2-E865-C34E196B11F7}"/>
              </a:ext>
            </a:extLst>
          </p:cNvPr>
          <p:cNvSpPr>
            <a:spLocks noGrp="1"/>
          </p:cNvSpPr>
          <p:nvPr>
            <p:ph type="sldNum" sz="quarter" idx="5"/>
          </p:nvPr>
        </p:nvSpPr>
        <p:spPr/>
        <p:txBody>
          <a:bodyPr/>
          <a:lstStyle/>
          <a:p>
            <a:fld id="{38BDFB7E-2474-4A9F-8B05-9F791A42A9D2}" type="slidenum">
              <a:rPr lang="fr-FR" smtClean="0"/>
              <a:t>7</a:t>
            </a:fld>
            <a:endParaRPr lang="fr-FR"/>
          </a:p>
        </p:txBody>
      </p:sp>
    </p:spTree>
    <p:extLst>
      <p:ext uri="{BB962C8B-B14F-4D97-AF65-F5344CB8AC3E}">
        <p14:creationId xmlns:p14="http://schemas.microsoft.com/office/powerpoint/2010/main" val="854551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BCEC-6897-2C1A-E574-B8E3830D7F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79E0C67-3D58-131B-F2B8-B52AC195DE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0A60D6C-AF6A-969F-2209-146AE5747AA3}"/>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0D66F7FE-88DF-5637-CE54-CA10A51F46D9}"/>
              </a:ext>
            </a:extLst>
          </p:cNvPr>
          <p:cNvSpPr>
            <a:spLocks noGrp="1"/>
          </p:cNvSpPr>
          <p:nvPr>
            <p:ph type="sldNum" sz="quarter" idx="5"/>
          </p:nvPr>
        </p:nvSpPr>
        <p:spPr/>
        <p:txBody>
          <a:bodyPr/>
          <a:lstStyle/>
          <a:p>
            <a:fld id="{38BDFB7E-2474-4A9F-8B05-9F791A42A9D2}" type="slidenum">
              <a:rPr lang="fr-FR" smtClean="0"/>
              <a:t>8</a:t>
            </a:fld>
            <a:endParaRPr lang="fr-FR"/>
          </a:p>
        </p:txBody>
      </p:sp>
    </p:spTree>
    <p:extLst>
      <p:ext uri="{BB962C8B-B14F-4D97-AF65-F5344CB8AC3E}">
        <p14:creationId xmlns:p14="http://schemas.microsoft.com/office/powerpoint/2010/main" val="3433628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595C4-5B4C-6242-40A9-908E4AD1DAE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ED828E3-51B1-F3F8-C7E0-17351A3DEB6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EDBEB82-4F14-2A50-D91F-61D78271C236}"/>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7768D7A0-B6C4-1ED1-9F32-FBEE06C3E870}"/>
              </a:ext>
            </a:extLst>
          </p:cNvPr>
          <p:cNvSpPr>
            <a:spLocks noGrp="1"/>
          </p:cNvSpPr>
          <p:nvPr>
            <p:ph type="sldNum" sz="quarter" idx="5"/>
          </p:nvPr>
        </p:nvSpPr>
        <p:spPr/>
        <p:txBody>
          <a:bodyPr/>
          <a:lstStyle/>
          <a:p>
            <a:fld id="{38BDFB7E-2474-4A9F-8B05-9F791A42A9D2}" type="slidenum">
              <a:rPr lang="fr-FR" smtClean="0"/>
              <a:t>9</a:t>
            </a:fld>
            <a:endParaRPr lang="fr-FR"/>
          </a:p>
        </p:txBody>
      </p:sp>
    </p:spTree>
    <p:extLst>
      <p:ext uri="{BB962C8B-B14F-4D97-AF65-F5344CB8AC3E}">
        <p14:creationId xmlns:p14="http://schemas.microsoft.com/office/powerpoint/2010/main" val="1682142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48611-3D68-0506-0D5C-50E44AF5052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0FF988-5765-B4E8-8C6F-392BBFCA2C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5959067-77E5-F361-4C57-FF94BE77C7FF}"/>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2EE0C41E-DE05-BC4B-6914-ECBD8E85B034}"/>
              </a:ext>
            </a:extLst>
          </p:cNvPr>
          <p:cNvSpPr>
            <a:spLocks noGrp="1"/>
          </p:cNvSpPr>
          <p:nvPr>
            <p:ph type="sldNum" sz="quarter" idx="5"/>
          </p:nvPr>
        </p:nvSpPr>
        <p:spPr/>
        <p:txBody>
          <a:bodyPr/>
          <a:lstStyle/>
          <a:p>
            <a:fld id="{38BDFB7E-2474-4A9F-8B05-9F791A42A9D2}" type="slidenum">
              <a:rPr lang="fr-FR" smtClean="0"/>
              <a:t>10</a:t>
            </a:fld>
            <a:endParaRPr lang="fr-FR"/>
          </a:p>
        </p:txBody>
      </p:sp>
    </p:spTree>
    <p:extLst>
      <p:ext uri="{BB962C8B-B14F-4D97-AF65-F5344CB8AC3E}">
        <p14:creationId xmlns:p14="http://schemas.microsoft.com/office/powerpoint/2010/main" val="2199832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C5057-CE9C-380E-F069-AA6D76318F6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4AA033-00AF-74B1-5ED3-0274C1051CF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B0B0D70-B308-DBC9-4915-5133BD189459}"/>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B6C228EC-5D02-EC02-5194-F210108927D0}"/>
              </a:ext>
            </a:extLst>
          </p:cNvPr>
          <p:cNvSpPr>
            <a:spLocks noGrp="1"/>
          </p:cNvSpPr>
          <p:nvPr>
            <p:ph type="sldNum" sz="quarter" idx="5"/>
          </p:nvPr>
        </p:nvSpPr>
        <p:spPr/>
        <p:txBody>
          <a:bodyPr/>
          <a:lstStyle/>
          <a:p>
            <a:fld id="{38BDFB7E-2474-4A9F-8B05-9F791A42A9D2}" type="slidenum">
              <a:rPr lang="fr-FR" smtClean="0"/>
              <a:t>11</a:t>
            </a:fld>
            <a:endParaRPr lang="fr-FR"/>
          </a:p>
        </p:txBody>
      </p:sp>
    </p:spTree>
    <p:extLst>
      <p:ext uri="{BB962C8B-B14F-4D97-AF65-F5344CB8AC3E}">
        <p14:creationId xmlns:p14="http://schemas.microsoft.com/office/powerpoint/2010/main" val="268596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E13E2-B704-B7A0-1EEC-2C6D45E3F24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4380743-18DB-6BA4-6E5B-C69DFB83906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8C84776-60A8-E562-6141-B8D52E8C81DE}"/>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17F6EE71-1B11-39D7-F801-08174E656155}"/>
              </a:ext>
            </a:extLst>
          </p:cNvPr>
          <p:cNvSpPr>
            <a:spLocks noGrp="1"/>
          </p:cNvSpPr>
          <p:nvPr>
            <p:ph type="sldNum" sz="quarter" idx="5"/>
          </p:nvPr>
        </p:nvSpPr>
        <p:spPr/>
        <p:txBody>
          <a:bodyPr/>
          <a:lstStyle/>
          <a:p>
            <a:fld id="{38BDFB7E-2474-4A9F-8B05-9F791A42A9D2}" type="slidenum">
              <a:rPr lang="fr-FR" smtClean="0"/>
              <a:t>12</a:t>
            </a:fld>
            <a:endParaRPr lang="fr-FR"/>
          </a:p>
        </p:txBody>
      </p:sp>
    </p:spTree>
    <p:extLst>
      <p:ext uri="{BB962C8B-B14F-4D97-AF65-F5344CB8AC3E}">
        <p14:creationId xmlns:p14="http://schemas.microsoft.com/office/powerpoint/2010/main" val="3845949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06000-BE59-AEE0-FC51-543463FE75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C11B96-0CAF-C6EF-A738-95E39B94038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414C6FA-404F-EBA3-990D-A33CD3B0D1DA}"/>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84198D31-9D5F-F91B-08F8-DED45DCBECCF}"/>
              </a:ext>
            </a:extLst>
          </p:cNvPr>
          <p:cNvSpPr>
            <a:spLocks noGrp="1"/>
          </p:cNvSpPr>
          <p:nvPr>
            <p:ph type="sldNum" sz="quarter" idx="5"/>
          </p:nvPr>
        </p:nvSpPr>
        <p:spPr/>
        <p:txBody>
          <a:bodyPr/>
          <a:lstStyle/>
          <a:p>
            <a:fld id="{38BDFB7E-2474-4A9F-8B05-9F791A42A9D2}" type="slidenum">
              <a:rPr lang="fr-FR" smtClean="0"/>
              <a:t>13</a:t>
            </a:fld>
            <a:endParaRPr lang="fr-FR"/>
          </a:p>
        </p:txBody>
      </p:sp>
    </p:spTree>
    <p:extLst>
      <p:ext uri="{BB962C8B-B14F-4D97-AF65-F5344CB8AC3E}">
        <p14:creationId xmlns:p14="http://schemas.microsoft.com/office/powerpoint/2010/main" val="2556242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693C4-700E-AA92-5698-F634D016C0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A375AFE-7D9B-0344-7B49-5BD8B6CCE30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F08C150-883F-A9CD-BB73-1B5290369126}"/>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C324A37B-A69B-6523-1681-68836DFB3867}"/>
              </a:ext>
            </a:extLst>
          </p:cNvPr>
          <p:cNvSpPr>
            <a:spLocks noGrp="1"/>
          </p:cNvSpPr>
          <p:nvPr>
            <p:ph type="sldNum" sz="quarter" idx="5"/>
          </p:nvPr>
        </p:nvSpPr>
        <p:spPr/>
        <p:txBody>
          <a:bodyPr/>
          <a:lstStyle/>
          <a:p>
            <a:fld id="{38BDFB7E-2474-4A9F-8B05-9F791A42A9D2}" type="slidenum">
              <a:rPr lang="fr-FR" smtClean="0"/>
              <a:t>14</a:t>
            </a:fld>
            <a:endParaRPr lang="fr-FR"/>
          </a:p>
        </p:txBody>
      </p:sp>
    </p:spTree>
    <p:extLst>
      <p:ext uri="{BB962C8B-B14F-4D97-AF65-F5344CB8AC3E}">
        <p14:creationId xmlns:p14="http://schemas.microsoft.com/office/powerpoint/2010/main" val="134073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FC6FC-147F-E804-4318-12939283A7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3458E51-37ED-B21E-E7D2-7FEB7E8AFF5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5FAA3EA-411D-E363-0AAD-02E853881C7E}"/>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6B36F115-2C82-B09B-8E6A-540AAEBE7325}"/>
              </a:ext>
            </a:extLst>
          </p:cNvPr>
          <p:cNvSpPr>
            <a:spLocks noGrp="1"/>
          </p:cNvSpPr>
          <p:nvPr>
            <p:ph type="sldNum" sz="quarter" idx="5"/>
          </p:nvPr>
        </p:nvSpPr>
        <p:spPr/>
        <p:txBody>
          <a:bodyPr/>
          <a:lstStyle/>
          <a:p>
            <a:fld id="{38BDFB7E-2474-4A9F-8B05-9F791A42A9D2}" type="slidenum">
              <a:rPr lang="fr-FR" smtClean="0"/>
              <a:t>15</a:t>
            </a:fld>
            <a:endParaRPr lang="fr-FR"/>
          </a:p>
        </p:txBody>
      </p:sp>
    </p:spTree>
    <p:extLst>
      <p:ext uri="{BB962C8B-B14F-4D97-AF65-F5344CB8AC3E}">
        <p14:creationId xmlns:p14="http://schemas.microsoft.com/office/powerpoint/2010/main" val="3980183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EC0EB49C-4A5C-4C42-86D2-CCF5C3360F0F}"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8747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0EB49C-4A5C-4C42-86D2-CCF5C3360F0F}"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2180164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EC0EB49C-4A5C-4C42-86D2-CCF5C3360F0F}"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1228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C0EB49C-4A5C-4C42-86D2-CCF5C3360F0F}" type="datetimeFigureOut">
              <a:rPr lang="fr-FR" smtClean="0"/>
              <a:t>19/03/2026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2506933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C0EB49C-4A5C-4C42-86D2-CCF5C3360F0F}" type="datetimeFigureOut">
              <a:rPr lang="fr-FR" smtClean="0"/>
              <a:t>19/03/2026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2288098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C0EB49C-4A5C-4C42-86D2-CCF5C3360F0F}" type="datetimeFigureOut">
              <a:rPr lang="fr-FR" smtClean="0"/>
              <a:t>19/03/2026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2825002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C0EB49C-4A5C-4C42-86D2-CCF5C3360F0F}" type="datetimeFigureOut">
              <a:rPr lang="fr-FR" smtClean="0"/>
              <a:t>19/03/2026</a:t>
            </a:fld>
            <a:endParaRPr lang="fr-F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FR"/>
          </a:p>
        </p:txBody>
      </p:sp>
      <p:sp>
        <p:nvSpPr>
          <p:cNvPr id="9" name="Slide Number Placeholder 8"/>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3276932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C0EB49C-4A5C-4C42-86D2-CCF5C3360F0F}" type="datetimeFigureOut">
              <a:rPr lang="fr-FR" smtClean="0"/>
              <a:t>19/03/2026</a:t>
            </a:fld>
            <a:endParaRPr lang="fr-F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3690A59-903A-4567-BEC4-758CB98E2CB4}" type="slidenum">
              <a:rPr lang="fr-FR" smtClean="0"/>
              <a:t>‹N°›</a:t>
            </a:fld>
            <a:endParaRPr lang="fr-FR"/>
          </a:p>
        </p:txBody>
      </p:sp>
    </p:spTree>
    <p:extLst>
      <p:ext uri="{BB962C8B-B14F-4D97-AF65-F5344CB8AC3E}">
        <p14:creationId xmlns:p14="http://schemas.microsoft.com/office/powerpoint/2010/main" val="1670614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EC0EB49C-4A5C-4C42-86D2-CCF5C3360F0F}" type="datetimeFigureOut">
              <a:rPr lang="fr-FR" smtClean="0"/>
              <a:t>19/03/2026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1686665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0EB49C-4A5C-4C42-86D2-CCF5C3360F0F}"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356916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0EB49C-4A5C-4C42-86D2-CCF5C3360F0F}"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65329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C0EB49C-4A5C-4C42-86D2-CCF5C3360F0F}" type="datetimeFigureOut">
              <a:rPr lang="fr-FR" smtClean="0"/>
              <a:t>19/03/2026</a:t>
            </a:fld>
            <a:endParaRPr lang="fr-F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F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3690A59-903A-4567-BEC4-758CB98E2CB4}" type="slidenum">
              <a:rPr lang="fr-FR" smtClean="0"/>
              <a:t>‹N°›</a:t>
            </a:fld>
            <a:endParaRPr lang="fr-F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484886"/>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097280" y="1958272"/>
            <a:ext cx="10058400" cy="2366839"/>
          </a:xfrm>
        </p:spPr>
        <p:txBody>
          <a:bodyPr anchor="ctr">
            <a:noAutofit/>
          </a:bodyPr>
          <a:lstStyle/>
          <a:p>
            <a:pPr algn="ctr"/>
            <a:r>
              <a:rPr lang="fr-FR" sz="4400" b="1" dirty="0">
                <a:solidFill>
                  <a:srgbClr val="FF0000"/>
                </a:solidFill>
              </a:rPr>
              <a:t>Sécurisation de documents administratifs à l'aide de la technologie blockchain</a:t>
            </a:r>
          </a:p>
        </p:txBody>
      </p:sp>
      <p:sp>
        <p:nvSpPr>
          <p:cNvPr id="4" name="ZoneTexte 3"/>
          <p:cNvSpPr txBox="1"/>
          <p:nvPr/>
        </p:nvSpPr>
        <p:spPr>
          <a:xfrm>
            <a:off x="10471095" y="6006875"/>
            <a:ext cx="1586038" cy="338554"/>
          </a:xfrm>
          <a:prstGeom prst="rect">
            <a:avLst/>
          </a:prstGeom>
          <a:noFill/>
        </p:spPr>
        <p:txBody>
          <a:bodyPr wrap="square" rtlCol="0">
            <a:spAutoFit/>
          </a:bodyPr>
          <a:lstStyle/>
          <a:p>
            <a:pPr algn="r"/>
            <a:r>
              <a:rPr lang="fr-FR" sz="1600" dirty="0">
                <a:latin typeface="Agency FB" panose="020B0503020202020204" pitchFamily="34" charset="0"/>
              </a:rPr>
              <a:t>UNB, 19/03/2026</a:t>
            </a:r>
            <a:endParaRPr lang="en-US" sz="1600" dirty="0">
              <a:latin typeface="Agency FB" panose="020B0503020202020204" pitchFamily="34" charset="0"/>
            </a:endParaRPr>
          </a:p>
        </p:txBody>
      </p:sp>
      <p:sp>
        <p:nvSpPr>
          <p:cNvPr id="5" name="Sous-titre 2">
            <a:extLst>
              <a:ext uri="{FF2B5EF4-FFF2-40B4-BE49-F238E27FC236}">
                <a16:creationId xmlns:a16="http://schemas.microsoft.com/office/drawing/2014/main" id="{F7CF9B71-AEEE-141D-A49D-12313B074530}"/>
              </a:ext>
            </a:extLst>
          </p:cNvPr>
          <p:cNvSpPr txBox="1">
            <a:spLocks/>
          </p:cNvSpPr>
          <p:nvPr/>
        </p:nvSpPr>
        <p:spPr>
          <a:xfrm>
            <a:off x="1097280" y="4452024"/>
            <a:ext cx="9996901" cy="322277"/>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spcBef>
                <a:spcPts val="0"/>
              </a:spcBef>
              <a:spcAft>
                <a:spcPts val="0"/>
              </a:spcAft>
            </a:pPr>
            <a:r>
              <a:rPr lang="en-US" sz="1800" b="1" dirty="0"/>
              <a:t>HIEN Zilèdem Pierre Canisius</a:t>
            </a:r>
            <a:endParaRPr lang="fr-FR" sz="1800" b="1" dirty="0"/>
          </a:p>
        </p:txBody>
      </p:sp>
      <p:sp>
        <p:nvSpPr>
          <p:cNvPr id="7" name="ZoneTexte 6">
            <a:extLst>
              <a:ext uri="{FF2B5EF4-FFF2-40B4-BE49-F238E27FC236}">
                <a16:creationId xmlns:a16="http://schemas.microsoft.com/office/drawing/2014/main" id="{071CE8D2-70E1-0A71-07CB-9230C609A719}"/>
              </a:ext>
            </a:extLst>
          </p:cNvPr>
          <p:cNvSpPr txBox="1"/>
          <p:nvPr/>
        </p:nvSpPr>
        <p:spPr>
          <a:xfrm>
            <a:off x="1097280" y="4901214"/>
            <a:ext cx="9996901" cy="392159"/>
          </a:xfrm>
          <a:prstGeom prst="rect">
            <a:avLst/>
          </a:prstGeom>
          <a:noFill/>
        </p:spPr>
        <p:txBody>
          <a:bodyPr wrap="square">
            <a:spAutoFit/>
          </a:bodyPr>
          <a:lstStyle/>
          <a:p>
            <a:pPr lvl="0" algn="ctr">
              <a:lnSpc>
                <a:spcPct val="115000"/>
              </a:lnSpc>
              <a:spcAft>
                <a:spcPts val="1000"/>
              </a:spcAft>
            </a:pPr>
            <a:r>
              <a:rPr lang="fr-FR" b="1" cap="all" spc="200" dirty="0">
                <a:solidFill>
                  <a:schemeClr val="tx2"/>
                </a:solidFill>
                <a:latin typeface="+mj-lt"/>
              </a:rPr>
              <a:t>Encadré par : Pr </a:t>
            </a:r>
            <a:r>
              <a:rPr lang="x-none" b="1" cap="all" spc="200">
                <a:solidFill>
                  <a:schemeClr val="tx2"/>
                </a:solidFill>
                <a:latin typeface="+mj-lt"/>
              </a:rPr>
              <a:t>MALO Sadouanouan</a:t>
            </a:r>
            <a:r>
              <a:rPr lang="fr-BF" b="1" cap="all" spc="200" dirty="0">
                <a:solidFill>
                  <a:schemeClr val="tx2"/>
                </a:solidFill>
                <a:latin typeface="+mj-lt"/>
              </a:rPr>
              <a:t> &amp; </a:t>
            </a:r>
            <a:r>
              <a:rPr lang="fr-FR" b="1" cap="all" spc="200" dirty="0">
                <a:solidFill>
                  <a:schemeClr val="tx2"/>
                </a:solidFill>
                <a:latin typeface="+mj-lt"/>
              </a:rPr>
              <a:t>Dr TRAORE Yaya</a:t>
            </a:r>
            <a:endParaRPr lang="fr-BF" b="1" cap="all" spc="200" dirty="0">
              <a:solidFill>
                <a:schemeClr val="tx2"/>
              </a:solidFill>
              <a:latin typeface="+mj-lt"/>
            </a:endParaRPr>
          </a:p>
        </p:txBody>
      </p:sp>
      <p:pic>
        <p:nvPicPr>
          <p:cNvPr id="11" name="Image 10" descr="Une image contenant dessin, croquis, logo, clipart&#10;&#10;Le contenu généré par l’IA peut être incorrect.">
            <a:extLst>
              <a:ext uri="{FF2B5EF4-FFF2-40B4-BE49-F238E27FC236}">
                <a16:creationId xmlns:a16="http://schemas.microsoft.com/office/drawing/2014/main" id="{038CE0A6-B09A-58D2-EE54-316083CE3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7235" y="98483"/>
            <a:ext cx="1849479" cy="1732875"/>
          </a:xfrm>
          <a:prstGeom prst="rect">
            <a:avLst/>
          </a:prstGeom>
        </p:spPr>
      </p:pic>
      <p:sp>
        <p:nvSpPr>
          <p:cNvPr id="13" name="ZoneTexte 12">
            <a:extLst>
              <a:ext uri="{FF2B5EF4-FFF2-40B4-BE49-F238E27FC236}">
                <a16:creationId xmlns:a16="http://schemas.microsoft.com/office/drawing/2014/main" id="{534E2CA8-4FDB-8D73-296F-9ED5BB92BDB5}"/>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732045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6000" b="1" u="sng" dirty="0">
                <a:solidFill>
                  <a:schemeClr val="accent1"/>
                </a:solidFill>
              </a:rPr>
              <a:t>Plan de la présentation</a:t>
            </a:r>
            <a:r>
              <a:rPr lang="fr-FR" sz="7200" b="1" dirty="0">
                <a:solidFill>
                  <a:schemeClr val="accent1"/>
                </a:solidFill>
              </a:rPr>
              <a:t> 			 </a:t>
            </a:r>
          </a:p>
        </p:txBody>
      </p:sp>
      <p:sp>
        <p:nvSpPr>
          <p:cNvPr id="3" name="Espace réservé du contenu 2"/>
          <p:cNvSpPr>
            <a:spLocks noGrp="1"/>
          </p:cNvSpPr>
          <p:nvPr>
            <p:ph idx="1"/>
          </p:nvPr>
        </p:nvSpPr>
        <p:spPr>
          <a:xfrm>
            <a:off x="1097280" y="1845734"/>
            <a:ext cx="10709000" cy="4023360"/>
          </a:xfrm>
        </p:spPr>
        <p:txBody>
          <a:bodyPr>
            <a:noAutofit/>
          </a:bodyPr>
          <a:lstStyle/>
          <a:p>
            <a:pPr>
              <a:buFont typeface="Wingdings" panose="05000000000000000000" pitchFamily="2" charset="2"/>
              <a:buChar char="q"/>
            </a:pPr>
            <a:r>
              <a:rPr lang="fr-FR" sz="4400" b="1" dirty="0"/>
              <a:t> Contexte &amp; motivation</a:t>
            </a:r>
          </a:p>
          <a:p>
            <a:pPr>
              <a:buFont typeface="Wingdings" panose="05000000000000000000" pitchFamily="2" charset="2"/>
              <a:buChar char="q"/>
            </a:pPr>
            <a:r>
              <a:rPr lang="fr-FR" sz="4400" b="1" dirty="0"/>
              <a:t> Objectifs</a:t>
            </a:r>
          </a:p>
          <a:p>
            <a:pPr>
              <a:buFont typeface="Wingdings" panose="05000000000000000000" pitchFamily="2" charset="2"/>
              <a:buChar char="q"/>
            </a:pPr>
            <a:r>
              <a:rPr lang="fr-FR" sz="4400" b="1" dirty="0"/>
              <a:t> Etat de l’art</a:t>
            </a:r>
          </a:p>
          <a:p>
            <a:pPr>
              <a:buFont typeface="Wingdings" panose="05000000000000000000" pitchFamily="2" charset="2"/>
              <a:buChar char="q"/>
            </a:pPr>
            <a:r>
              <a:rPr lang="fr-FR" sz="4400" b="1" dirty="0"/>
              <a:t> Activités et méthodologie de recherche</a:t>
            </a:r>
          </a:p>
          <a:p>
            <a:pPr>
              <a:buFont typeface="Wingdings" panose="05000000000000000000" pitchFamily="2" charset="2"/>
              <a:buChar char="q"/>
            </a:pPr>
            <a:r>
              <a:rPr lang="fr-FR" sz="4400" b="1" dirty="0"/>
              <a:t> Chronogramme</a:t>
            </a:r>
          </a:p>
        </p:txBody>
      </p:sp>
      <p:sp>
        <p:nvSpPr>
          <p:cNvPr id="4" name="ZoneTexte 3">
            <a:extLst>
              <a:ext uri="{FF2B5EF4-FFF2-40B4-BE49-F238E27FC236}">
                <a16:creationId xmlns:a16="http://schemas.microsoft.com/office/drawing/2014/main" id="{F2D0BFCC-E083-A998-0D37-AB5E75DFB2B0}"/>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93356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p:cNvSpPr>
            <a:spLocks noGrp="1"/>
          </p:cNvSpPr>
          <p:nvPr>
            <p:ph idx="1"/>
          </p:nvPr>
        </p:nvSpPr>
        <p:spPr>
          <a:xfrm>
            <a:off x="98190" y="1845734"/>
            <a:ext cx="12012890" cy="4023360"/>
          </a:xfrm>
        </p:spPr>
        <p:txBody>
          <a:bodyPr>
            <a:noAutofit/>
          </a:bodyPr>
          <a:lstStyle/>
          <a:p>
            <a:pPr marL="0" indent="0" algn="just">
              <a:buNone/>
            </a:pPr>
            <a:r>
              <a:rPr lang="fr-FR" sz="3200" dirty="0"/>
              <a:t>Dans le contexte de la révolution numérique basée sur l’IA et de son usage souvent malsain, il existe :</a:t>
            </a:r>
          </a:p>
          <a:p>
            <a:pPr algn="just">
              <a:buFont typeface="Wingdings" pitchFamily="2" charset="2"/>
              <a:buChar char="q"/>
            </a:pPr>
            <a:r>
              <a:rPr lang="fr-FR" sz="3200" dirty="0"/>
              <a:t> un phénomène actuellement grandissant de falsification documentaire sur l’espace public numérique et dans les structures administratives.</a:t>
            </a:r>
          </a:p>
          <a:p>
            <a:pPr algn="just">
              <a:buFont typeface="Wingdings" pitchFamily="2" charset="2"/>
              <a:buChar char="q"/>
            </a:pPr>
            <a:r>
              <a:rPr lang="fr-FR" sz="3200" dirty="0"/>
              <a:t> des tentatives gouvernementales pour y remédier en partie.</a:t>
            </a:r>
          </a:p>
        </p:txBody>
      </p:sp>
      <p:sp>
        <p:nvSpPr>
          <p:cNvPr id="4" name="ZoneTexte 3">
            <a:extLst>
              <a:ext uri="{FF2B5EF4-FFF2-40B4-BE49-F238E27FC236}">
                <a16:creationId xmlns:a16="http://schemas.microsoft.com/office/drawing/2014/main" id="{F48DF868-9E74-3EE8-F902-BEEB40D20163}"/>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561798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289AF-77CA-8421-C3BE-D0D6FD741A9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7FAA9D-2B81-BB34-5F9A-65942C9D60B0}"/>
              </a:ext>
            </a:extLst>
          </p:cNvPr>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D04A77B7-A964-E7ED-9ED6-C8BAAF29BACE}"/>
              </a:ext>
            </a:extLst>
          </p:cNvPr>
          <p:cNvSpPr>
            <a:spLocks noGrp="1"/>
          </p:cNvSpPr>
          <p:nvPr>
            <p:ph idx="1"/>
          </p:nvPr>
        </p:nvSpPr>
        <p:spPr>
          <a:xfrm>
            <a:off x="98190" y="1845733"/>
            <a:ext cx="12012890" cy="4494681"/>
          </a:xfrm>
        </p:spPr>
        <p:txBody>
          <a:bodyPr>
            <a:noAutofit/>
          </a:bodyPr>
          <a:lstStyle/>
          <a:p>
            <a:pPr marL="0" indent="0" algn="just">
              <a:buNone/>
            </a:pPr>
            <a:r>
              <a:rPr lang="fr-FR" sz="3200" dirty="0"/>
              <a:t>Une situation préoccupante pour 2 raisons majeures :</a:t>
            </a:r>
          </a:p>
          <a:p>
            <a:pPr algn="just">
              <a:buFont typeface="Wingdings" pitchFamily="2" charset="2"/>
              <a:buChar char="q"/>
            </a:pPr>
            <a:r>
              <a:rPr lang="fr-FR" sz="3200" dirty="0"/>
              <a:t> Le fonctionnement de l’administration publique et sa relation avec ses usagers sont fondés sur la production et la réception de documents (papier ou/et électronique).</a:t>
            </a:r>
          </a:p>
          <a:p>
            <a:pPr algn="just">
              <a:buFont typeface="Wingdings" pitchFamily="2" charset="2"/>
              <a:buChar char="q"/>
            </a:pPr>
            <a:r>
              <a:rPr lang="fr-FR" sz="3200" dirty="0"/>
              <a:t> Le phénomène de falsification (ou fraude) documentaire engendre des conséquences telles que :</a:t>
            </a:r>
            <a:endParaRPr lang="fr-FR" sz="2400" dirty="0"/>
          </a:p>
        </p:txBody>
      </p:sp>
      <p:sp>
        <p:nvSpPr>
          <p:cNvPr id="4" name="ZoneTexte 3">
            <a:extLst>
              <a:ext uri="{FF2B5EF4-FFF2-40B4-BE49-F238E27FC236}">
                <a16:creationId xmlns:a16="http://schemas.microsoft.com/office/drawing/2014/main" id="{4FCD893B-3A9E-665A-2007-8AC585C0ED65}"/>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836663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B43AF-A768-421E-3A0A-5C422AD14DC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B70F1F-3876-F2F7-01F0-E903C29F7A50}"/>
              </a:ext>
            </a:extLst>
          </p:cNvPr>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5D9A2FBE-B9B3-AA0D-3552-60BD8A61F3D4}"/>
              </a:ext>
            </a:extLst>
          </p:cNvPr>
          <p:cNvSpPr>
            <a:spLocks noGrp="1"/>
          </p:cNvSpPr>
          <p:nvPr>
            <p:ph idx="1"/>
          </p:nvPr>
        </p:nvSpPr>
        <p:spPr>
          <a:xfrm>
            <a:off x="98190" y="1845733"/>
            <a:ext cx="12012890" cy="4494681"/>
          </a:xfrm>
        </p:spPr>
        <p:txBody>
          <a:bodyPr>
            <a:noAutofit/>
          </a:bodyPr>
          <a:lstStyle/>
          <a:p>
            <a:pPr algn="just">
              <a:buFont typeface="Wingdings" pitchFamily="2" charset="2"/>
              <a:buChar char="q"/>
            </a:pPr>
            <a:r>
              <a:rPr lang="fr-FR" sz="3200" dirty="0"/>
              <a:t> la crise de confiance entre les gouvernants et les citoyens; </a:t>
            </a:r>
          </a:p>
          <a:p>
            <a:pPr algn="just">
              <a:buFont typeface="Wingdings" pitchFamily="2" charset="2"/>
              <a:buChar char="q"/>
            </a:pPr>
            <a:r>
              <a:rPr lang="fr-FR" sz="3200" dirty="0"/>
              <a:t> la perte de temps énorme aux administrations qui veillent pour faire des éventuels démentis;</a:t>
            </a:r>
          </a:p>
          <a:p>
            <a:pPr algn="just">
              <a:buFont typeface="Wingdings" pitchFamily="2" charset="2"/>
              <a:buChar char="q"/>
            </a:pPr>
            <a:r>
              <a:rPr lang="fr-FR" sz="3200" dirty="0"/>
              <a:t> la mobilisation de ressources (temps, financières, humaines) pour des opérations d'authentification de certains documents;</a:t>
            </a:r>
          </a:p>
          <a:p>
            <a:pPr algn="just">
              <a:buFont typeface="Wingdings" pitchFamily="2" charset="2"/>
              <a:buChar char="q"/>
            </a:pPr>
            <a:r>
              <a:rPr lang="fr-FR" sz="3200" dirty="0"/>
              <a:t> l’augmentation des délais de prestation de services règlementaires.</a:t>
            </a:r>
          </a:p>
        </p:txBody>
      </p:sp>
      <p:sp>
        <p:nvSpPr>
          <p:cNvPr id="4" name="ZoneTexte 3">
            <a:extLst>
              <a:ext uri="{FF2B5EF4-FFF2-40B4-BE49-F238E27FC236}">
                <a16:creationId xmlns:a16="http://schemas.microsoft.com/office/drawing/2014/main" id="{32108831-F7B7-8099-0979-3F345CAC8BE5}"/>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553910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982ED-6B58-B0B8-E846-6F659CB9D5A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9075B9-521A-FD4C-D95E-95A0E10ECE7F}"/>
              </a:ext>
            </a:extLst>
          </p:cNvPr>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781842A1-9D9C-CC9D-08F1-BE33830291CC}"/>
              </a:ext>
            </a:extLst>
          </p:cNvPr>
          <p:cNvSpPr>
            <a:spLocks noGrp="1"/>
          </p:cNvSpPr>
          <p:nvPr>
            <p:ph idx="1"/>
          </p:nvPr>
        </p:nvSpPr>
        <p:spPr>
          <a:xfrm>
            <a:off x="136827" y="1807096"/>
            <a:ext cx="11917799" cy="4494681"/>
          </a:xfrm>
        </p:spPr>
        <p:txBody>
          <a:bodyPr>
            <a:noAutofit/>
          </a:bodyPr>
          <a:lstStyle/>
          <a:p>
            <a:pPr algn="just"/>
            <a:r>
              <a:rPr lang="fr-FR" sz="3200" dirty="0"/>
              <a:t>Dans ce même contexte, la Blockchain est une technologie de registre distribué constituant un système sécurisé et transparent où les transactions sont consignées de manière immuable et partagée entre les participants.</a:t>
            </a:r>
          </a:p>
          <a:p>
            <a:pPr algn="just"/>
            <a:r>
              <a:rPr lang="fr-FR" sz="3200" dirty="0"/>
              <a:t>L'importance de la blockchain réside dans son système distribué et décentralisé. En utilisant des algorithmes de consensus, elle garantit que toutes les parties prenantes ont une copie identique du registre, éliminant ainsi le risque de manipulation malveillante ou de défaillance d'un point central.</a:t>
            </a:r>
          </a:p>
        </p:txBody>
      </p:sp>
      <p:sp>
        <p:nvSpPr>
          <p:cNvPr id="4" name="ZoneTexte 3">
            <a:extLst>
              <a:ext uri="{FF2B5EF4-FFF2-40B4-BE49-F238E27FC236}">
                <a16:creationId xmlns:a16="http://schemas.microsoft.com/office/drawing/2014/main" id="{B53D6047-F629-AE4B-081C-9E2A6BB934C0}"/>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915569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ABF82-77C3-1334-B37B-49F27207EC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051E86-5166-F61F-31A1-4DCA535CAE21}"/>
              </a:ext>
            </a:extLst>
          </p:cNvPr>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D87538A1-180E-9BC7-463C-F5213AC84C95}"/>
              </a:ext>
            </a:extLst>
          </p:cNvPr>
          <p:cNvSpPr>
            <a:spLocks noGrp="1"/>
          </p:cNvSpPr>
          <p:nvPr>
            <p:ph idx="1"/>
          </p:nvPr>
        </p:nvSpPr>
        <p:spPr>
          <a:xfrm>
            <a:off x="98190" y="1845733"/>
            <a:ext cx="12012890" cy="4494681"/>
          </a:xfrm>
        </p:spPr>
        <p:txBody>
          <a:bodyPr>
            <a:noAutofit/>
          </a:bodyPr>
          <a:lstStyle/>
          <a:p>
            <a:pPr marL="0" indent="0" algn="just">
              <a:buNone/>
            </a:pPr>
            <a:r>
              <a:rPr lang="fr-FR" sz="3200" dirty="0"/>
              <a:t>Comment concevoir et mettre en place une approche intégrant la blockchain afin de garantir la traçabilité des documents administratifs et d’offrir la possibilité de vérifier leur authenticité en temps réel de manière plus facile, efficace et sécurisée ?</a:t>
            </a:r>
          </a:p>
          <a:p>
            <a:pPr algn="just">
              <a:buFont typeface="Wingdings" pitchFamily="2" charset="2"/>
              <a:buChar char="q"/>
            </a:pPr>
            <a:r>
              <a:rPr lang="fr-FR" dirty="0"/>
              <a:t> L’intégration de la blockchain dans un système de sécurisation de documents administratifs, peut-elle garantir la traçabilité de ces documents ?</a:t>
            </a:r>
          </a:p>
          <a:p>
            <a:pPr algn="just">
              <a:buFont typeface="Wingdings" pitchFamily="2" charset="2"/>
              <a:buChar char="q"/>
            </a:pPr>
            <a:r>
              <a:rPr lang="fr-FR" dirty="0"/>
              <a:t> L’utilisation de la blockchain dans un processus de traçabilité et d’authentification de documents administratifs, permet-t-elle de diminuer les cas de falsifications documentaires et de renforcer la confiance entre usagers et administration ?</a:t>
            </a:r>
          </a:p>
          <a:p>
            <a:pPr algn="just">
              <a:buFont typeface="Wingdings" pitchFamily="2" charset="2"/>
              <a:buChar char="q"/>
            </a:pPr>
            <a:r>
              <a:rPr lang="fr-FR" dirty="0"/>
              <a:t> La blockchain permet-t-elle de renforcer la sécurité des documents et de vérifier leur authenticité en temps réel</a:t>
            </a:r>
            <a:r>
              <a:rPr lang="fr-BF" dirty="0"/>
              <a:t> ?</a:t>
            </a:r>
            <a:endParaRPr lang="fr-FR" dirty="0"/>
          </a:p>
        </p:txBody>
      </p:sp>
      <p:sp>
        <p:nvSpPr>
          <p:cNvPr id="4" name="ZoneTexte 3">
            <a:extLst>
              <a:ext uri="{FF2B5EF4-FFF2-40B4-BE49-F238E27FC236}">
                <a16:creationId xmlns:a16="http://schemas.microsoft.com/office/drawing/2014/main" id="{7347AD89-5C23-05E7-0AC4-65D837E0DC87}"/>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3237405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A8DB7-2214-2818-ABE8-EB9738D24F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F201A9-D15A-ECA8-D556-1EBC9A83C7EE}"/>
              </a:ext>
            </a:extLst>
          </p:cNvPr>
          <p:cNvSpPr>
            <a:spLocks noGrp="1"/>
          </p:cNvSpPr>
          <p:nvPr>
            <p:ph type="title"/>
          </p:nvPr>
        </p:nvSpPr>
        <p:spPr/>
        <p:txBody>
          <a:bodyPr>
            <a:normAutofit/>
          </a:bodyPr>
          <a:lstStyle/>
          <a:p>
            <a:r>
              <a:rPr lang="fr-FR" sz="6000" b="1" u="sng" dirty="0">
                <a:solidFill>
                  <a:schemeClr val="accent1"/>
                </a:solidFill>
              </a:rPr>
              <a:t>Objectifs</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069CEB11-A0AC-A097-8455-6454F6936804}"/>
              </a:ext>
            </a:extLst>
          </p:cNvPr>
          <p:cNvSpPr>
            <a:spLocks noGrp="1"/>
          </p:cNvSpPr>
          <p:nvPr>
            <p:ph idx="1"/>
          </p:nvPr>
        </p:nvSpPr>
        <p:spPr>
          <a:xfrm>
            <a:off x="98190" y="1845733"/>
            <a:ext cx="12012890" cy="4494681"/>
          </a:xfrm>
        </p:spPr>
        <p:txBody>
          <a:bodyPr>
            <a:noAutofit/>
          </a:bodyPr>
          <a:lstStyle/>
          <a:p>
            <a:pPr marL="0" indent="0" algn="just">
              <a:buNone/>
            </a:pPr>
            <a:r>
              <a:rPr lang="fr-FR" sz="3200" dirty="0"/>
              <a:t>Objectif général :</a:t>
            </a:r>
          </a:p>
          <a:p>
            <a:pPr marL="0" indent="0" algn="just">
              <a:buNone/>
            </a:pPr>
            <a:r>
              <a:rPr lang="fr-FR" sz="3200" dirty="0"/>
              <a:t>Proposer une approche basée sur la blockchain afin de garantir la sécurité des documents administratifs et d’offrir la possibilité de vérifier leur authenticité en temps réel de manière plus facile, efficace et sécurisée.</a:t>
            </a:r>
          </a:p>
        </p:txBody>
      </p:sp>
      <p:sp>
        <p:nvSpPr>
          <p:cNvPr id="4" name="ZoneTexte 3">
            <a:extLst>
              <a:ext uri="{FF2B5EF4-FFF2-40B4-BE49-F238E27FC236}">
                <a16:creationId xmlns:a16="http://schemas.microsoft.com/office/drawing/2014/main" id="{B11E7CED-F477-CD26-CFE5-AEF5E61B03DE}"/>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169990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54381-32E2-8EEF-92BC-2C7ABEA9B8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7387D6-3314-6E58-0DEB-62476845E4F6}"/>
              </a:ext>
            </a:extLst>
          </p:cNvPr>
          <p:cNvSpPr>
            <a:spLocks noGrp="1"/>
          </p:cNvSpPr>
          <p:nvPr>
            <p:ph type="title"/>
          </p:nvPr>
        </p:nvSpPr>
        <p:spPr/>
        <p:txBody>
          <a:bodyPr>
            <a:normAutofit/>
          </a:bodyPr>
          <a:lstStyle/>
          <a:p>
            <a:r>
              <a:rPr lang="fr-FR" sz="6000" b="1" u="sng" dirty="0">
                <a:solidFill>
                  <a:schemeClr val="accent1"/>
                </a:solidFill>
              </a:rPr>
              <a:t>Objectifs</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A3E53E82-5DA1-8909-A7B8-39139CB227E1}"/>
              </a:ext>
            </a:extLst>
          </p:cNvPr>
          <p:cNvSpPr>
            <a:spLocks noGrp="1"/>
          </p:cNvSpPr>
          <p:nvPr>
            <p:ph idx="1"/>
          </p:nvPr>
        </p:nvSpPr>
        <p:spPr>
          <a:xfrm>
            <a:off x="98190" y="1845733"/>
            <a:ext cx="12012890" cy="4494681"/>
          </a:xfrm>
        </p:spPr>
        <p:txBody>
          <a:bodyPr>
            <a:noAutofit/>
          </a:bodyPr>
          <a:lstStyle/>
          <a:p>
            <a:pPr marL="0" indent="0" algn="just">
              <a:buNone/>
            </a:pPr>
            <a:r>
              <a:rPr lang="fr-FR" sz="3200" dirty="0"/>
              <a:t>Objectifs spécifiques :</a:t>
            </a:r>
          </a:p>
          <a:p>
            <a:pPr lvl="0">
              <a:buFont typeface="Wingdings" pitchFamily="2" charset="2"/>
              <a:buChar char="q"/>
            </a:pPr>
            <a:r>
              <a:rPr lang="fr-FR" sz="2800" dirty="0"/>
              <a:t> Analyser le dispositif existant de sécurisation de documents administratifs ;</a:t>
            </a:r>
            <a:endParaRPr lang="fr-BF" sz="2800" dirty="0"/>
          </a:p>
          <a:p>
            <a:pPr lvl="0">
              <a:buFont typeface="Wingdings" pitchFamily="2" charset="2"/>
              <a:buChar char="q"/>
            </a:pPr>
            <a:r>
              <a:rPr lang="fr-FR" sz="2800" dirty="0"/>
              <a:t> Faire un état de l’art sur l’application de la blockchain dans les processus de sécurisation des données (notamment des documents) ;</a:t>
            </a:r>
            <a:endParaRPr lang="fr-BF" sz="2800" dirty="0"/>
          </a:p>
          <a:p>
            <a:pPr lvl="0">
              <a:buFont typeface="Wingdings" pitchFamily="2" charset="2"/>
              <a:buChar char="q"/>
            </a:pPr>
            <a:r>
              <a:rPr lang="fr-FR" sz="2800" dirty="0"/>
              <a:t> Proposer une approche de sécurisation des documents administratifs basée sur la technologie blockchain ;</a:t>
            </a:r>
            <a:endParaRPr lang="fr-BF" sz="2800" dirty="0"/>
          </a:p>
          <a:p>
            <a:pPr lvl="0">
              <a:buFont typeface="Wingdings" pitchFamily="2" charset="2"/>
              <a:buChar char="q"/>
            </a:pPr>
            <a:r>
              <a:rPr lang="fr-FR" sz="2800" dirty="0"/>
              <a:t> Evaluer l’approche avec des documents administratifs collectés : cas de sécurisation de documents administratifs du Burkina Faso.</a:t>
            </a:r>
          </a:p>
        </p:txBody>
      </p:sp>
      <p:sp>
        <p:nvSpPr>
          <p:cNvPr id="4" name="ZoneTexte 3">
            <a:extLst>
              <a:ext uri="{FF2B5EF4-FFF2-40B4-BE49-F238E27FC236}">
                <a16:creationId xmlns:a16="http://schemas.microsoft.com/office/drawing/2014/main" id="{61C8C4B8-3B1F-9997-0B43-812CA8545AC3}"/>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941708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14F1C-2399-0097-A2E1-3B4AF3EEB38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BC6C9C-7A65-5030-4E29-E4C11FFEFEB5}"/>
              </a:ext>
            </a:extLst>
          </p:cNvPr>
          <p:cNvSpPr>
            <a:spLocks noGrp="1"/>
          </p:cNvSpPr>
          <p:nvPr>
            <p:ph type="title"/>
          </p:nvPr>
        </p:nvSpPr>
        <p:spPr/>
        <p:txBody>
          <a:bodyPr>
            <a:normAutofit/>
          </a:bodyPr>
          <a:lstStyle/>
          <a:p>
            <a:r>
              <a:rPr lang="fr-FR" sz="6000" b="1" u="sng" dirty="0">
                <a:solidFill>
                  <a:schemeClr val="accent1"/>
                </a:solidFill>
              </a:rPr>
              <a:t>Etat de l’art</a:t>
            </a:r>
            <a:r>
              <a:rPr lang="fr-FR" sz="6000" b="1" dirty="0">
                <a:solidFill>
                  <a:schemeClr val="accent1"/>
                </a:solidFill>
              </a:rPr>
              <a:t> </a:t>
            </a:r>
          </a:p>
        </p:txBody>
      </p:sp>
      <p:sp>
        <p:nvSpPr>
          <p:cNvPr id="4" name="ZoneTexte 3">
            <a:extLst>
              <a:ext uri="{FF2B5EF4-FFF2-40B4-BE49-F238E27FC236}">
                <a16:creationId xmlns:a16="http://schemas.microsoft.com/office/drawing/2014/main" id="{C61F099D-B0F5-BA10-21B5-88770B8A0C1B}"/>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graphicFrame>
        <p:nvGraphicFramePr>
          <p:cNvPr id="9" name="Tableau 8">
            <a:extLst>
              <a:ext uri="{FF2B5EF4-FFF2-40B4-BE49-F238E27FC236}">
                <a16:creationId xmlns:a16="http://schemas.microsoft.com/office/drawing/2014/main" id="{F730EACD-9A93-F7F8-D95F-FEE48E0E8404}"/>
              </a:ext>
            </a:extLst>
          </p:cNvPr>
          <p:cNvGraphicFramePr>
            <a:graphicFrameLocks noGrp="1"/>
          </p:cNvGraphicFramePr>
          <p:nvPr>
            <p:extLst>
              <p:ext uri="{D42A27DB-BD31-4B8C-83A1-F6EECF244321}">
                <p14:modId xmlns:p14="http://schemas.microsoft.com/office/powerpoint/2010/main" val="2054657170"/>
              </p:ext>
            </p:extLst>
          </p:nvPr>
        </p:nvGraphicFramePr>
        <p:xfrm>
          <a:off x="101598" y="1780715"/>
          <a:ext cx="12009889" cy="4491885"/>
        </p:xfrm>
        <a:graphic>
          <a:graphicData uri="http://schemas.openxmlformats.org/drawingml/2006/table">
            <a:tbl>
              <a:tblPr firstRow="1" bandRow="1">
                <a:tableStyleId>{5C22544A-7EE6-4342-B048-85BDC9FD1C3A}</a:tableStyleId>
              </a:tblPr>
              <a:tblGrid>
                <a:gridCol w="5588623">
                  <a:extLst>
                    <a:ext uri="{9D8B030D-6E8A-4147-A177-3AD203B41FA5}">
                      <a16:colId xmlns:a16="http://schemas.microsoft.com/office/drawing/2014/main" val="746740604"/>
                    </a:ext>
                  </a:extLst>
                </a:gridCol>
                <a:gridCol w="6421266">
                  <a:extLst>
                    <a:ext uri="{9D8B030D-6E8A-4147-A177-3AD203B41FA5}">
                      <a16:colId xmlns:a16="http://schemas.microsoft.com/office/drawing/2014/main" val="713828832"/>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Omar S. Saleh et al [1]</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 </a:t>
                      </a:r>
                      <a:r>
                        <a:rPr lang="fr-FR" sz="1800" dirty="0"/>
                        <a:t>BLOCKCHAIN BASED FRAMEWORK FOR EDUCATIONAL CERTIFICATES VERIFICATION » (2020)</a:t>
                      </a:r>
                      <a:endParaRPr lang="fr-FR" sz="1800" b="1" kern="1200" dirty="0">
                        <a:solidFill>
                          <a:schemeClr val="lt1"/>
                        </a:solidFill>
                        <a:effectLst/>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G. Malik et al </a:t>
                      </a:r>
                      <a:r>
                        <a:rPr lang="fr-BF" sz="1800" b="1" kern="1200" dirty="0">
                          <a:solidFill>
                            <a:schemeClr val="lt1"/>
                          </a:solidFill>
                          <a:effectLst/>
                          <a:latin typeface="+mn-lt"/>
                          <a:ea typeface="+mn-ea"/>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lang="fr-BF" sz="1800" b="1" kern="1200" dirty="0">
                          <a:solidFill>
                            <a:schemeClr val="lt1"/>
                          </a:solidFill>
                          <a:effectLst/>
                          <a:latin typeface="+mn-lt"/>
                          <a:ea typeface="+mn-ea"/>
                          <a:cs typeface="+mn-cs"/>
                        </a:rPr>
                        <a:t>« </a:t>
                      </a:r>
                      <a:r>
                        <a:rPr lang="fr-FR" sz="1800" dirty="0"/>
                        <a:t>Blockchain </a:t>
                      </a:r>
                      <a:r>
                        <a:rPr lang="fr-FR" sz="1800" dirty="0" err="1"/>
                        <a:t>Based</a:t>
                      </a:r>
                      <a:r>
                        <a:rPr lang="fr-FR" sz="1800" dirty="0"/>
                        <a:t> Identity </a:t>
                      </a:r>
                      <a:r>
                        <a:rPr lang="fr-FR" sz="1800" dirty="0" err="1"/>
                        <a:t>Verification</a:t>
                      </a:r>
                      <a:r>
                        <a:rPr lang="fr-FR" sz="1800" dirty="0"/>
                        <a:t> Model » (2019)</a:t>
                      </a:r>
                      <a:endParaRPr lang="fr-BF" sz="1800" b="1" kern="1200" dirty="0">
                        <a:solidFill>
                          <a:schemeClr val="lt1"/>
                        </a:solidFill>
                        <a:effectLst/>
                        <a:latin typeface="+mn-lt"/>
                        <a:ea typeface="+mn-ea"/>
                        <a:cs typeface="+mn-cs"/>
                      </a:endParaRPr>
                    </a:p>
                  </a:txBody>
                  <a:tcPr anchor="ctr"/>
                </a:tc>
                <a:extLst>
                  <a:ext uri="{0D108BD9-81ED-4DB2-BD59-A6C34878D82A}">
                    <a16:rowId xmlns:a16="http://schemas.microsoft.com/office/drawing/2014/main" val="2465244866"/>
                  </a:ext>
                </a:extLst>
              </a:tr>
              <a:tr h="3577485">
                <a:tc>
                  <a:txBody>
                    <a:bodyPr/>
                    <a:lstStyle/>
                    <a:p>
                      <a:pPr algn="just"/>
                      <a:r>
                        <a:rPr lang="fr-FR" sz="1800" kern="1200" dirty="0">
                          <a:solidFill>
                            <a:schemeClr val="dk1"/>
                          </a:solidFill>
                          <a:effectLst/>
                          <a:latin typeface="+mn-lt"/>
                          <a:ea typeface="+mn-ea"/>
                          <a:cs typeface="+mn-cs"/>
                        </a:rPr>
                        <a:t>Cadre basé sur la </a:t>
                      </a:r>
                      <a:r>
                        <a:rPr lang="fr-FR" sz="1800" b="1" kern="1200" dirty="0">
                          <a:solidFill>
                            <a:schemeClr val="dk1"/>
                          </a:solidFill>
                          <a:effectLst/>
                          <a:latin typeface="+mn-lt"/>
                          <a:ea typeface="+mn-ea"/>
                          <a:cs typeface="+mn-cs"/>
                        </a:rPr>
                        <a:t>blockchain </a:t>
                      </a:r>
                      <a:r>
                        <a:rPr lang="fr-FR" sz="1800" b="1" kern="1200" dirty="0" err="1">
                          <a:solidFill>
                            <a:schemeClr val="dk1"/>
                          </a:solidFill>
                          <a:effectLst/>
                          <a:latin typeface="+mn-lt"/>
                          <a:ea typeface="+mn-ea"/>
                          <a:cs typeface="+mn-cs"/>
                        </a:rPr>
                        <a:t>Hyperledger</a:t>
                      </a:r>
                      <a:r>
                        <a:rPr lang="fr-FR" sz="1800" b="1" kern="1200" dirty="0">
                          <a:solidFill>
                            <a:schemeClr val="dk1"/>
                          </a:solidFill>
                          <a:effectLst/>
                          <a:latin typeface="+mn-lt"/>
                          <a:ea typeface="+mn-ea"/>
                          <a:cs typeface="+mn-cs"/>
                        </a:rPr>
                        <a:t> </a:t>
                      </a:r>
                      <a:r>
                        <a:rPr lang="fr-FR" sz="1800" b="1" kern="1200" dirty="0" err="1">
                          <a:solidFill>
                            <a:schemeClr val="dk1"/>
                          </a:solidFill>
                          <a:effectLst/>
                          <a:latin typeface="+mn-lt"/>
                          <a:ea typeface="+mn-ea"/>
                          <a:cs typeface="+mn-cs"/>
                        </a:rPr>
                        <a:t>Fabric</a:t>
                      </a:r>
                      <a:r>
                        <a:rPr lang="fr-FR" sz="1800" b="1" kern="1200" dirty="0">
                          <a:solidFill>
                            <a:schemeClr val="dk1"/>
                          </a:solidFill>
                          <a:effectLst/>
                          <a:latin typeface="+mn-lt"/>
                          <a:ea typeface="+mn-ea"/>
                          <a:cs typeface="+mn-cs"/>
                        </a:rPr>
                        <a:t> Framework </a:t>
                      </a:r>
                      <a:r>
                        <a:rPr lang="fr-FR" sz="1800" kern="1200" dirty="0">
                          <a:solidFill>
                            <a:schemeClr val="dk1"/>
                          </a:solidFill>
                          <a:effectLst/>
                          <a:latin typeface="+mn-lt"/>
                          <a:ea typeface="+mn-ea"/>
                          <a:cs typeface="+mn-cs"/>
                        </a:rPr>
                        <a:t>pour la vérification des diplômes. Les questions de sécurité (authentification, autorisation, confidentialité, vie privée et propriété) nécessaires à la vérification des documents via la blockchain ont été étudiées. Cette étude révèle que </a:t>
                      </a:r>
                      <a:r>
                        <a:rPr lang="fr-FR" sz="1800" b="1" kern="1200" dirty="0">
                          <a:solidFill>
                            <a:schemeClr val="dk1"/>
                          </a:solidFill>
                          <a:effectLst/>
                          <a:latin typeface="+mn-lt"/>
                          <a:ea typeface="+mn-ea"/>
                          <a:cs typeface="+mn-cs"/>
                        </a:rPr>
                        <a:t>la vérification de ce type de document est faisable, mais reste une tâche assez complexe impliquant divers processus d'authentification fastidieux</a:t>
                      </a:r>
                      <a:r>
                        <a:rPr lang="fr-FR" sz="1800" kern="1200" dirty="0">
                          <a:solidFill>
                            <a:schemeClr val="dk1"/>
                          </a:solidFill>
                          <a:effectLst/>
                          <a:latin typeface="+mn-lt"/>
                          <a:ea typeface="+mn-ea"/>
                          <a:cs typeface="+mn-cs"/>
                        </a:rPr>
                        <a:t>.</a:t>
                      </a:r>
                    </a:p>
                  </a:txBody>
                  <a:tcPr/>
                </a:tc>
                <a:tc>
                  <a:txBody>
                    <a:bodyPr/>
                    <a:lstStyle/>
                    <a:p>
                      <a:pPr algn="just"/>
                      <a:r>
                        <a:rPr lang="fr-FR" sz="1800" kern="1200" dirty="0">
                          <a:solidFill>
                            <a:schemeClr val="dk1"/>
                          </a:solidFill>
                          <a:effectLst/>
                          <a:latin typeface="+mn-lt"/>
                          <a:ea typeface="+mn-ea"/>
                          <a:cs typeface="+mn-cs"/>
                        </a:rPr>
                        <a:t>Modèle unique pour résoudre le processus fastidieux et chronophage de la vérification des documents en explorant l'efficacité et la sécurité que la blockchain pourrait apporter. </a:t>
                      </a:r>
                      <a:r>
                        <a:rPr lang="fr-FR" sz="1800" b="1" kern="1200" dirty="0">
                          <a:solidFill>
                            <a:schemeClr val="dk1"/>
                          </a:solidFill>
                          <a:effectLst/>
                          <a:latin typeface="+mn-lt"/>
                          <a:ea typeface="+mn-ea"/>
                          <a:cs typeface="+mn-cs"/>
                        </a:rPr>
                        <a:t>L’objectif était de développer un réseau blockchain privé et autorisé où les documents officiels des citoyens pourraient être partagés par les agences gouvernementales et les établissements d'enseignement</a:t>
                      </a:r>
                      <a:r>
                        <a:rPr lang="fr-FR" sz="1800" kern="1200" dirty="0">
                          <a:solidFill>
                            <a:schemeClr val="dk1"/>
                          </a:solidFill>
                          <a:effectLst/>
                          <a:latin typeface="+mn-lt"/>
                          <a:ea typeface="+mn-ea"/>
                          <a:cs typeface="+mn-cs"/>
                        </a:rPr>
                        <a:t>. Mise en place d’un système décentralisé qui minimise le niveau d'intervention humaine et augmente la sécurité, la fiabilité et la transparence.</a:t>
                      </a:r>
                    </a:p>
                  </a:txBody>
                  <a:tcPr/>
                </a:tc>
                <a:extLst>
                  <a:ext uri="{0D108BD9-81ED-4DB2-BD59-A6C34878D82A}">
                    <a16:rowId xmlns:a16="http://schemas.microsoft.com/office/drawing/2014/main" val="443537392"/>
                  </a:ext>
                </a:extLst>
              </a:tr>
            </a:tbl>
          </a:graphicData>
        </a:graphic>
      </p:graphicFrame>
    </p:spTree>
    <p:extLst>
      <p:ext uri="{BB962C8B-B14F-4D97-AF65-F5344CB8AC3E}">
        <p14:creationId xmlns:p14="http://schemas.microsoft.com/office/powerpoint/2010/main" val="1347516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F255C-DF2E-73B0-7251-1E6A57C1F09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6509D42-8F6C-AF83-A4E5-9F55DDCBD0AA}"/>
              </a:ext>
            </a:extLst>
          </p:cNvPr>
          <p:cNvSpPr>
            <a:spLocks noGrp="1"/>
          </p:cNvSpPr>
          <p:nvPr>
            <p:ph type="title"/>
          </p:nvPr>
        </p:nvSpPr>
        <p:spPr/>
        <p:txBody>
          <a:bodyPr>
            <a:normAutofit/>
          </a:bodyPr>
          <a:lstStyle/>
          <a:p>
            <a:r>
              <a:rPr lang="fr-FR" sz="6000" b="1" u="sng" dirty="0">
                <a:solidFill>
                  <a:schemeClr val="accent1"/>
                </a:solidFill>
              </a:rPr>
              <a:t>Etat de l’art</a:t>
            </a:r>
            <a:r>
              <a:rPr lang="fr-FR" sz="6000" b="1" dirty="0">
                <a:solidFill>
                  <a:schemeClr val="accent1"/>
                </a:solidFill>
              </a:rPr>
              <a:t> </a:t>
            </a:r>
          </a:p>
        </p:txBody>
      </p:sp>
      <p:sp>
        <p:nvSpPr>
          <p:cNvPr id="4" name="ZoneTexte 3">
            <a:extLst>
              <a:ext uri="{FF2B5EF4-FFF2-40B4-BE49-F238E27FC236}">
                <a16:creationId xmlns:a16="http://schemas.microsoft.com/office/drawing/2014/main" id="{8063BF73-91D8-988A-3C67-30CFF68A496A}"/>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graphicFrame>
        <p:nvGraphicFramePr>
          <p:cNvPr id="9" name="Tableau 8">
            <a:extLst>
              <a:ext uri="{FF2B5EF4-FFF2-40B4-BE49-F238E27FC236}">
                <a16:creationId xmlns:a16="http://schemas.microsoft.com/office/drawing/2014/main" id="{EBC2E702-36AE-A2C8-3E80-28B2ABB4EC59}"/>
              </a:ext>
            </a:extLst>
          </p:cNvPr>
          <p:cNvGraphicFramePr>
            <a:graphicFrameLocks noGrp="1"/>
          </p:cNvGraphicFramePr>
          <p:nvPr>
            <p:extLst>
              <p:ext uri="{D42A27DB-BD31-4B8C-83A1-F6EECF244321}">
                <p14:modId xmlns:p14="http://schemas.microsoft.com/office/powerpoint/2010/main" val="1602194880"/>
              </p:ext>
            </p:extLst>
          </p:nvPr>
        </p:nvGraphicFramePr>
        <p:xfrm>
          <a:off x="101598" y="1780716"/>
          <a:ext cx="12027142" cy="4509962"/>
        </p:xfrm>
        <a:graphic>
          <a:graphicData uri="http://schemas.openxmlformats.org/drawingml/2006/table">
            <a:tbl>
              <a:tblPr firstRow="1" bandRow="1">
                <a:tableStyleId>{5C22544A-7EE6-4342-B048-85BDC9FD1C3A}</a:tableStyleId>
              </a:tblPr>
              <a:tblGrid>
                <a:gridCol w="6040410">
                  <a:extLst>
                    <a:ext uri="{9D8B030D-6E8A-4147-A177-3AD203B41FA5}">
                      <a16:colId xmlns:a16="http://schemas.microsoft.com/office/drawing/2014/main" val="746740604"/>
                    </a:ext>
                  </a:extLst>
                </a:gridCol>
                <a:gridCol w="5986732">
                  <a:extLst>
                    <a:ext uri="{9D8B030D-6E8A-4147-A177-3AD203B41FA5}">
                      <a16:colId xmlns:a16="http://schemas.microsoft.com/office/drawing/2014/main" val="713828832"/>
                    </a:ext>
                  </a:extLst>
                </a:gridCol>
              </a:tblGrid>
              <a:tr h="1178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F. Azzam et al. </a:t>
                      </a:r>
                      <a:r>
                        <a:rPr lang="fr-BF" sz="1800" b="1" kern="1200" dirty="0">
                          <a:solidFill>
                            <a:schemeClr val="lt1"/>
                          </a:solidFill>
                          <a:effectLst/>
                          <a:latin typeface="+mn-lt"/>
                          <a:ea typeface="+mn-ea"/>
                          <a:cs typeface="+mn-cs"/>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dirty="0"/>
                        <a:t>« The Use of Blockchain </a:t>
                      </a:r>
                      <a:r>
                        <a:rPr lang="fr-FR" sz="1800" dirty="0" err="1"/>
                        <a:t>Technology</a:t>
                      </a:r>
                      <a:r>
                        <a:rPr lang="fr-FR" sz="1800" dirty="0"/>
                        <a:t> and OCR in E-</a:t>
                      </a:r>
                      <a:r>
                        <a:rPr lang="fr-FR" sz="1800" dirty="0" err="1"/>
                        <a:t>Government</a:t>
                      </a:r>
                      <a:r>
                        <a:rPr lang="fr-FR" sz="1800" dirty="0"/>
                        <a:t> for Document Management: Inbound </a:t>
                      </a:r>
                      <a:r>
                        <a:rPr lang="fr-FR" sz="1800" dirty="0" err="1"/>
                        <a:t>Invoice</a:t>
                      </a:r>
                      <a:r>
                        <a:rPr lang="fr-FR" sz="1800" dirty="0"/>
                        <a:t> Management as an Example » (2023)</a:t>
                      </a:r>
                      <a:endParaRPr lang="fr-FR" sz="1800" b="1" kern="1200" dirty="0">
                        <a:solidFill>
                          <a:schemeClr val="lt1"/>
                        </a:solidFill>
                        <a:effectLst/>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Rana F. </a:t>
                      </a:r>
                      <a:r>
                        <a:rPr lang="fr-FR" sz="1800" b="1" kern="1200" dirty="0" err="1">
                          <a:solidFill>
                            <a:schemeClr val="lt1"/>
                          </a:solidFill>
                          <a:effectLst/>
                          <a:latin typeface="+mn-lt"/>
                          <a:ea typeface="+mn-ea"/>
                          <a:cs typeface="+mn-cs"/>
                        </a:rPr>
                        <a:t>Ghani</a:t>
                      </a:r>
                      <a:r>
                        <a:rPr lang="fr-FR" sz="1800" b="1" kern="1200" dirty="0">
                          <a:solidFill>
                            <a:schemeClr val="lt1"/>
                          </a:solidFill>
                          <a:effectLst/>
                          <a:latin typeface="+mn-lt"/>
                          <a:ea typeface="+mn-ea"/>
                          <a:cs typeface="+mn-cs"/>
                        </a:rPr>
                        <a:t> et al. [4]</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dirty="0"/>
                        <a:t>« </a:t>
                      </a:r>
                      <a:r>
                        <a:rPr lang="fr-FR" sz="1800" dirty="0" err="1"/>
                        <a:t>Proposed</a:t>
                      </a:r>
                      <a:r>
                        <a:rPr lang="fr-FR" sz="1800" dirty="0"/>
                        <a:t> Framework for Official Document Sharing and </a:t>
                      </a:r>
                      <a:r>
                        <a:rPr lang="fr-FR" sz="1800" dirty="0" err="1"/>
                        <a:t>Verification</a:t>
                      </a:r>
                      <a:r>
                        <a:rPr lang="fr-FR" sz="1800" dirty="0"/>
                        <a:t> in E-</a:t>
                      </a:r>
                      <a:r>
                        <a:rPr lang="fr-FR" sz="1800" dirty="0" err="1"/>
                        <a:t>government</a:t>
                      </a:r>
                      <a:r>
                        <a:rPr lang="fr-FR" sz="1800" dirty="0"/>
                        <a:t> </a:t>
                      </a:r>
                      <a:r>
                        <a:rPr lang="fr-FR" sz="1800" dirty="0" err="1"/>
                        <a:t>Environment</a:t>
                      </a:r>
                      <a:r>
                        <a:rPr lang="fr-FR" sz="1800" dirty="0"/>
                        <a:t> </a:t>
                      </a:r>
                      <a:r>
                        <a:rPr lang="fr-FR" sz="1800" dirty="0" err="1"/>
                        <a:t>Based</a:t>
                      </a:r>
                      <a:r>
                        <a:rPr lang="fr-FR" sz="1800" dirty="0"/>
                        <a:t> on Blockchain </a:t>
                      </a:r>
                      <a:r>
                        <a:rPr lang="fr-FR" sz="1800" dirty="0" err="1"/>
                        <a:t>Technology</a:t>
                      </a:r>
                      <a:r>
                        <a:rPr lang="fr-FR" sz="1800" dirty="0"/>
                        <a:t> » (2022)</a:t>
                      </a:r>
                      <a:endParaRPr lang="fr-BF" sz="1800" b="1" kern="1200" dirty="0">
                        <a:solidFill>
                          <a:schemeClr val="lt1"/>
                        </a:solidFill>
                        <a:effectLst/>
                        <a:latin typeface="+mn-lt"/>
                        <a:ea typeface="+mn-ea"/>
                        <a:cs typeface="+mn-cs"/>
                      </a:endParaRPr>
                    </a:p>
                  </a:txBody>
                  <a:tcPr anchor="ctr"/>
                </a:tc>
                <a:extLst>
                  <a:ext uri="{0D108BD9-81ED-4DB2-BD59-A6C34878D82A}">
                    <a16:rowId xmlns:a16="http://schemas.microsoft.com/office/drawing/2014/main" val="2465244866"/>
                  </a:ext>
                </a:extLst>
              </a:tr>
              <a:tr h="3321242">
                <a:tc>
                  <a:txBody>
                    <a:bodyPr/>
                    <a:lstStyle/>
                    <a:p>
                      <a:pPr algn="just"/>
                      <a:r>
                        <a:rPr lang="fr-FR" sz="1800" kern="1200" dirty="0">
                          <a:solidFill>
                            <a:schemeClr val="dk1"/>
                          </a:solidFill>
                          <a:effectLst/>
                          <a:latin typeface="+mn-lt"/>
                          <a:ea typeface="+mn-ea"/>
                          <a:cs typeface="+mn-cs"/>
                        </a:rPr>
                        <a:t>Modèle (</a:t>
                      </a:r>
                      <a:r>
                        <a:rPr lang="fr-FR" sz="1800" b="1" kern="1200" dirty="0" err="1">
                          <a:solidFill>
                            <a:schemeClr val="dk1"/>
                          </a:solidFill>
                          <a:effectLst/>
                          <a:latin typeface="+mn-lt"/>
                          <a:ea typeface="+mn-ea"/>
                          <a:cs typeface="+mn-cs"/>
                        </a:rPr>
                        <a:t>SECHash</a:t>
                      </a:r>
                      <a:r>
                        <a:rPr lang="fr-FR" sz="1800" kern="1200" dirty="0">
                          <a:solidFill>
                            <a:schemeClr val="dk1"/>
                          </a:solidFill>
                          <a:effectLst/>
                          <a:latin typeface="+mn-lt"/>
                          <a:ea typeface="+mn-ea"/>
                          <a:cs typeface="+mn-cs"/>
                        </a:rPr>
                        <a:t>) intégrant le réseau public de blockchain LBRY et l’OCR afin de maintenir l'exactitude des données des factures entrantes tout en interdisant toute modification après leur acceptation par les agences étatiques, de garantir que les factures acceptées ne soient ni détruites ni perdues. L'auteur reconnaît que l'utilisation de LBRY et d'Aspire ne semble pas suffisamment générique pour appliquer ce modèle de manière standard à plusieurs domaines divers. Et que </a:t>
                      </a:r>
                      <a:r>
                        <a:rPr lang="fr-FR" sz="1800" b="1" kern="1200" dirty="0">
                          <a:solidFill>
                            <a:schemeClr val="dk1"/>
                          </a:solidFill>
                          <a:effectLst/>
                          <a:latin typeface="+mn-lt"/>
                          <a:ea typeface="+mn-ea"/>
                          <a:cs typeface="+mn-cs"/>
                        </a:rPr>
                        <a:t>la bonne foi des acteurs gouvernementaux serait indispensable </a:t>
                      </a:r>
                      <a:r>
                        <a:rPr lang="fr-FR" sz="1800" kern="1200" dirty="0">
                          <a:solidFill>
                            <a:schemeClr val="dk1"/>
                          </a:solidFill>
                          <a:effectLst/>
                          <a:latin typeface="+mn-lt"/>
                          <a:ea typeface="+mn-ea"/>
                          <a:cs typeface="+mn-cs"/>
                        </a:rPr>
                        <a:t>pour réduire de manière significative la fraude liée aux documents électroniques.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Estiment que  l’utilisation de la blockchain dans l’e-gouvernement renforcerait la stabilité et l'intégrité des informations tout en prévenant la corruption. C.-à-d. : possibilité de stocker et de partager les données du gouvernement, des citoyens et des entreprises de manière sécurisée et contrôlée ;  réduction des coûts de gestion et des risques de corruption/abus ; élimination des intermédiaires humains ; et confiance utilisateurs accrue. Un système (FBCOLM) est conçu pour la gestion des lettres officielles, permettant d'ajouter de nouveaux documents officiels et de vérifier des documents existants.</a:t>
                      </a:r>
                    </a:p>
                  </a:txBody>
                  <a:tcPr/>
                </a:tc>
                <a:extLst>
                  <a:ext uri="{0D108BD9-81ED-4DB2-BD59-A6C34878D82A}">
                    <a16:rowId xmlns:a16="http://schemas.microsoft.com/office/drawing/2014/main" val="443537392"/>
                  </a:ext>
                </a:extLst>
              </a:tr>
            </a:tbl>
          </a:graphicData>
        </a:graphic>
      </p:graphicFrame>
    </p:spTree>
    <p:extLst>
      <p:ext uri="{BB962C8B-B14F-4D97-AF65-F5344CB8AC3E}">
        <p14:creationId xmlns:p14="http://schemas.microsoft.com/office/powerpoint/2010/main" val="3248633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0C50E-ED5E-BC81-8019-5F40F60C4D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EEC8696-5ACB-7343-AF6A-65A7331FF37C}"/>
              </a:ext>
            </a:extLst>
          </p:cNvPr>
          <p:cNvSpPr>
            <a:spLocks noGrp="1"/>
          </p:cNvSpPr>
          <p:nvPr>
            <p:ph type="title"/>
          </p:nvPr>
        </p:nvSpPr>
        <p:spPr/>
        <p:txBody>
          <a:bodyPr>
            <a:normAutofit/>
          </a:bodyPr>
          <a:lstStyle/>
          <a:p>
            <a:r>
              <a:rPr lang="fr-FR" sz="6000" b="1" u="sng" dirty="0">
                <a:solidFill>
                  <a:schemeClr val="accent1"/>
                </a:solidFill>
              </a:rPr>
              <a:t>Etat de l’art</a:t>
            </a:r>
            <a:r>
              <a:rPr lang="fr-FR" sz="6000" b="1" dirty="0">
                <a:solidFill>
                  <a:schemeClr val="accent1"/>
                </a:solidFill>
              </a:rPr>
              <a:t> </a:t>
            </a:r>
          </a:p>
        </p:txBody>
      </p:sp>
      <p:sp>
        <p:nvSpPr>
          <p:cNvPr id="4" name="ZoneTexte 3">
            <a:extLst>
              <a:ext uri="{FF2B5EF4-FFF2-40B4-BE49-F238E27FC236}">
                <a16:creationId xmlns:a16="http://schemas.microsoft.com/office/drawing/2014/main" id="{4DC84206-1CB1-30D4-0BDF-211B5E1F7BFF}"/>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graphicFrame>
        <p:nvGraphicFramePr>
          <p:cNvPr id="9" name="Tableau 8">
            <a:extLst>
              <a:ext uri="{FF2B5EF4-FFF2-40B4-BE49-F238E27FC236}">
                <a16:creationId xmlns:a16="http://schemas.microsoft.com/office/drawing/2014/main" id="{7261136A-A7D6-B7E5-5843-B6D927A042FB}"/>
              </a:ext>
            </a:extLst>
          </p:cNvPr>
          <p:cNvGraphicFramePr>
            <a:graphicFrameLocks noGrp="1"/>
          </p:cNvGraphicFramePr>
          <p:nvPr>
            <p:extLst>
              <p:ext uri="{D42A27DB-BD31-4B8C-83A1-F6EECF244321}">
                <p14:modId xmlns:p14="http://schemas.microsoft.com/office/powerpoint/2010/main" val="4062080241"/>
              </p:ext>
            </p:extLst>
          </p:nvPr>
        </p:nvGraphicFramePr>
        <p:xfrm>
          <a:off x="101597" y="1780715"/>
          <a:ext cx="12001263" cy="4491885"/>
        </p:xfrm>
        <a:graphic>
          <a:graphicData uri="http://schemas.openxmlformats.org/drawingml/2006/table">
            <a:tbl>
              <a:tblPr firstRow="1" bandRow="1">
                <a:tableStyleId>{5C22544A-7EE6-4342-B048-85BDC9FD1C3A}</a:tableStyleId>
              </a:tblPr>
              <a:tblGrid>
                <a:gridCol w="6014531">
                  <a:extLst>
                    <a:ext uri="{9D8B030D-6E8A-4147-A177-3AD203B41FA5}">
                      <a16:colId xmlns:a16="http://schemas.microsoft.com/office/drawing/2014/main" val="713828832"/>
                    </a:ext>
                  </a:extLst>
                </a:gridCol>
                <a:gridCol w="5986732">
                  <a:extLst>
                    <a:ext uri="{9D8B030D-6E8A-4147-A177-3AD203B41FA5}">
                      <a16:colId xmlns:a16="http://schemas.microsoft.com/office/drawing/2014/main" val="2581284275"/>
                    </a:ext>
                  </a:extLst>
                </a:gridCol>
              </a:tblGrid>
              <a:tr h="4449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err="1">
                          <a:solidFill>
                            <a:schemeClr val="lt1"/>
                          </a:solidFill>
                          <a:effectLst/>
                          <a:latin typeface="+mn-lt"/>
                          <a:ea typeface="+mn-ea"/>
                          <a:cs typeface="+mn-cs"/>
                        </a:rPr>
                        <a:t>Isyak</a:t>
                      </a:r>
                      <a:r>
                        <a:rPr lang="fr-FR" sz="1800" b="1" kern="1200" dirty="0">
                          <a:solidFill>
                            <a:schemeClr val="lt1"/>
                          </a:solidFill>
                          <a:effectLst/>
                          <a:latin typeface="+mn-lt"/>
                          <a:ea typeface="+mn-ea"/>
                          <a:cs typeface="+mn-cs"/>
                        </a:rPr>
                        <a:t> </a:t>
                      </a:r>
                      <a:r>
                        <a:rPr lang="fr-FR" sz="1800" b="1" kern="1200" dirty="0" err="1">
                          <a:solidFill>
                            <a:schemeClr val="lt1"/>
                          </a:solidFill>
                          <a:effectLst/>
                          <a:latin typeface="+mn-lt"/>
                          <a:ea typeface="+mn-ea"/>
                          <a:cs typeface="+mn-cs"/>
                        </a:rPr>
                        <a:t>Meirobie</a:t>
                      </a:r>
                      <a:r>
                        <a:rPr lang="fr-FR" sz="1800" b="1" kern="1200" dirty="0">
                          <a:solidFill>
                            <a:schemeClr val="lt1"/>
                          </a:solidFill>
                          <a:effectLst/>
                          <a:latin typeface="+mn-lt"/>
                          <a:ea typeface="+mn-ea"/>
                          <a:cs typeface="+mn-cs"/>
                        </a:rPr>
                        <a:t> et al. </a:t>
                      </a:r>
                      <a:r>
                        <a:rPr lang="fr-BF" sz="1800" b="1" kern="1200" dirty="0">
                          <a:solidFill>
                            <a:schemeClr val="lt1"/>
                          </a:solidFill>
                          <a:effectLst/>
                          <a:latin typeface="+mn-lt"/>
                          <a:ea typeface="+mn-ea"/>
                          <a:cs typeface="+mn-cs"/>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dirty="0"/>
                        <a:t>« Framework </a:t>
                      </a:r>
                      <a:r>
                        <a:rPr lang="fr-FR" sz="1800" dirty="0" err="1"/>
                        <a:t>Authentication</a:t>
                      </a:r>
                      <a:r>
                        <a:rPr lang="fr-FR" sz="1800" dirty="0"/>
                        <a:t> e-document </a:t>
                      </a:r>
                      <a:r>
                        <a:rPr lang="fr-FR" sz="1800" dirty="0" err="1"/>
                        <a:t>using</a:t>
                      </a:r>
                      <a:r>
                        <a:rPr lang="fr-FR" sz="1800" dirty="0"/>
                        <a:t> Blockchain </a:t>
                      </a:r>
                      <a:r>
                        <a:rPr lang="fr-FR" sz="1800" dirty="0" err="1"/>
                        <a:t>Technology</a:t>
                      </a:r>
                      <a:r>
                        <a:rPr lang="fr-FR" sz="1800" dirty="0"/>
                        <a:t> on the </a:t>
                      </a:r>
                      <a:r>
                        <a:rPr lang="fr-FR" sz="1800" dirty="0" err="1"/>
                        <a:t>Government</a:t>
                      </a:r>
                      <a:r>
                        <a:rPr lang="fr-FR" sz="1800" dirty="0"/>
                        <a:t> system » (2022)</a:t>
                      </a:r>
                      <a:endParaRPr lang="fr-BF" sz="1800" b="1" kern="1200" dirty="0">
                        <a:solidFill>
                          <a:schemeClr val="lt1"/>
                        </a:solidFill>
                        <a:effectLst/>
                        <a:latin typeface="+mn-lt"/>
                        <a:ea typeface="+mn-ea"/>
                        <a:cs typeface="+mn-cs"/>
                      </a:endParaRPr>
                    </a:p>
                  </a:txBody>
                  <a:tcPr anchor="ctr"/>
                </a:tc>
                <a:tc>
                  <a:txBody>
                    <a:bodyPr/>
                    <a:lstStyle/>
                    <a:p>
                      <a:pPr algn="ctr"/>
                      <a:r>
                        <a:rPr lang="fr-FR" dirty="0"/>
                        <a:t>Ana BAKHOUM [6]</a:t>
                      </a:r>
                    </a:p>
                    <a:p>
                      <a:pPr algn="ctr"/>
                      <a:r>
                        <a:rPr lang="fr-FR" dirty="0"/>
                        <a:t>« </a:t>
                      </a:r>
                      <a:r>
                        <a:rPr lang="fr-FR" sz="1800" dirty="0"/>
                        <a:t>La Blockchain pour la Sécurisation des E-livrets scolaires » (2019)</a:t>
                      </a:r>
                      <a:endParaRPr lang="fr-BF" dirty="0"/>
                    </a:p>
                  </a:txBody>
                  <a:tcPr anchor="ctr"/>
                </a:tc>
                <a:extLst>
                  <a:ext uri="{0D108BD9-81ED-4DB2-BD59-A6C34878D82A}">
                    <a16:rowId xmlns:a16="http://schemas.microsoft.com/office/drawing/2014/main" val="2465244866"/>
                  </a:ext>
                </a:extLst>
              </a:tr>
              <a:tr h="3577485">
                <a:tc>
                  <a:txBody>
                    <a:bodyPr/>
                    <a:lstStyle/>
                    <a:p>
                      <a:pPr algn="just"/>
                      <a:r>
                        <a:rPr lang="fr-FR" sz="1800" kern="1200" dirty="0">
                          <a:solidFill>
                            <a:schemeClr val="dk1"/>
                          </a:solidFill>
                          <a:effectLst/>
                          <a:latin typeface="+mn-lt"/>
                          <a:ea typeface="+mn-ea"/>
                          <a:cs typeface="+mn-cs"/>
                        </a:rPr>
                        <a:t>Cadre pour l'authentification des documents électroniques à l'aide de la technologie Blockchain pour le système gouvernemental indonésien. Go-Chain stocke la signature hachée (en SHA-256) (courbe P-256 DSA) de la transcription numérique du document sur une blockchain publique. Cette transcription est également distribuée au public au format </a:t>
                      </a:r>
                      <a:r>
                        <a:rPr lang="fr-FR" sz="1800" kern="1200" dirty="0" err="1">
                          <a:solidFill>
                            <a:schemeClr val="dk1"/>
                          </a:solidFill>
                          <a:effectLst/>
                          <a:latin typeface="+mn-lt"/>
                          <a:ea typeface="+mn-ea"/>
                          <a:cs typeface="+mn-cs"/>
                        </a:rPr>
                        <a:t>Json</a:t>
                      </a:r>
                      <a:r>
                        <a:rPr lang="fr-FR" sz="1800" kern="1200" dirty="0">
                          <a:solidFill>
                            <a:schemeClr val="dk1"/>
                          </a:solidFill>
                          <a:effectLst/>
                          <a:latin typeface="+mn-lt"/>
                          <a:ea typeface="+mn-ea"/>
                          <a:cs typeface="+mn-cs"/>
                        </a:rPr>
                        <a:t>. L'auteur a opté pour le protocole de consensus Proof of </a:t>
                      </a:r>
                      <a:r>
                        <a:rPr lang="fr-FR" sz="1800" kern="1200" dirty="0" err="1">
                          <a:solidFill>
                            <a:schemeClr val="dk1"/>
                          </a:solidFill>
                          <a:effectLst/>
                          <a:latin typeface="+mn-lt"/>
                          <a:ea typeface="+mn-ea"/>
                          <a:cs typeface="+mn-cs"/>
                        </a:rPr>
                        <a:t>Authority</a:t>
                      </a:r>
                      <a:r>
                        <a:rPr lang="fr-FR" sz="1800" kern="1200" dirty="0">
                          <a:solidFill>
                            <a:schemeClr val="dk1"/>
                          </a:solidFill>
                          <a:effectLst/>
                          <a:latin typeface="+mn-lt"/>
                          <a:ea typeface="+mn-ea"/>
                          <a:cs typeface="+mn-cs"/>
                        </a:rPr>
                        <a:t> (</a:t>
                      </a:r>
                      <a:r>
                        <a:rPr lang="fr-FR" sz="1800" kern="1200" dirty="0" err="1">
                          <a:solidFill>
                            <a:schemeClr val="dk1"/>
                          </a:solidFill>
                          <a:effectLst/>
                          <a:latin typeface="+mn-lt"/>
                          <a:ea typeface="+mn-ea"/>
                          <a:cs typeface="+mn-cs"/>
                        </a:rPr>
                        <a:t>PoA</a:t>
                      </a:r>
                      <a:r>
                        <a:rPr lang="fr-FR" sz="1800" kern="1200" dirty="0">
                          <a:solidFill>
                            <a:schemeClr val="dk1"/>
                          </a:solidFill>
                          <a:effectLst/>
                          <a:latin typeface="+mn-lt"/>
                          <a:ea typeface="+mn-ea"/>
                          <a:cs typeface="+mn-cs"/>
                        </a:rPr>
                        <a:t>).</a:t>
                      </a:r>
                    </a:p>
                  </a:txBody>
                  <a:tcPr/>
                </a:tc>
                <a:tc>
                  <a:txBody>
                    <a:bodyPr/>
                    <a:lstStyle/>
                    <a:p>
                      <a:pPr algn="just"/>
                      <a:r>
                        <a:rPr lang="fr-FR" sz="1800" kern="1200" dirty="0">
                          <a:solidFill>
                            <a:schemeClr val="dk1"/>
                          </a:solidFill>
                          <a:effectLst/>
                          <a:latin typeface="+mn-lt"/>
                          <a:ea typeface="+mn-ea"/>
                          <a:cs typeface="+mn-cs"/>
                        </a:rPr>
                        <a:t>Système décentralisé pour sauvegarder et sécuriser les bulletins scolaires électroniques dans la blockchain Ethereum via un contrat intelligent. Le but était de garantir la fiabilité, l'authenticité, la transparence et la sécurité des bulletins électroniques.</a:t>
                      </a:r>
                    </a:p>
                  </a:txBody>
                  <a:tcPr/>
                </a:tc>
                <a:extLst>
                  <a:ext uri="{0D108BD9-81ED-4DB2-BD59-A6C34878D82A}">
                    <a16:rowId xmlns:a16="http://schemas.microsoft.com/office/drawing/2014/main" val="443537392"/>
                  </a:ext>
                </a:extLst>
              </a:tr>
            </a:tbl>
          </a:graphicData>
        </a:graphic>
      </p:graphicFrame>
    </p:spTree>
    <p:extLst>
      <p:ext uri="{BB962C8B-B14F-4D97-AF65-F5344CB8AC3E}">
        <p14:creationId xmlns:p14="http://schemas.microsoft.com/office/powerpoint/2010/main" val="1023031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ED0F0-185E-047B-914C-3A73594D32B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419AC31-1A83-B8F2-B4C7-32C900274383}"/>
              </a:ext>
            </a:extLst>
          </p:cNvPr>
          <p:cNvSpPr>
            <a:spLocks noGrp="1"/>
          </p:cNvSpPr>
          <p:nvPr>
            <p:ph type="title"/>
          </p:nvPr>
        </p:nvSpPr>
        <p:spPr/>
        <p:txBody>
          <a:bodyPr>
            <a:normAutofit/>
          </a:bodyPr>
          <a:lstStyle/>
          <a:p>
            <a:r>
              <a:rPr lang="fr-FR" sz="6000" b="1" u="sng" dirty="0">
                <a:solidFill>
                  <a:schemeClr val="accent1"/>
                </a:solidFill>
              </a:rPr>
              <a:t>Activités et méthodologie</a:t>
            </a:r>
            <a:endParaRPr lang="fr-FR" sz="6000" b="1" dirty="0">
              <a:solidFill>
                <a:schemeClr val="accent1"/>
              </a:solidFill>
            </a:endParaRPr>
          </a:p>
        </p:txBody>
      </p:sp>
      <p:sp>
        <p:nvSpPr>
          <p:cNvPr id="3" name="Espace réservé du contenu 2">
            <a:extLst>
              <a:ext uri="{FF2B5EF4-FFF2-40B4-BE49-F238E27FC236}">
                <a16:creationId xmlns:a16="http://schemas.microsoft.com/office/drawing/2014/main" id="{FF97B777-DFCE-5491-09D5-61FC3E91285F}"/>
              </a:ext>
            </a:extLst>
          </p:cNvPr>
          <p:cNvSpPr>
            <a:spLocks noGrp="1"/>
          </p:cNvSpPr>
          <p:nvPr>
            <p:ph idx="1"/>
          </p:nvPr>
        </p:nvSpPr>
        <p:spPr>
          <a:xfrm>
            <a:off x="98190" y="1845733"/>
            <a:ext cx="12012890" cy="4494681"/>
          </a:xfrm>
        </p:spPr>
        <p:txBody>
          <a:bodyPr>
            <a:noAutofit/>
          </a:bodyPr>
          <a:lstStyle/>
          <a:p>
            <a:pPr algn="just">
              <a:buFont typeface="Wingdings" pitchFamily="2" charset="2"/>
              <a:buChar char="q"/>
            </a:pPr>
            <a:r>
              <a:rPr lang="fr-FR" sz="3200" dirty="0"/>
              <a:t> Étape 1 : Analyse des systèmes existants et des processus métier</a:t>
            </a:r>
          </a:p>
          <a:p>
            <a:pPr algn="just">
              <a:buFont typeface="Wingdings" pitchFamily="2" charset="2"/>
              <a:buChar char="q"/>
            </a:pPr>
            <a:r>
              <a:rPr lang="fr-FR" sz="3200" dirty="0"/>
              <a:t> Étape 2 : Revue de littérature </a:t>
            </a:r>
          </a:p>
          <a:p>
            <a:pPr algn="just">
              <a:buFont typeface="Wingdings" pitchFamily="2" charset="2"/>
              <a:buChar char="q"/>
            </a:pPr>
            <a:r>
              <a:rPr lang="fr-FR" sz="3200" dirty="0"/>
              <a:t> Étape 3 : Conception de l’approche</a:t>
            </a:r>
          </a:p>
          <a:p>
            <a:pPr algn="just">
              <a:buFont typeface="Wingdings" pitchFamily="2" charset="2"/>
              <a:buChar char="q"/>
            </a:pPr>
            <a:r>
              <a:rPr lang="fr-FR" sz="3200" dirty="0"/>
              <a:t> Étape 4 : Développement et expérimentation</a:t>
            </a:r>
          </a:p>
          <a:p>
            <a:pPr algn="just">
              <a:buFont typeface="Wingdings" pitchFamily="2" charset="2"/>
              <a:buChar char="q"/>
            </a:pPr>
            <a:r>
              <a:rPr lang="fr-FR" sz="3200" dirty="0"/>
              <a:t> Étape 5 : Mise en œuvre et itération</a:t>
            </a:r>
          </a:p>
          <a:p>
            <a:pPr algn="just">
              <a:buFont typeface="Wingdings" pitchFamily="2" charset="2"/>
              <a:buChar char="q"/>
            </a:pPr>
            <a:r>
              <a:rPr lang="fr-FR" sz="3200" dirty="0"/>
              <a:t> Étape 6 : Évaluation et capitalisation </a:t>
            </a:r>
          </a:p>
        </p:txBody>
      </p:sp>
      <p:sp>
        <p:nvSpPr>
          <p:cNvPr id="4" name="ZoneTexte 3">
            <a:extLst>
              <a:ext uri="{FF2B5EF4-FFF2-40B4-BE49-F238E27FC236}">
                <a16:creationId xmlns:a16="http://schemas.microsoft.com/office/drawing/2014/main" id="{4E1523A9-97BF-E8D1-2071-1C05B69A97D3}"/>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1321568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86D8A-B793-2699-EAD6-F37BEC56D3C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0DBA575-1B45-9354-BE04-FD38962B85FC}"/>
              </a:ext>
            </a:extLst>
          </p:cNvPr>
          <p:cNvSpPr>
            <a:spLocks noGrp="1"/>
          </p:cNvSpPr>
          <p:nvPr>
            <p:ph type="title"/>
          </p:nvPr>
        </p:nvSpPr>
        <p:spPr/>
        <p:txBody>
          <a:bodyPr>
            <a:normAutofit/>
          </a:bodyPr>
          <a:lstStyle/>
          <a:p>
            <a:r>
              <a:rPr lang="fr-FR" sz="6000" b="1" u="sng" dirty="0">
                <a:solidFill>
                  <a:schemeClr val="accent1"/>
                </a:solidFill>
              </a:rPr>
              <a:t>Chronogramme</a:t>
            </a:r>
            <a:endParaRPr lang="fr-FR" sz="6000" b="1" dirty="0">
              <a:solidFill>
                <a:schemeClr val="accent1"/>
              </a:solidFill>
            </a:endParaRPr>
          </a:p>
        </p:txBody>
      </p:sp>
      <p:sp>
        <p:nvSpPr>
          <p:cNvPr id="4" name="ZoneTexte 3">
            <a:extLst>
              <a:ext uri="{FF2B5EF4-FFF2-40B4-BE49-F238E27FC236}">
                <a16:creationId xmlns:a16="http://schemas.microsoft.com/office/drawing/2014/main" id="{2C3F651E-9617-38DD-AAF9-D22AE23DFDD7}"/>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graphicFrame>
        <p:nvGraphicFramePr>
          <p:cNvPr id="5" name="Tableau 4">
            <a:extLst>
              <a:ext uri="{FF2B5EF4-FFF2-40B4-BE49-F238E27FC236}">
                <a16:creationId xmlns:a16="http://schemas.microsoft.com/office/drawing/2014/main" id="{0E4F7AEC-94B5-EBE0-CC74-54F160C472D4}"/>
              </a:ext>
            </a:extLst>
          </p:cNvPr>
          <p:cNvGraphicFramePr>
            <a:graphicFrameLocks noGrp="1"/>
          </p:cNvGraphicFramePr>
          <p:nvPr>
            <p:extLst>
              <p:ext uri="{D42A27DB-BD31-4B8C-83A1-F6EECF244321}">
                <p14:modId xmlns:p14="http://schemas.microsoft.com/office/powerpoint/2010/main" val="2836015916"/>
              </p:ext>
            </p:extLst>
          </p:nvPr>
        </p:nvGraphicFramePr>
        <p:xfrm>
          <a:off x="86264" y="1832472"/>
          <a:ext cx="12007968" cy="4320000"/>
        </p:xfrm>
        <a:graphic>
          <a:graphicData uri="http://schemas.openxmlformats.org/drawingml/2006/table">
            <a:tbl>
              <a:tblPr firstRow="1" bandRow="1">
                <a:tableStyleId>{5C22544A-7EE6-4342-B048-85BDC9FD1C3A}</a:tableStyleId>
              </a:tblPr>
              <a:tblGrid>
                <a:gridCol w="9463178">
                  <a:extLst>
                    <a:ext uri="{9D8B030D-6E8A-4147-A177-3AD203B41FA5}">
                      <a16:colId xmlns:a16="http://schemas.microsoft.com/office/drawing/2014/main" val="2299189902"/>
                    </a:ext>
                  </a:extLst>
                </a:gridCol>
                <a:gridCol w="845388">
                  <a:extLst>
                    <a:ext uri="{9D8B030D-6E8A-4147-A177-3AD203B41FA5}">
                      <a16:colId xmlns:a16="http://schemas.microsoft.com/office/drawing/2014/main" val="1478396344"/>
                    </a:ext>
                  </a:extLst>
                </a:gridCol>
                <a:gridCol w="854015">
                  <a:extLst>
                    <a:ext uri="{9D8B030D-6E8A-4147-A177-3AD203B41FA5}">
                      <a16:colId xmlns:a16="http://schemas.microsoft.com/office/drawing/2014/main" val="3944735165"/>
                    </a:ext>
                  </a:extLst>
                </a:gridCol>
                <a:gridCol w="845387">
                  <a:extLst>
                    <a:ext uri="{9D8B030D-6E8A-4147-A177-3AD203B41FA5}">
                      <a16:colId xmlns:a16="http://schemas.microsoft.com/office/drawing/2014/main" val="2480014228"/>
                    </a:ext>
                  </a:extLst>
                </a:gridCol>
              </a:tblGrid>
              <a:tr h="540000">
                <a:tc>
                  <a:txBody>
                    <a:bodyPr/>
                    <a:lstStyle/>
                    <a:p>
                      <a:r>
                        <a:rPr lang="fr-FR" sz="2400" dirty="0"/>
                        <a:t>A</a:t>
                      </a:r>
                      <a:r>
                        <a:rPr lang="fr-BF" sz="2400" dirty="0"/>
                        <a:t>CTIVITÉS</a:t>
                      </a:r>
                    </a:p>
                  </a:txBody>
                  <a:tcPr anchor="ctr"/>
                </a:tc>
                <a:tc>
                  <a:txBody>
                    <a:bodyPr/>
                    <a:lstStyle/>
                    <a:p>
                      <a:pPr algn="ctr"/>
                      <a:r>
                        <a:rPr lang="fr-FR" sz="2400" dirty="0"/>
                        <a:t>A</a:t>
                      </a:r>
                      <a:r>
                        <a:rPr lang="fr-BF" sz="2400" dirty="0"/>
                        <a:t>N 1</a:t>
                      </a:r>
                    </a:p>
                  </a:txBody>
                  <a:tcPr anchor="ctr"/>
                </a:tc>
                <a:tc>
                  <a:txBody>
                    <a:bodyPr/>
                    <a:lstStyle/>
                    <a:p>
                      <a:pPr algn="ctr"/>
                      <a:r>
                        <a:rPr lang="fr-BF" sz="2400" dirty="0"/>
                        <a:t>AN 2</a:t>
                      </a:r>
                    </a:p>
                  </a:txBody>
                  <a:tcPr anchor="ctr"/>
                </a:tc>
                <a:tc>
                  <a:txBody>
                    <a:bodyPr/>
                    <a:lstStyle/>
                    <a:p>
                      <a:pPr algn="ctr"/>
                      <a:r>
                        <a:rPr lang="fr-BF" sz="2400" dirty="0"/>
                        <a:t>AN 3</a:t>
                      </a:r>
                    </a:p>
                  </a:txBody>
                  <a:tcPr anchor="ctr"/>
                </a:tc>
                <a:extLst>
                  <a:ext uri="{0D108BD9-81ED-4DB2-BD59-A6C34878D82A}">
                    <a16:rowId xmlns:a16="http://schemas.microsoft.com/office/drawing/2014/main" val="708230753"/>
                  </a:ext>
                </a:extLst>
              </a:tr>
              <a:tr h="540000">
                <a:tc>
                  <a:txBody>
                    <a:bodyPr/>
                    <a:lstStyle/>
                    <a:p>
                      <a:r>
                        <a:rPr lang="fr-FR" sz="2200" dirty="0"/>
                        <a:t>Effectuer des entretiens avec des acteurs de structures administratives, etc.</a:t>
                      </a:r>
                      <a:endParaRPr lang="fr-BF" sz="2200" dirty="0"/>
                    </a:p>
                  </a:txBody>
                  <a:tcPr/>
                </a:tc>
                <a:tc>
                  <a:txBody>
                    <a:bodyPr/>
                    <a:lstStyle/>
                    <a:p>
                      <a:pPr algn="ctr"/>
                      <a:r>
                        <a:rPr lang="fr-BF" sz="2200" dirty="0"/>
                        <a:t>X</a:t>
                      </a:r>
                    </a:p>
                  </a:txBody>
                  <a:tcPr anchor="ctr"/>
                </a:tc>
                <a:tc>
                  <a:txBody>
                    <a:bodyPr/>
                    <a:lstStyle/>
                    <a:p>
                      <a:pPr algn="ctr"/>
                      <a:endParaRPr lang="fr-BF" sz="2200" dirty="0"/>
                    </a:p>
                  </a:txBody>
                  <a:tcPr anchor="ctr"/>
                </a:tc>
                <a:tc>
                  <a:txBody>
                    <a:bodyPr/>
                    <a:lstStyle/>
                    <a:p>
                      <a:pPr algn="ctr"/>
                      <a:endParaRPr lang="fr-BF" sz="2200"/>
                    </a:p>
                  </a:txBody>
                  <a:tcPr anchor="ctr"/>
                </a:tc>
                <a:extLst>
                  <a:ext uri="{0D108BD9-81ED-4DB2-BD59-A6C34878D82A}">
                    <a16:rowId xmlns:a16="http://schemas.microsoft.com/office/drawing/2014/main" val="2809146287"/>
                  </a:ext>
                </a:extLst>
              </a:tr>
              <a:tr h="540000">
                <a:tc>
                  <a:txBody>
                    <a:bodyPr/>
                    <a:lstStyle/>
                    <a:p>
                      <a:r>
                        <a:rPr lang="fr-FR" sz="2200" dirty="0"/>
                        <a:t>Faire une revue de littérature</a:t>
                      </a:r>
                      <a:endParaRPr lang="fr-BF" sz="2200" dirty="0"/>
                    </a:p>
                  </a:txBody>
                  <a:tcPr/>
                </a:tc>
                <a:tc>
                  <a:txBody>
                    <a:bodyPr/>
                    <a:lstStyle/>
                    <a:p>
                      <a:pPr algn="ctr"/>
                      <a:r>
                        <a:rPr lang="fr-BF" sz="2200" dirty="0"/>
                        <a:t>X</a:t>
                      </a:r>
                    </a:p>
                  </a:txBody>
                  <a:tcPr anchor="ctr"/>
                </a:tc>
                <a:tc>
                  <a:txBody>
                    <a:bodyPr/>
                    <a:lstStyle/>
                    <a:p>
                      <a:pPr algn="ctr"/>
                      <a:endParaRPr lang="fr-BF" sz="2200" dirty="0"/>
                    </a:p>
                  </a:txBody>
                  <a:tcPr anchor="ctr"/>
                </a:tc>
                <a:tc>
                  <a:txBody>
                    <a:bodyPr/>
                    <a:lstStyle/>
                    <a:p>
                      <a:pPr algn="ctr"/>
                      <a:endParaRPr lang="fr-BF" sz="2200" dirty="0"/>
                    </a:p>
                  </a:txBody>
                  <a:tcPr anchor="ctr"/>
                </a:tc>
                <a:extLst>
                  <a:ext uri="{0D108BD9-81ED-4DB2-BD59-A6C34878D82A}">
                    <a16:rowId xmlns:a16="http://schemas.microsoft.com/office/drawing/2014/main" val="3716080662"/>
                  </a:ext>
                </a:extLst>
              </a:tr>
              <a:tr h="540000">
                <a:tc>
                  <a:txBody>
                    <a:bodyPr/>
                    <a:lstStyle/>
                    <a:p>
                      <a:r>
                        <a:rPr lang="fr-FR" sz="2200" kern="1200" dirty="0">
                          <a:solidFill>
                            <a:schemeClr val="dk1"/>
                          </a:solidFill>
                          <a:effectLst/>
                          <a:latin typeface="+mn-lt"/>
                          <a:ea typeface="+mn-ea"/>
                          <a:cs typeface="+mn-cs"/>
                        </a:rPr>
                        <a:t>Soumettre des contributions scientifiques</a:t>
                      </a:r>
                      <a:r>
                        <a:rPr lang="fr-BF" sz="2200" dirty="0">
                          <a:effectLst/>
                        </a:rPr>
                        <a:t> </a:t>
                      </a:r>
                      <a:endParaRPr lang="fr-BF" sz="2200" dirty="0"/>
                    </a:p>
                  </a:txBody>
                  <a:tcPr/>
                </a:tc>
                <a:tc>
                  <a:txBody>
                    <a:bodyPr/>
                    <a:lstStyle/>
                    <a:p>
                      <a:pPr algn="ctr"/>
                      <a:r>
                        <a:rPr lang="fr-BF" sz="2200" dirty="0"/>
                        <a:t>X</a:t>
                      </a:r>
                    </a:p>
                  </a:txBody>
                  <a:tcPr anchor="ctr"/>
                </a:tc>
                <a:tc>
                  <a:txBody>
                    <a:bodyPr/>
                    <a:lstStyle/>
                    <a:p>
                      <a:pPr algn="ctr"/>
                      <a:r>
                        <a:rPr lang="fr-BF" sz="2200" dirty="0"/>
                        <a:t>X</a:t>
                      </a:r>
                    </a:p>
                  </a:txBody>
                  <a:tcPr anchor="ctr"/>
                </a:tc>
                <a:tc>
                  <a:txBody>
                    <a:bodyPr/>
                    <a:lstStyle/>
                    <a:p>
                      <a:pPr algn="ctr"/>
                      <a:r>
                        <a:rPr lang="fr-BF" sz="2200" dirty="0"/>
                        <a:t>X</a:t>
                      </a:r>
                    </a:p>
                  </a:txBody>
                  <a:tcPr anchor="ctr"/>
                </a:tc>
                <a:extLst>
                  <a:ext uri="{0D108BD9-81ED-4DB2-BD59-A6C34878D82A}">
                    <a16:rowId xmlns:a16="http://schemas.microsoft.com/office/drawing/2014/main" val="3499785020"/>
                  </a:ext>
                </a:extLst>
              </a:tr>
              <a:tr h="540000">
                <a:tc>
                  <a:txBody>
                    <a:bodyPr/>
                    <a:lstStyle/>
                    <a:p>
                      <a:r>
                        <a:rPr lang="fr-FR" sz="2200" kern="1200" dirty="0">
                          <a:solidFill>
                            <a:schemeClr val="dk1"/>
                          </a:solidFill>
                          <a:effectLst/>
                          <a:latin typeface="+mn-lt"/>
                          <a:ea typeface="+mn-ea"/>
                          <a:cs typeface="+mn-cs"/>
                        </a:rPr>
                        <a:t>Concevoir et Implémenter l’approche</a:t>
                      </a:r>
                      <a:r>
                        <a:rPr lang="fr-BF" sz="2200" dirty="0">
                          <a:effectLst/>
                        </a:rPr>
                        <a:t> </a:t>
                      </a:r>
                      <a:endParaRPr lang="fr-BF" sz="2200" dirty="0"/>
                    </a:p>
                  </a:txBody>
                  <a:tcPr/>
                </a:tc>
                <a:tc>
                  <a:txBody>
                    <a:bodyPr/>
                    <a:lstStyle/>
                    <a:p>
                      <a:pPr algn="ctr"/>
                      <a:endParaRPr lang="fr-BF" sz="2200" dirty="0"/>
                    </a:p>
                  </a:txBody>
                  <a:tcPr anchor="ctr"/>
                </a:tc>
                <a:tc>
                  <a:txBody>
                    <a:bodyPr/>
                    <a:lstStyle/>
                    <a:p>
                      <a:pPr algn="ctr"/>
                      <a:r>
                        <a:rPr lang="fr-BF" sz="2200" dirty="0"/>
                        <a:t>X</a:t>
                      </a:r>
                    </a:p>
                  </a:txBody>
                  <a:tcPr anchor="ctr"/>
                </a:tc>
                <a:tc>
                  <a:txBody>
                    <a:bodyPr/>
                    <a:lstStyle/>
                    <a:p>
                      <a:pPr algn="ctr"/>
                      <a:r>
                        <a:rPr lang="fr-BF" sz="2200" dirty="0"/>
                        <a:t>X</a:t>
                      </a:r>
                    </a:p>
                  </a:txBody>
                  <a:tcPr anchor="ctr"/>
                </a:tc>
                <a:extLst>
                  <a:ext uri="{0D108BD9-81ED-4DB2-BD59-A6C34878D82A}">
                    <a16:rowId xmlns:a16="http://schemas.microsoft.com/office/drawing/2014/main" val="3557104304"/>
                  </a:ext>
                </a:extLst>
              </a:tr>
              <a:tr h="540000">
                <a:tc>
                  <a:txBody>
                    <a:bodyPr/>
                    <a:lstStyle/>
                    <a:p>
                      <a:r>
                        <a:rPr lang="fr-FR" sz="2200" kern="1200" dirty="0">
                          <a:solidFill>
                            <a:schemeClr val="dk1"/>
                          </a:solidFill>
                          <a:effectLst/>
                          <a:latin typeface="+mn-lt"/>
                          <a:ea typeface="+mn-ea"/>
                          <a:cs typeface="+mn-cs"/>
                        </a:rPr>
                        <a:t>Proposer une architecture de mise en œuvre de la solution</a:t>
                      </a:r>
                      <a:r>
                        <a:rPr lang="fr-BF" sz="2200" dirty="0">
                          <a:effectLst/>
                        </a:rPr>
                        <a:t> </a:t>
                      </a:r>
                      <a:endParaRPr lang="fr-BF" sz="2200" dirty="0"/>
                    </a:p>
                  </a:txBody>
                  <a:tcPr/>
                </a:tc>
                <a:tc>
                  <a:txBody>
                    <a:bodyPr/>
                    <a:lstStyle/>
                    <a:p>
                      <a:pPr algn="ctr"/>
                      <a:endParaRPr lang="fr-BF" sz="2200" dirty="0"/>
                    </a:p>
                  </a:txBody>
                  <a:tcPr anchor="ctr"/>
                </a:tc>
                <a:tc>
                  <a:txBody>
                    <a:bodyPr/>
                    <a:lstStyle/>
                    <a:p>
                      <a:pPr algn="ctr"/>
                      <a:endParaRPr lang="fr-BF" sz="2200" dirty="0"/>
                    </a:p>
                  </a:txBody>
                  <a:tcPr anchor="ctr"/>
                </a:tc>
                <a:tc>
                  <a:txBody>
                    <a:bodyPr/>
                    <a:lstStyle/>
                    <a:p>
                      <a:pPr algn="ctr"/>
                      <a:r>
                        <a:rPr lang="fr-BF" sz="2200" dirty="0"/>
                        <a:t>X</a:t>
                      </a:r>
                    </a:p>
                  </a:txBody>
                  <a:tcPr anchor="ctr"/>
                </a:tc>
                <a:extLst>
                  <a:ext uri="{0D108BD9-81ED-4DB2-BD59-A6C34878D82A}">
                    <a16:rowId xmlns:a16="http://schemas.microsoft.com/office/drawing/2014/main" val="2020839196"/>
                  </a:ext>
                </a:extLst>
              </a:tr>
              <a:tr h="540000">
                <a:tc>
                  <a:txBody>
                    <a:bodyPr/>
                    <a:lstStyle/>
                    <a:p>
                      <a:r>
                        <a:rPr lang="fr-FR" sz="2200" kern="1200" dirty="0">
                          <a:solidFill>
                            <a:schemeClr val="dk1"/>
                          </a:solidFill>
                          <a:effectLst/>
                          <a:latin typeface="+mn-lt"/>
                          <a:ea typeface="+mn-ea"/>
                          <a:cs typeface="+mn-cs"/>
                        </a:rPr>
                        <a:t>Evaluer les résultats de mise en œuvre et d’itérations de la solution fonctionnelle</a:t>
                      </a:r>
                      <a:r>
                        <a:rPr lang="fr-BF" sz="2200" dirty="0">
                          <a:effectLst/>
                        </a:rPr>
                        <a:t> </a:t>
                      </a:r>
                      <a:endParaRPr lang="fr-BF" sz="2200" dirty="0"/>
                    </a:p>
                  </a:txBody>
                  <a:tcPr/>
                </a:tc>
                <a:tc>
                  <a:txBody>
                    <a:bodyPr/>
                    <a:lstStyle/>
                    <a:p>
                      <a:pPr algn="ctr"/>
                      <a:endParaRPr lang="fr-BF" sz="2200" dirty="0"/>
                    </a:p>
                  </a:txBody>
                  <a:tcPr anchor="ctr"/>
                </a:tc>
                <a:tc>
                  <a:txBody>
                    <a:bodyPr/>
                    <a:lstStyle/>
                    <a:p>
                      <a:pPr algn="ctr"/>
                      <a:endParaRPr lang="fr-BF" sz="2200" dirty="0"/>
                    </a:p>
                  </a:txBody>
                  <a:tcPr anchor="ctr"/>
                </a:tc>
                <a:tc>
                  <a:txBody>
                    <a:bodyPr/>
                    <a:lstStyle/>
                    <a:p>
                      <a:pPr algn="ctr"/>
                      <a:r>
                        <a:rPr lang="fr-BF" sz="2200" dirty="0"/>
                        <a:t>X</a:t>
                      </a:r>
                    </a:p>
                  </a:txBody>
                  <a:tcPr anchor="ctr"/>
                </a:tc>
                <a:extLst>
                  <a:ext uri="{0D108BD9-81ED-4DB2-BD59-A6C34878D82A}">
                    <a16:rowId xmlns:a16="http://schemas.microsoft.com/office/drawing/2014/main" val="2433956522"/>
                  </a:ext>
                </a:extLst>
              </a:tr>
              <a:tr h="540000">
                <a:tc>
                  <a:txBody>
                    <a:bodyPr/>
                    <a:lstStyle/>
                    <a:p>
                      <a:r>
                        <a:rPr lang="fr-FR" sz="2200" kern="1200" dirty="0">
                          <a:solidFill>
                            <a:schemeClr val="dk1"/>
                          </a:solidFill>
                          <a:effectLst/>
                          <a:latin typeface="+mn-lt"/>
                          <a:ea typeface="+mn-ea"/>
                          <a:cs typeface="+mn-cs"/>
                        </a:rPr>
                        <a:t>Produire le document final de la thèse</a:t>
                      </a:r>
                      <a:endParaRPr lang="fr-BF" sz="2200" dirty="0"/>
                    </a:p>
                  </a:txBody>
                  <a:tcPr/>
                </a:tc>
                <a:tc>
                  <a:txBody>
                    <a:bodyPr/>
                    <a:lstStyle/>
                    <a:p>
                      <a:pPr algn="ctr"/>
                      <a:endParaRPr lang="fr-BF" sz="2200" dirty="0"/>
                    </a:p>
                  </a:txBody>
                  <a:tcPr anchor="ctr"/>
                </a:tc>
                <a:tc>
                  <a:txBody>
                    <a:bodyPr/>
                    <a:lstStyle/>
                    <a:p>
                      <a:pPr algn="ctr"/>
                      <a:endParaRPr lang="fr-BF" sz="2200" dirty="0"/>
                    </a:p>
                  </a:txBody>
                  <a:tcPr anchor="ctr"/>
                </a:tc>
                <a:tc>
                  <a:txBody>
                    <a:bodyPr/>
                    <a:lstStyle/>
                    <a:p>
                      <a:pPr algn="ctr"/>
                      <a:r>
                        <a:rPr lang="fr-BF" sz="2200" dirty="0"/>
                        <a:t>X</a:t>
                      </a:r>
                    </a:p>
                  </a:txBody>
                  <a:tcPr anchor="ctr"/>
                </a:tc>
                <a:extLst>
                  <a:ext uri="{0D108BD9-81ED-4DB2-BD59-A6C34878D82A}">
                    <a16:rowId xmlns:a16="http://schemas.microsoft.com/office/drawing/2014/main" val="1354607700"/>
                  </a:ext>
                </a:extLst>
              </a:tr>
            </a:tbl>
          </a:graphicData>
        </a:graphic>
      </p:graphicFrame>
    </p:spTree>
    <p:extLst>
      <p:ext uri="{BB962C8B-B14F-4D97-AF65-F5344CB8AC3E}">
        <p14:creationId xmlns:p14="http://schemas.microsoft.com/office/powerpoint/2010/main" val="1388184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7735-BEF1-652E-FB75-C1B2B3A596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6876DBD-7366-0B44-294D-200C7484942B}"/>
              </a:ext>
            </a:extLst>
          </p:cNvPr>
          <p:cNvSpPr>
            <a:spLocks noGrp="1"/>
          </p:cNvSpPr>
          <p:nvPr>
            <p:ph type="title"/>
          </p:nvPr>
        </p:nvSpPr>
        <p:spPr/>
        <p:txBody>
          <a:bodyPr>
            <a:normAutofit/>
          </a:bodyPr>
          <a:lstStyle/>
          <a:p>
            <a:r>
              <a:rPr lang="fr-FR" sz="6000" b="1" u="sng" dirty="0">
                <a:solidFill>
                  <a:schemeClr val="accent1"/>
                </a:solidFill>
              </a:rPr>
              <a:t>Références</a:t>
            </a:r>
            <a:endParaRPr lang="fr-FR" sz="6000" b="1" dirty="0">
              <a:solidFill>
                <a:schemeClr val="accent1"/>
              </a:solidFill>
            </a:endParaRPr>
          </a:p>
        </p:txBody>
      </p:sp>
      <p:sp>
        <p:nvSpPr>
          <p:cNvPr id="4" name="ZoneTexte 3">
            <a:extLst>
              <a:ext uri="{FF2B5EF4-FFF2-40B4-BE49-F238E27FC236}">
                <a16:creationId xmlns:a16="http://schemas.microsoft.com/office/drawing/2014/main" id="{049183E5-CC46-5E08-6144-BE5CEEEB9587}"/>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
        <p:nvSpPr>
          <p:cNvPr id="3" name="Espace réservé du contenu 2">
            <a:extLst>
              <a:ext uri="{FF2B5EF4-FFF2-40B4-BE49-F238E27FC236}">
                <a16:creationId xmlns:a16="http://schemas.microsoft.com/office/drawing/2014/main" id="{4D8A6F03-B099-D6C5-5C36-DA8D7588FAEB}"/>
              </a:ext>
            </a:extLst>
          </p:cNvPr>
          <p:cNvSpPr>
            <a:spLocks noGrp="1"/>
          </p:cNvSpPr>
          <p:nvPr>
            <p:ph idx="1"/>
          </p:nvPr>
        </p:nvSpPr>
        <p:spPr>
          <a:xfrm>
            <a:off x="98190" y="1750847"/>
            <a:ext cx="5897587" cy="4494681"/>
          </a:xfrm>
        </p:spPr>
        <p:txBody>
          <a:bodyPr>
            <a:noAutofit/>
          </a:bodyPr>
          <a:lstStyle/>
          <a:p>
            <a:pPr marL="0" indent="0" algn="just">
              <a:buNone/>
            </a:pPr>
            <a:r>
              <a:rPr lang="fr-FR" sz="1400" dirty="0"/>
              <a:t>1. S. S. OMAR, G. OSMAN, et E. R. MUHAMMAD: BLOCKCHAIN BASED FRAMEWORK FOR EDUCATIONAL CERTIFICATES VERIFICATION. J. Crit. </a:t>
            </a:r>
            <a:r>
              <a:rPr lang="fr-FR" sz="1400" dirty="0" err="1"/>
              <a:t>Rev</a:t>
            </a:r>
            <a:r>
              <a:rPr lang="fr-FR" sz="1400" dirty="0"/>
              <a:t>., vol. 7, no 03, p. 6, (2020), </a:t>
            </a:r>
            <a:r>
              <a:rPr lang="fr-FR" sz="1400" dirty="0" err="1"/>
              <a:t>doi</a:t>
            </a:r>
            <a:r>
              <a:rPr lang="fr-FR" sz="1400" dirty="0"/>
              <a:t>: 10.31838/jcr.07.03.13.</a:t>
            </a:r>
          </a:p>
          <a:p>
            <a:pPr marL="0" indent="0" algn="just">
              <a:lnSpc>
                <a:spcPct val="100000"/>
              </a:lnSpc>
              <a:buNone/>
            </a:pPr>
            <a:r>
              <a:rPr lang="fr-FR" sz="1400" dirty="0"/>
              <a:t>2. G. Malik, K. </a:t>
            </a:r>
            <a:r>
              <a:rPr lang="fr-FR" sz="1400" dirty="0" err="1"/>
              <a:t>Parasrampuria</a:t>
            </a:r>
            <a:r>
              <a:rPr lang="fr-FR" sz="1400" dirty="0"/>
              <a:t>, S. P. Reddy, et S. Shah: Blockchain </a:t>
            </a:r>
            <a:r>
              <a:rPr lang="fr-FR" sz="1400" dirty="0" err="1"/>
              <a:t>Based</a:t>
            </a:r>
            <a:r>
              <a:rPr lang="fr-FR" sz="1400" dirty="0"/>
              <a:t> Identity </a:t>
            </a:r>
            <a:r>
              <a:rPr lang="fr-FR" sz="1400" dirty="0" err="1"/>
              <a:t>Verification</a:t>
            </a:r>
            <a:r>
              <a:rPr lang="fr-FR" sz="1400" dirty="0"/>
              <a:t> Model. In 2019 International </a:t>
            </a:r>
            <a:r>
              <a:rPr lang="fr-FR" sz="1400" dirty="0" err="1"/>
              <a:t>Conference</a:t>
            </a:r>
            <a:r>
              <a:rPr lang="fr-FR" sz="1400" dirty="0"/>
              <a:t> on Vision </a:t>
            </a:r>
            <a:r>
              <a:rPr lang="fr-FR" sz="1400" dirty="0" err="1"/>
              <a:t>Towards</a:t>
            </a:r>
            <a:r>
              <a:rPr lang="fr-FR" sz="1400" dirty="0"/>
              <a:t> </a:t>
            </a:r>
            <a:r>
              <a:rPr lang="fr-FR" sz="1400" dirty="0" err="1"/>
              <a:t>Emerging</a:t>
            </a:r>
            <a:r>
              <a:rPr lang="fr-FR" sz="1400" dirty="0"/>
              <a:t> Trends in Communication and Networking (</a:t>
            </a:r>
            <a:r>
              <a:rPr lang="fr-FR" sz="1400" dirty="0" err="1"/>
              <a:t>ViTECoN</a:t>
            </a:r>
            <a:r>
              <a:rPr lang="fr-FR" sz="1400" dirty="0"/>
              <a:t>), p. 1‑6, (2019), </a:t>
            </a:r>
            <a:r>
              <a:rPr lang="fr-FR" sz="1400" dirty="0" err="1"/>
              <a:t>doi</a:t>
            </a:r>
            <a:r>
              <a:rPr lang="fr-FR" sz="1400" dirty="0"/>
              <a:t>: 10.1109/ViTECoN.2019.8899569.</a:t>
            </a:r>
          </a:p>
          <a:p>
            <a:pPr marL="0" indent="0" algn="just">
              <a:buNone/>
            </a:pPr>
            <a:r>
              <a:rPr lang="fr-FR" sz="1400" dirty="0"/>
              <a:t>3. F. Azzam et al.: The Use of Blockchain </a:t>
            </a:r>
            <a:r>
              <a:rPr lang="fr-FR" sz="1400" dirty="0" err="1"/>
              <a:t>Technology</a:t>
            </a:r>
            <a:r>
              <a:rPr lang="fr-FR" sz="1400" dirty="0"/>
              <a:t> and OCR in E-</a:t>
            </a:r>
            <a:r>
              <a:rPr lang="fr-FR" sz="1400" dirty="0" err="1"/>
              <a:t>Government</a:t>
            </a:r>
            <a:r>
              <a:rPr lang="fr-FR" sz="1400" dirty="0"/>
              <a:t> for Document Management: Inbound </a:t>
            </a:r>
            <a:r>
              <a:rPr lang="fr-FR" sz="1400" dirty="0" err="1"/>
              <a:t>Invoice</a:t>
            </a:r>
            <a:r>
              <a:rPr lang="fr-FR" sz="1400" dirty="0"/>
              <a:t> Management as an Example. </a:t>
            </a:r>
            <a:r>
              <a:rPr lang="fr-FR" sz="1400" dirty="0" err="1"/>
              <a:t>Appl</a:t>
            </a:r>
            <a:r>
              <a:rPr lang="fr-FR" sz="1400" dirty="0"/>
              <a:t>. </a:t>
            </a:r>
            <a:r>
              <a:rPr lang="fr-FR" sz="1400" dirty="0" err="1"/>
              <a:t>Sci</a:t>
            </a:r>
            <a:r>
              <a:rPr lang="fr-FR" sz="1400" dirty="0"/>
              <a:t>., vol. 13, no 14, p. 8463, (2023), </a:t>
            </a:r>
            <a:r>
              <a:rPr lang="fr-FR" sz="1400" dirty="0" err="1"/>
              <a:t>doi</a:t>
            </a:r>
            <a:r>
              <a:rPr lang="fr-FR" sz="1400" dirty="0"/>
              <a:t>: 10.3390/app13148463.</a:t>
            </a:r>
          </a:p>
          <a:p>
            <a:pPr marL="0" indent="0" algn="just">
              <a:buNone/>
            </a:pPr>
            <a:r>
              <a:rPr lang="fr-FR" sz="1400" dirty="0"/>
              <a:t>4. R. F. </a:t>
            </a:r>
            <a:r>
              <a:rPr lang="fr-FR" sz="1400" dirty="0" err="1"/>
              <a:t>Ghani</a:t>
            </a:r>
            <a:r>
              <a:rPr lang="fr-FR" sz="1400" dirty="0"/>
              <a:t>, A. A. S. Al-</a:t>
            </a:r>
            <a:r>
              <a:rPr lang="fr-FR" sz="1400" dirty="0" err="1"/>
              <a:t>Karkhi</a:t>
            </a:r>
            <a:r>
              <a:rPr lang="fr-FR" sz="1400" dirty="0"/>
              <a:t>, et S. M. Mahdi: </a:t>
            </a:r>
            <a:r>
              <a:rPr lang="fr-FR" sz="1400" dirty="0" err="1"/>
              <a:t>Proposed</a:t>
            </a:r>
            <a:r>
              <a:rPr lang="fr-FR" sz="1400" dirty="0"/>
              <a:t> Framework for Official Document Sharing and </a:t>
            </a:r>
            <a:r>
              <a:rPr lang="fr-FR" sz="1400" dirty="0" err="1"/>
              <a:t>Verification</a:t>
            </a:r>
            <a:r>
              <a:rPr lang="fr-FR" sz="1400" dirty="0"/>
              <a:t> in E-</a:t>
            </a:r>
            <a:r>
              <a:rPr lang="fr-FR" sz="1400" dirty="0" err="1"/>
              <a:t>government</a:t>
            </a:r>
            <a:r>
              <a:rPr lang="fr-FR" sz="1400" dirty="0"/>
              <a:t> </a:t>
            </a:r>
            <a:r>
              <a:rPr lang="fr-FR" sz="1400" dirty="0" err="1"/>
              <a:t>Environment</a:t>
            </a:r>
            <a:r>
              <a:rPr lang="fr-FR" sz="1400" dirty="0"/>
              <a:t> </a:t>
            </a:r>
            <a:r>
              <a:rPr lang="fr-FR" sz="1400" dirty="0" err="1"/>
              <a:t>Based</a:t>
            </a:r>
            <a:r>
              <a:rPr lang="fr-FR" sz="1400" dirty="0"/>
              <a:t> on Blockchain </a:t>
            </a:r>
            <a:r>
              <a:rPr lang="fr-FR" sz="1400" dirty="0" err="1"/>
              <a:t>Technology</a:t>
            </a:r>
            <a:r>
              <a:rPr lang="fr-FR" sz="1400" dirty="0"/>
              <a:t>. </a:t>
            </a:r>
            <a:r>
              <a:rPr lang="fr-FR" sz="1400" dirty="0" err="1"/>
              <a:t>Baghdad</a:t>
            </a:r>
            <a:r>
              <a:rPr lang="fr-FR" sz="1400" dirty="0"/>
              <a:t> </a:t>
            </a:r>
            <a:r>
              <a:rPr lang="fr-FR" sz="1400" dirty="0" err="1"/>
              <a:t>Sci</a:t>
            </a:r>
            <a:r>
              <a:rPr lang="fr-FR" sz="1400" dirty="0"/>
              <a:t>. J., vol. 19, no 6(Suppl.), p. 1592, (2022), </a:t>
            </a:r>
            <a:r>
              <a:rPr lang="fr-FR" sz="1400" dirty="0" err="1"/>
              <a:t>doi</a:t>
            </a:r>
            <a:r>
              <a:rPr lang="fr-FR" sz="1400" dirty="0"/>
              <a:t>: 10.21123/bsj.2022.7513.</a:t>
            </a:r>
          </a:p>
          <a:p>
            <a:pPr marL="0" indent="0" algn="just">
              <a:buNone/>
            </a:pPr>
            <a:r>
              <a:rPr lang="fr-FR" sz="1400" dirty="0"/>
              <a:t>5. I. </a:t>
            </a:r>
            <a:r>
              <a:rPr lang="fr-FR" sz="1400" dirty="0" err="1"/>
              <a:t>Meirobie</a:t>
            </a:r>
            <a:r>
              <a:rPr lang="fr-FR" sz="1400" dirty="0"/>
              <a:t>, A. P. </a:t>
            </a:r>
            <a:r>
              <a:rPr lang="fr-FR" sz="1400" dirty="0" err="1"/>
              <a:t>Irawan</a:t>
            </a:r>
            <a:r>
              <a:rPr lang="fr-FR" sz="1400" dirty="0"/>
              <a:t>, H. </a:t>
            </a:r>
            <a:r>
              <a:rPr lang="fr-FR" sz="1400" dirty="0" err="1"/>
              <a:t>T</a:t>
            </a:r>
            <a:r>
              <a:rPr lang="fr-FR" sz="1400" dirty="0"/>
              <a:t>. </a:t>
            </a:r>
            <a:r>
              <a:rPr lang="fr-FR" sz="1400" dirty="0" err="1"/>
              <a:t>Sukmana</a:t>
            </a:r>
            <a:r>
              <a:rPr lang="fr-FR" sz="1400" dirty="0"/>
              <a:t>, D. P. </a:t>
            </a:r>
            <a:r>
              <a:rPr lang="fr-FR" sz="1400" dirty="0" err="1"/>
              <a:t>Lazirkha</a:t>
            </a:r>
            <a:r>
              <a:rPr lang="fr-FR" sz="1400" dirty="0"/>
              <a:t>, et N. P. L. </a:t>
            </a:r>
            <a:r>
              <a:rPr lang="fr-FR" sz="1400" dirty="0" err="1"/>
              <a:t>Santoso</a:t>
            </a:r>
            <a:r>
              <a:rPr lang="fr-FR" sz="1400" dirty="0"/>
              <a:t>: Framework </a:t>
            </a:r>
            <a:r>
              <a:rPr lang="fr-FR" sz="1400" dirty="0" err="1"/>
              <a:t>Authentication</a:t>
            </a:r>
            <a:r>
              <a:rPr lang="fr-FR" sz="1400" dirty="0"/>
              <a:t> e-document </a:t>
            </a:r>
            <a:r>
              <a:rPr lang="fr-FR" sz="1400" dirty="0" err="1"/>
              <a:t>using</a:t>
            </a:r>
            <a:r>
              <a:rPr lang="fr-FR" sz="1400" dirty="0"/>
              <a:t> Blockchain </a:t>
            </a:r>
            <a:r>
              <a:rPr lang="fr-FR" sz="1400" dirty="0" err="1"/>
              <a:t>Technology</a:t>
            </a:r>
            <a:r>
              <a:rPr lang="fr-FR" sz="1400" dirty="0"/>
              <a:t> on the </a:t>
            </a:r>
            <a:r>
              <a:rPr lang="fr-FR" sz="1400" dirty="0" err="1"/>
              <a:t>Government</a:t>
            </a:r>
            <a:r>
              <a:rPr lang="fr-FR" sz="1400" dirty="0"/>
              <a:t> system. Int. J. </a:t>
            </a:r>
            <a:r>
              <a:rPr lang="fr-FR" sz="1400" dirty="0" err="1"/>
              <a:t>Artif</a:t>
            </a:r>
            <a:r>
              <a:rPr lang="fr-FR" sz="1400" dirty="0"/>
              <a:t>. </a:t>
            </a:r>
            <a:r>
              <a:rPr lang="fr-FR" sz="1400" dirty="0" err="1"/>
              <a:t>Intell</a:t>
            </a:r>
            <a:r>
              <a:rPr lang="fr-FR" sz="1400" dirty="0"/>
              <a:t>. </a:t>
            </a:r>
            <a:r>
              <a:rPr lang="fr-FR" sz="1400" dirty="0" err="1"/>
              <a:t>Res</a:t>
            </a:r>
            <a:r>
              <a:rPr lang="fr-FR" sz="1400" dirty="0"/>
              <a:t>., vol. 6, no 2, Art. no 2, (2022), </a:t>
            </a:r>
            <a:r>
              <a:rPr lang="fr-FR" sz="1400" dirty="0" err="1"/>
              <a:t>doi</a:t>
            </a:r>
            <a:r>
              <a:rPr lang="fr-FR" sz="1400" dirty="0"/>
              <a:t>: 10.29099/ijair.v6i2.294.</a:t>
            </a:r>
          </a:p>
        </p:txBody>
      </p:sp>
      <p:sp>
        <p:nvSpPr>
          <p:cNvPr id="5" name="Espace réservé du contenu 2">
            <a:extLst>
              <a:ext uri="{FF2B5EF4-FFF2-40B4-BE49-F238E27FC236}">
                <a16:creationId xmlns:a16="http://schemas.microsoft.com/office/drawing/2014/main" id="{4E6CEA80-C6ED-DFEB-BC89-11B3125E1A61}"/>
              </a:ext>
            </a:extLst>
          </p:cNvPr>
          <p:cNvSpPr txBox="1">
            <a:spLocks/>
          </p:cNvSpPr>
          <p:nvPr/>
        </p:nvSpPr>
        <p:spPr>
          <a:xfrm>
            <a:off x="6590581" y="1816985"/>
            <a:ext cx="5535278" cy="4494681"/>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fr-FR" sz="1400" dirty="0"/>
              <a:t>6. A. </a:t>
            </a:r>
            <a:r>
              <a:rPr lang="fr-FR" sz="1400" dirty="0" err="1"/>
              <a:t>Bakhoum</a:t>
            </a:r>
            <a:r>
              <a:rPr lang="fr-FR" sz="1400" dirty="0"/>
              <a:t>: La Blockchain pour la Sécurisation des E-livrets scolaires. http://</a:t>
            </a:r>
            <a:r>
              <a:rPr lang="fr-FR" sz="1400" dirty="0" err="1"/>
              <a:t>rivieresdusud.uasz.sn</a:t>
            </a:r>
            <a:r>
              <a:rPr lang="fr-FR" sz="1400" dirty="0"/>
              <a:t>/</a:t>
            </a:r>
            <a:r>
              <a:rPr lang="fr-FR" sz="1400" dirty="0" err="1"/>
              <a:t>xmlui</a:t>
            </a:r>
            <a:r>
              <a:rPr lang="fr-FR" sz="1400" dirty="0"/>
              <a:t>/</a:t>
            </a:r>
            <a:r>
              <a:rPr lang="fr-FR" sz="1400" dirty="0" err="1"/>
              <a:t>handle</a:t>
            </a:r>
            <a:r>
              <a:rPr lang="fr-FR" sz="1400" dirty="0"/>
              <a:t>/123456789/1803, last </a:t>
            </a:r>
            <a:r>
              <a:rPr lang="fr-FR" sz="1400" dirty="0" err="1"/>
              <a:t>accessed</a:t>
            </a:r>
            <a:r>
              <a:rPr lang="fr-FR" sz="1400" dirty="0"/>
              <a:t> 2024/09/10, Location (2019). </a:t>
            </a:r>
          </a:p>
          <a:p>
            <a:pPr marL="0" indent="0" algn="just">
              <a:buFont typeface="Calibri" panose="020F0502020204030204" pitchFamily="34" charset="0"/>
              <a:buNone/>
            </a:pPr>
            <a:r>
              <a:rPr lang="fr-FR" sz="1400" dirty="0"/>
              <a:t>7. I. Bashir: </a:t>
            </a:r>
            <a:r>
              <a:rPr lang="fr-FR" sz="1400" dirty="0" err="1"/>
              <a:t>Mastering</a:t>
            </a:r>
            <a:r>
              <a:rPr lang="fr-FR" sz="1400" dirty="0"/>
              <a:t> Blockchain. </a:t>
            </a:r>
            <a:r>
              <a:rPr lang="fr-FR" sz="1400" dirty="0" err="1"/>
              <a:t>Packt</a:t>
            </a:r>
            <a:r>
              <a:rPr lang="fr-FR" sz="1400" dirty="0"/>
              <a:t> </a:t>
            </a:r>
            <a:r>
              <a:rPr lang="fr-FR" sz="1400" dirty="0" err="1"/>
              <a:t>Publishing</a:t>
            </a:r>
            <a:r>
              <a:rPr lang="fr-FR" sz="1400" dirty="0"/>
              <a:t> Ltd, (2017).</a:t>
            </a:r>
          </a:p>
          <a:p>
            <a:pPr marL="0" indent="0" algn="just">
              <a:buFont typeface="Calibri" panose="020F0502020204030204" pitchFamily="34" charset="0"/>
              <a:buNone/>
            </a:pPr>
            <a:r>
              <a:rPr lang="fr-FR" sz="1400" dirty="0"/>
              <a:t>8. G. A. </a:t>
            </a:r>
            <a:r>
              <a:rPr lang="fr-FR" sz="1400" dirty="0" err="1"/>
              <a:t>Pierro</a:t>
            </a:r>
            <a:r>
              <a:rPr lang="fr-FR" sz="1400" dirty="0"/>
              <a:t> et A. </a:t>
            </a:r>
            <a:r>
              <a:rPr lang="fr-FR" sz="1400" dirty="0" err="1"/>
              <a:t>Amoordon</a:t>
            </a:r>
            <a:r>
              <a:rPr lang="fr-FR" sz="1400" dirty="0"/>
              <a:t>: Gas </a:t>
            </a:r>
            <a:r>
              <a:rPr lang="fr-FR" sz="1400" dirty="0" err="1"/>
              <a:t>Fees</a:t>
            </a:r>
            <a:r>
              <a:rPr lang="fr-FR" sz="1400" dirty="0"/>
              <a:t> and </a:t>
            </a:r>
            <a:r>
              <a:rPr lang="fr-FR" sz="1400" dirty="0" err="1"/>
              <a:t>Unconfirmed</a:t>
            </a:r>
            <a:r>
              <a:rPr lang="fr-FR" sz="1400" dirty="0"/>
              <a:t> Transactions in Ethereum: A Proof-of-</a:t>
            </a:r>
            <a:r>
              <a:rPr lang="fr-FR" sz="1400" dirty="0" err="1"/>
              <a:t>Stake</a:t>
            </a:r>
            <a:r>
              <a:rPr lang="fr-FR" sz="1400" dirty="0"/>
              <a:t> (</a:t>
            </a:r>
            <a:r>
              <a:rPr lang="fr-FR" sz="1400" dirty="0" err="1"/>
              <a:t>PoS</a:t>
            </a:r>
            <a:r>
              <a:rPr lang="fr-FR" sz="1400" dirty="0"/>
              <a:t>) Focus. in 2024 IEEE International </a:t>
            </a:r>
            <a:r>
              <a:rPr lang="fr-FR" sz="1400" dirty="0" err="1"/>
              <a:t>Conference</a:t>
            </a:r>
            <a:r>
              <a:rPr lang="fr-FR" sz="1400" dirty="0"/>
              <a:t> on Software </a:t>
            </a:r>
            <a:r>
              <a:rPr lang="fr-FR" sz="1400" dirty="0" err="1"/>
              <a:t>Analysis</a:t>
            </a:r>
            <a:r>
              <a:rPr lang="fr-FR" sz="1400" dirty="0"/>
              <a:t>, Evolution and Reengineering - </a:t>
            </a:r>
            <a:r>
              <a:rPr lang="fr-FR" sz="1400" dirty="0" err="1"/>
              <a:t>Companion</a:t>
            </a:r>
            <a:r>
              <a:rPr lang="fr-FR" sz="1400" dirty="0"/>
              <a:t> (SANER-C), 1‑8, (2024), </a:t>
            </a:r>
            <a:r>
              <a:rPr lang="fr-FR" sz="1400" dirty="0" err="1"/>
              <a:t>doi</a:t>
            </a:r>
            <a:r>
              <a:rPr lang="fr-FR" sz="1400" dirty="0"/>
              <a:t>: 10.1109/SANERC62648.2024.00011.</a:t>
            </a:r>
          </a:p>
          <a:p>
            <a:pPr marL="0" indent="0" algn="just">
              <a:buFont typeface="Calibri" panose="020F0502020204030204" pitchFamily="34" charset="0"/>
              <a:buNone/>
            </a:pPr>
            <a:r>
              <a:rPr lang="fr-FR" sz="1400" dirty="0"/>
              <a:t>9. D. </a:t>
            </a:r>
            <a:r>
              <a:rPr lang="fr-FR" sz="1400" dirty="0" err="1"/>
              <a:t>Majalikar</a:t>
            </a:r>
            <a:r>
              <a:rPr lang="fr-FR" sz="1400" dirty="0"/>
              <a:t>, S. Sudhir, et D. S. </a:t>
            </a:r>
            <a:r>
              <a:rPr lang="fr-FR" sz="1400" dirty="0" err="1"/>
              <a:t>Abhang</a:t>
            </a:r>
            <a:r>
              <a:rPr lang="fr-FR" sz="1400" dirty="0"/>
              <a:t>: BLOCKCHAN USING ETHEREUM – THE NEXT COMPUTING PARADIAGM SHIFT. </a:t>
            </a:r>
            <a:r>
              <a:rPr lang="fr-FR" sz="1400" dirty="0" err="1"/>
              <a:t>Navajyoti</a:t>
            </a:r>
            <a:r>
              <a:rPr lang="fr-FR" sz="1400" dirty="0"/>
              <a:t> Int. J. Multi-</a:t>
            </a:r>
            <a:r>
              <a:rPr lang="fr-FR" sz="1400" dirty="0" err="1"/>
              <a:t>Discip</a:t>
            </a:r>
            <a:r>
              <a:rPr lang="fr-FR" sz="1400" dirty="0"/>
              <a:t>. </a:t>
            </a:r>
            <a:r>
              <a:rPr lang="fr-FR" sz="1400" dirty="0" err="1"/>
              <a:t>Res</a:t>
            </a:r>
            <a:r>
              <a:rPr lang="fr-FR" sz="1400" dirty="0"/>
              <a:t>., vol. 3, no 2, p. 6, (2019).</a:t>
            </a:r>
          </a:p>
          <a:p>
            <a:pPr marL="0" indent="0" algn="just">
              <a:buFont typeface="Calibri" panose="020F0502020204030204" pitchFamily="34" charset="0"/>
              <a:buNone/>
            </a:pPr>
            <a:r>
              <a:rPr lang="fr-FR" sz="1400" dirty="0"/>
              <a:t>10. B. </a:t>
            </a:r>
            <a:r>
              <a:rPr lang="fr-FR" sz="1400" dirty="0" err="1"/>
              <a:t>Vitalik</a:t>
            </a:r>
            <a:r>
              <a:rPr lang="fr-FR" sz="1400" dirty="0"/>
              <a:t>, et al.: Ethereum white </a:t>
            </a:r>
            <a:r>
              <a:rPr lang="fr-FR" sz="1400" dirty="0" err="1"/>
              <a:t>paper</a:t>
            </a:r>
            <a:r>
              <a:rPr lang="fr-FR" sz="1400" dirty="0"/>
              <a:t>. GitHub repository, vol. 1, no 22-23, 5-7, (2013).</a:t>
            </a:r>
          </a:p>
          <a:p>
            <a:pPr marL="0" indent="0" algn="just">
              <a:buFont typeface="Calibri" panose="020F0502020204030204" pitchFamily="34" charset="0"/>
              <a:buNone/>
            </a:pPr>
            <a:r>
              <a:rPr lang="fr-FR" sz="1400" dirty="0"/>
              <a:t>11. S. S. </a:t>
            </a:r>
            <a:r>
              <a:rPr lang="fr-FR" sz="1400" dirty="0" err="1"/>
              <a:t>Kushwaha</a:t>
            </a:r>
            <a:r>
              <a:rPr lang="fr-FR" sz="1400" dirty="0"/>
              <a:t>, S. Joshi, D. Singh, M. Kaur, et H.-N. Lee: </a:t>
            </a:r>
            <a:r>
              <a:rPr lang="fr-FR" sz="1400" dirty="0" err="1"/>
              <a:t>Systematic</a:t>
            </a:r>
            <a:r>
              <a:rPr lang="fr-FR" sz="1400" dirty="0"/>
              <a:t> </a:t>
            </a:r>
            <a:r>
              <a:rPr lang="fr-FR" sz="1400" dirty="0" err="1"/>
              <a:t>Review</a:t>
            </a:r>
            <a:r>
              <a:rPr lang="fr-FR" sz="1400" dirty="0"/>
              <a:t> of Security </a:t>
            </a:r>
            <a:r>
              <a:rPr lang="fr-FR" sz="1400" dirty="0" err="1"/>
              <a:t>Vulnerabilities</a:t>
            </a:r>
            <a:r>
              <a:rPr lang="fr-FR" sz="1400" dirty="0"/>
              <a:t> in Ethereum Blockchain Smart </a:t>
            </a:r>
            <a:r>
              <a:rPr lang="fr-FR" sz="1400" dirty="0" err="1"/>
              <a:t>Contract</a:t>
            </a:r>
            <a:r>
              <a:rPr lang="fr-FR" sz="1400" dirty="0"/>
              <a:t>. IEEE Access, vol. 10, p.6605‑6621, (2022), </a:t>
            </a:r>
            <a:r>
              <a:rPr lang="fr-FR" sz="1400" dirty="0" err="1"/>
              <a:t>doi</a:t>
            </a:r>
            <a:r>
              <a:rPr lang="fr-FR" sz="1400" dirty="0"/>
              <a:t>: 10.1109/ACCESS.2021.3140091.</a:t>
            </a:r>
          </a:p>
        </p:txBody>
      </p:sp>
    </p:spTree>
    <p:extLst>
      <p:ext uri="{BB962C8B-B14F-4D97-AF65-F5344CB8AC3E}">
        <p14:creationId xmlns:p14="http://schemas.microsoft.com/office/powerpoint/2010/main" val="1126652504"/>
      </p:ext>
    </p:extLst>
  </p:cSld>
  <p:clrMapOvr>
    <a:masterClrMapping/>
  </p:clrMapOvr>
</p:sld>
</file>

<file path=ppt/theme/theme1.xml><?xml version="1.0" encoding="utf-8"?>
<a:theme xmlns:a="http://schemas.openxmlformats.org/drawingml/2006/main" name="Rétrospective">
  <a:themeElements>
    <a:clrScheme name="Rétrospectiv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4665</TotalTime>
  <Words>2280</Words>
  <Application>Microsoft Macintosh PowerPoint</Application>
  <PresentationFormat>Grand écran</PresentationFormat>
  <Paragraphs>149</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Agency FB</vt:lpstr>
      <vt:lpstr>Calibri</vt:lpstr>
      <vt:lpstr>Calibri Light</vt:lpstr>
      <vt:lpstr>Wingdings</vt:lpstr>
      <vt:lpstr>Rétrospective</vt:lpstr>
      <vt:lpstr>Sécurisation de documents administratifs à l'aide de la technologie blockchain</vt:lpstr>
      <vt:lpstr>Plan de la présentation     </vt:lpstr>
      <vt:lpstr>Contexte &amp; motivation </vt:lpstr>
      <vt:lpstr>Contexte &amp; motivation </vt:lpstr>
      <vt:lpstr>Contexte &amp; motivation </vt:lpstr>
      <vt:lpstr>Contexte &amp; motivation </vt:lpstr>
      <vt:lpstr>Contexte &amp; motivation </vt:lpstr>
      <vt:lpstr>Objectifs </vt:lpstr>
      <vt:lpstr>Objectifs </vt:lpstr>
      <vt:lpstr>Etat de l’art </vt:lpstr>
      <vt:lpstr>Etat de l’art </vt:lpstr>
      <vt:lpstr>Etat de l’art </vt:lpstr>
      <vt:lpstr>Activités et méthodologie</vt:lpstr>
      <vt:lpstr>Chronogramme</vt:lpstr>
      <vt:lpstr>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Généralités sur le multimédia</dc:title>
  <dc:creator>JSDimitri</dc:creator>
  <cp:lastModifiedBy>ADMIN</cp:lastModifiedBy>
  <cp:revision>394</cp:revision>
  <dcterms:created xsi:type="dcterms:W3CDTF">2020-11-11T14:44:38Z</dcterms:created>
  <dcterms:modified xsi:type="dcterms:W3CDTF">2026-03-19T09:53:22Z</dcterms:modified>
  <cp:contentStatus/>
</cp:coreProperties>
</file>